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1" autoAdjust="0"/>
    <p:restoredTop sz="94660"/>
  </p:normalViewPr>
  <p:slideViewPr>
    <p:cSldViewPr snapToGrid="0">
      <p:cViewPr varScale="1">
        <p:scale>
          <a:sx n="56" d="100"/>
          <a:sy n="56" d="100"/>
        </p:scale>
        <p:origin x="9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AF2A5-923A-0CD3-2A4D-E773641E2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922B0-A8E1-6D91-FEE0-B7F37C9D5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3F2CB-FE03-3F6C-E73D-79577A3C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8358-75DE-4565-91D1-9ACE2A7AE35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68169-7FA0-E149-3635-F0475CD00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AFE1B-6435-0917-F985-B34A460B5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DA6B7-D395-40A6-82DB-630238589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425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5D96-B69D-DDFC-EB84-5A65849F5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AFD76-916A-1CED-DC6A-F0A55D436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57288-FAA5-5AE7-FA0A-E2FABD529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8358-75DE-4565-91D1-9ACE2A7AE35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12D21-CF74-42FB-4D74-9FF9E3DCE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EC683-17E0-5DD1-4939-33C790D39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DA6B7-D395-40A6-82DB-630238589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90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10209-6348-6D8F-7A55-85A31BBA5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1FAA7-801B-41F3-DB5E-3121E27B4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E498A-547E-38BE-DE37-F651CA3AB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8358-75DE-4565-91D1-9ACE2A7AE35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53FEB-DFF0-F7D2-A437-F3518A1D3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07C86-20ED-AAF9-E689-49284F2B6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DA6B7-D395-40A6-82DB-630238589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744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A3864-1E25-E2D2-0EFE-372541BF4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2A67B-54BB-5066-3560-6B09AF819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0E7599-F9B3-1A13-5E0D-1669D1017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2E8DD-8CDF-2D1E-266D-B504EB07D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8358-75DE-4565-91D1-9ACE2A7AE35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39985-7CD7-82EB-BFF9-A83A71B4F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C79FC-0BED-76AF-71A6-F926C306D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DA6B7-D395-40A6-82DB-630238589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126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B7116-E4B4-B8F7-83BD-8E214BB23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4F7A0-ACA0-1666-5FE3-F83D663AE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E28D4-F319-67EE-C903-C87EA7338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CCC068-61CE-EE9B-7C87-9249D8016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E26ADD-3085-C93C-16A0-6F264862B9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C48DDF-E4E4-058A-D9CC-928BF9609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8358-75DE-4565-91D1-9ACE2A7AE35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6CA8B1-0B9F-AD44-90C2-9560CCE6B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AC909B-E0AD-1C0A-F24C-DFD9841FD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DA6B7-D395-40A6-82DB-630238589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200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42EFF-878A-71F6-700D-8914136AA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1937AC-86B2-49CA-550A-43673F19C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8358-75DE-4565-91D1-9ACE2A7AE35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5AB6CC-6A4A-A80E-3E92-FB805E951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79FD9A-5DDF-6DCC-5A7A-248F82286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DA6B7-D395-40A6-82DB-630238589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45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2C433-2AC0-CFF4-A4C4-2AF22D52E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8358-75DE-4565-91D1-9ACE2A7AE35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CC082C-86CE-A363-4C90-52AE5D770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D976B-CB55-2801-8319-63ABD16C8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DA6B7-D395-40A6-82DB-630238589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492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C31BB-D9B0-1479-20FE-970E329DB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0EF3B-70D2-DB62-77B1-6ADE34200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E794E-331B-CF8F-ED83-67A57F0B5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4FB4C-0CDC-5354-A000-96DB5783E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8358-75DE-4565-91D1-9ACE2A7AE35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AA675-EB95-D587-E763-EE8C2E8CA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AB050-483B-244D-23DD-D9CAB072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DA6B7-D395-40A6-82DB-630238589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487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B92D1-092C-0D42-500B-5CCAF977C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E52DD8-6AAC-0920-289C-30D37AF91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4914A-42AE-7A48-49EE-E16C81B64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B650A-B2CA-E213-9D92-89F1893D7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8358-75DE-4565-91D1-9ACE2A7AE35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C1F11-0FE0-3739-5C8F-3898C1CF2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9086A-B7B6-35BD-CAAC-039984E21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DA6B7-D395-40A6-82DB-630238589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392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D3A2-648C-C008-3050-266F90DC5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BADF4-F4C5-E76C-CBF1-69C10CDC4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997E7-C247-3EAA-DCD6-7593FE600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8358-75DE-4565-91D1-9ACE2A7AE35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B05DB-03DB-552F-35EF-0FF35AA93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8FF84-2437-27F9-A4F1-66605772E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DA6B7-D395-40A6-82DB-630238589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768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A1AA74-464A-6A2A-A74D-D9576A1DA5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3A19B-9525-D071-CC5A-2A4A16055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AFE30-2A8A-79C4-4CB9-E651DEAF2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8358-75DE-4565-91D1-9ACE2A7AE35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7CAFC-A289-B89C-11BA-C82DD1565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2214C-F96F-70AB-1F27-582252AE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DA6B7-D395-40A6-82DB-630238589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927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308190-E8EA-3C71-C063-383EA8735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27C93-E71A-4902-D818-E8574CA1A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35EE7-D57C-EE76-7889-B9380F929C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A8358-75DE-4565-91D1-9ACE2A7AE355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2E7E7-8E73-1DD7-E6BE-EBC85EB1D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9FC08-E129-2529-3B87-C16F170BAD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DA6B7-D395-40A6-82DB-630238589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892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F5908-FFED-9667-4EA9-DAF3704EC0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u="sng" kern="100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 SORT  </a:t>
            </a:r>
            <a:b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1" u="sng" kern="100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MERGE SORT</a:t>
            </a:r>
            <a:b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3BEF3F-F4E2-452E-127C-D83AC08240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ALGORITHMS 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885984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D865C-3ED3-9922-0220-FDE7D91EF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u="sng" kern="100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 SORT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B961-EF17-99F3-A44B-A353A99AD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ARRAY:  [  5</a:t>
            </a:r>
            <a:r>
              <a:rPr lang="en-US" dirty="0"/>
              <a:t>	1	21	33	41          </a:t>
            </a:r>
            <a:r>
              <a:rPr lang="en-US" b="1" dirty="0"/>
              <a:t>59 </a:t>
            </a:r>
            <a:r>
              <a:rPr lang="en-US" dirty="0"/>
              <a:t>  	65		98	69]</a:t>
            </a:r>
            <a:br>
              <a:rPr lang="en-IN" dirty="0"/>
            </a:br>
            <a:r>
              <a:rPr lang="en-US" b="1" u="sng" dirty="0"/>
              <a:t>PIVOT = 69</a:t>
            </a:r>
            <a:br>
              <a:rPr lang="en-IN" dirty="0"/>
            </a:br>
            <a:r>
              <a:rPr lang="en-US" dirty="0"/>
              <a:t>LEFT (smaller)=</a:t>
            </a:r>
            <a:r>
              <a:rPr lang="en-US" b="1" dirty="0"/>
              <a:t>   5,</a:t>
            </a:r>
            <a:r>
              <a:rPr lang="en-US" dirty="0"/>
              <a:t> 1, 21, 33, 41,59, 65</a:t>
            </a:r>
            <a:br>
              <a:rPr lang="en-IN" dirty="0"/>
            </a:br>
            <a:r>
              <a:rPr lang="en-US" dirty="0"/>
              <a:t>RIGHT (bigger)=</a:t>
            </a:r>
            <a:r>
              <a:rPr lang="en-US" b="1" dirty="0"/>
              <a:t>   </a:t>
            </a:r>
            <a:r>
              <a:rPr lang="en-US" dirty="0"/>
              <a:t>	 = 98,</a:t>
            </a:r>
            <a:br>
              <a:rPr lang="en-IN" dirty="0"/>
            </a:br>
            <a:r>
              <a:rPr lang="en-US" dirty="0"/>
              <a:t>So we have :</a:t>
            </a:r>
            <a:br>
              <a:rPr lang="en-IN" dirty="0"/>
            </a:br>
            <a:r>
              <a:rPr lang="en-US" b="1" dirty="0"/>
              <a:t>[5,</a:t>
            </a:r>
            <a:r>
              <a:rPr lang="en-US" dirty="0"/>
              <a:t> 1, 21, 33, 41,59, !65 !</a:t>
            </a:r>
            <a:r>
              <a:rPr lang="en-US" b="1" u="sng" dirty="0"/>
              <a:t> 69 </a:t>
            </a:r>
            <a:r>
              <a:rPr lang="en-US" dirty="0"/>
              <a:t>98,]</a:t>
            </a:r>
            <a:br>
              <a:rPr lang="en-IN" dirty="0"/>
            </a:br>
            <a:r>
              <a:rPr lang="en-US" b="1" u="sng" dirty="0"/>
              <a:t>PIVOT = 98</a:t>
            </a:r>
            <a:br>
              <a:rPr lang="en-IN" dirty="0"/>
            </a:br>
            <a:r>
              <a:rPr lang="en-US" dirty="0"/>
              <a:t>LEFT=[ </a:t>
            </a:r>
            <a:r>
              <a:rPr lang="en-US" b="1" dirty="0"/>
              <a:t>5,</a:t>
            </a:r>
            <a:r>
              <a:rPr lang="en-US" dirty="0"/>
              <a:t> 1, 21, 33, 41,59, 65]</a:t>
            </a:r>
            <a:br>
              <a:rPr lang="en-IN" dirty="0"/>
            </a:br>
            <a:r>
              <a:rPr lang="en-US" dirty="0"/>
              <a:t>RIGHT	 = []</a:t>
            </a:r>
            <a:br>
              <a:rPr lang="en-IN" dirty="0"/>
            </a:br>
            <a:r>
              <a:rPr lang="en-US" dirty="0"/>
              <a:t>So we have :</a:t>
            </a:r>
            <a:br>
              <a:rPr lang="en-IN" dirty="0"/>
            </a:br>
            <a:r>
              <a:rPr lang="en-US" b="1" dirty="0"/>
              <a:t>[5,</a:t>
            </a:r>
            <a:r>
              <a:rPr lang="en-US" dirty="0"/>
              <a:t> 1, 21, 33, 41,59, !65 !</a:t>
            </a:r>
            <a:r>
              <a:rPr lang="en-US" b="1" u="sng" dirty="0"/>
              <a:t> 69 </a:t>
            </a:r>
            <a:r>
              <a:rPr lang="en-US" dirty="0"/>
              <a:t>98,]</a:t>
            </a:r>
            <a:br>
              <a:rPr lang="en-IN" dirty="0"/>
            </a:br>
            <a:r>
              <a:rPr lang="en-US" b="1" u="sng" dirty="0"/>
              <a:t>PIVOT =65</a:t>
            </a:r>
            <a:br>
              <a:rPr lang="en-IN" dirty="0"/>
            </a:br>
            <a:r>
              <a:rPr lang="en-US" dirty="0"/>
              <a:t>LEFT= =[ </a:t>
            </a:r>
            <a:r>
              <a:rPr lang="en-US" b="1" dirty="0"/>
              <a:t>5,</a:t>
            </a:r>
            <a:r>
              <a:rPr lang="en-US" dirty="0"/>
              <a:t> 1, 21, 33, 41,59, ]</a:t>
            </a:r>
            <a:br>
              <a:rPr lang="en-IN" dirty="0"/>
            </a:br>
            <a:r>
              <a:rPr lang="en-US" dirty="0"/>
              <a:t>RIGHT	 = []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272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56A6B-D5F0-E353-39FF-44C63B205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kern="100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 SORT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10DBB-FF8B-E424-E348-8A168E6B8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u="sng" dirty="0"/>
              <a:t>PIVOT = 59</a:t>
            </a:r>
            <a:br>
              <a:rPr lang="en-IN" dirty="0"/>
            </a:br>
            <a:r>
              <a:rPr lang="en-US" dirty="0"/>
              <a:t>LEFT= =[ </a:t>
            </a:r>
            <a:r>
              <a:rPr lang="en-US" b="1" dirty="0"/>
              <a:t>5,</a:t>
            </a:r>
            <a:r>
              <a:rPr lang="en-US" dirty="0"/>
              <a:t> 1, 21, 33, 41,]</a:t>
            </a:r>
            <a:br>
              <a:rPr lang="en-IN" dirty="0"/>
            </a:br>
            <a:r>
              <a:rPr lang="en-US" dirty="0"/>
              <a:t>RIGHT	 = []</a:t>
            </a:r>
            <a:br>
              <a:rPr lang="en-IN" dirty="0"/>
            </a:br>
            <a:r>
              <a:rPr lang="en-US" b="1" u="sng" dirty="0"/>
              <a:t>PIVOT = 41</a:t>
            </a:r>
            <a:br>
              <a:rPr lang="en-IN" dirty="0"/>
            </a:br>
            <a:r>
              <a:rPr lang="en-US" dirty="0"/>
              <a:t>LEFT= = [</a:t>
            </a:r>
            <a:r>
              <a:rPr lang="en-US" b="1" dirty="0"/>
              <a:t>5,</a:t>
            </a:r>
            <a:r>
              <a:rPr lang="en-US" dirty="0"/>
              <a:t> 1, 21, 33, ]</a:t>
            </a:r>
            <a:br>
              <a:rPr lang="en-IN" dirty="0"/>
            </a:br>
            <a:r>
              <a:rPr lang="en-US" dirty="0"/>
              <a:t>RIGHT	 = []</a:t>
            </a:r>
            <a:br>
              <a:rPr lang="en-IN" dirty="0"/>
            </a:br>
            <a:r>
              <a:rPr lang="en-US" b="1" u="sng" dirty="0"/>
              <a:t>PIVOT = 33</a:t>
            </a:r>
            <a:br>
              <a:rPr lang="en-IN" dirty="0"/>
            </a:br>
            <a:r>
              <a:rPr lang="en-US" dirty="0"/>
              <a:t>LEFT= =[ </a:t>
            </a:r>
            <a:r>
              <a:rPr lang="en-US" b="1" dirty="0"/>
              <a:t>5,</a:t>
            </a:r>
            <a:r>
              <a:rPr lang="en-US" dirty="0"/>
              <a:t> 1, 21,  ]</a:t>
            </a:r>
            <a:br>
              <a:rPr lang="en-IN" dirty="0"/>
            </a:br>
            <a:r>
              <a:rPr lang="en-US" dirty="0"/>
              <a:t>RIGHT	 = []</a:t>
            </a:r>
            <a:br>
              <a:rPr lang="en-IN" dirty="0"/>
            </a:br>
            <a:r>
              <a:rPr lang="en-US" b="1" u="sng" dirty="0"/>
              <a:t>PIVOT = 21</a:t>
            </a:r>
            <a:br>
              <a:rPr lang="en-IN" dirty="0"/>
            </a:br>
            <a:r>
              <a:rPr lang="en-US" dirty="0"/>
              <a:t>LEFT= = [</a:t>
            </a:r>
            <a:r>
              <a:rPr lang="en-US" b="1" dirty="0"/>
              <a:t>5,</a:t>
            </a:r>
            <a:r>
              <a:rPr lang="en-US" dirty="0"/>
              <a:t> 1, ]</a:t>
            </a:r>
            <a:br>
              <a:rPr lang="en-IN" dirty="0"/>
            </a:br>
            <a:r>
              <a:rPr lang="en-US" dirty="0"/>
              <a:t>RIGHT	 = []</a:t>
            </a:r>
            <a:br>
              <a:rPr lang="en-IN" dirty="0"/>
            </a:br>
            <a:r>
              <a:rPr lang="en-US" b="1" u="sng" dirty="0"/>
              <a:t>PIVOT = 1</a:t>
            </a:r>
            <a:br>
              <a:rPr lang="en-IN" dirty="0"/>
            </a:br>
            <a:r>
              <a:rPr lang="en-US" dirty="0"/>
              <a:t>LEFT= =[ </a:t>
            </a:r>
            <a:r>
              <a:rPr lang="en-US" b="1" dirty="0"/>
              <a:t>5,</a:t>
            </a:r>
            <a:r>
              <a:rPr lang="en-US" dirty="0"/>
              <a:t> ]</a:t>
            </a:r>
            <a:br>
              <a:rPr lang="en-IN" dirty="0"/>
            </a:br>
            <a:r>
              <a:rPr lang="en-US" dirty="0"/>
              <a:t>RIGHT	 = []</a:t>
            </a:r>
            <a:br>
              <a:rPr lang="en-IN" dirty="0"/>
            </a:br>
            <a:r>
              <a:rPr lang="en-US" dirty="0"/>
              <a:t> 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5696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B2193-925E-DDD0-9CD3-2009C1782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kern="100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ARRAY SORT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ABF3D-C96A-1E4C-834C-275B3979F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Combine Results</a:t>
            </a:r>
            <a:br>
              <a:rPr lang="en-IN" dirty="0"/>
            </a:br>
            <a:r>
              <a:rPr lang="en-IN" dirty="0"/>
              <a:t>Now we combine bottom‑up:</a:t>
            </a:r>
            <a:br>
              <a:rPr lang="en-IN" dirty="0"/>
            </a:br>
            <a:r>
              <a:rPr lang="en-IN" dirty="0"/>
              <a:t>[1, 5] | 21 → [1, 5, 21]</a:t>
            </a:r>
            <a:br>
              <a:rPr lang="en-IN" dirty="0"/>
            </a:br>
            <a:r>
              <a:rPr lang="en-IN" dirty="0"/>
              <a:t>[1, 5, 21] | 33 → [1, 5, 21, 33]</a:t>
            </a:r>
            <a:br>
              <a:rPr lang="en-IN" dirty="0"/>
            </a:br>
            <a:r>
              <a:rPr lang="en-IN" dirty="0"/>
              <a:t>[1, 5, 21, 33] | 41 → [1, 5, 21, 33, 41]</a:t>
            </a:r>
            <a:br>
              <a:rPr lang="en-IN" dirty="0"/>
            </a:br>
            <a:r>
              <a:rPr lang="en-IN" dirty="0"/>
              <a:t>[1, 5, 21, 33, 41] | 59 → [1, 5, 21, 33, 41, 59]</a:t>
            </a:r>
            <a:br>
              <a:rPr lang="en-IN" dirty="0"/>
            </a:br>
            <a:r>
              <a:rPr lang="en-IN" dirty="0"/>
              <a:t>[1, 5, 21, 33, 41, 59] | 65 → [1, 5, 21, 33, 41, 59, 65]</a:t>
            </a:r>
            <a:br>
              <a:rPr lang="en-IN" dirty="0"/>
            </a:br>
            <a:r>
              <a:rPr lang="en-IN" dirty="0"/>
              <a:t>[1, 5, 21, 33, 41, 59, 65] | 69 | [98] → </a:t>
            </a:r>
            <a:br>
              <a:rPr lang="en-IN" dirty="0"/>
            </a:br>
            <a:r>
              <a:rPr lang="en-IN" b="1" dirty="0"/>
              <a:t>Final Sorted Array = </a:t>
            </a:r>
            <a:r>
              <a:rPr lang="en-IN" dirty="0"/>
              <a:t>[1, 5, 21, 33, 41, 59, 65, 69, 98]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1513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613CA-8BC7-A4D4-BF47-0AD26AE5F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MERGE SORT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736E8-A1AF-B197-2F80-4AE41EA2B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sng" dirty="0"/>
              <a:t>🧮 Step‑by‑Step Merge Sort</a:t>
            </a:r>
            <a:endParaRPr lang="en-IN" dirty="0"/>
          </a:p>
          <a:p>
            <a:r>
              <a:rPr lang="en-IN" b="1" u="sng" dirty="0"/>
              <a:t>Step 1: Split the Array</a:t>
            </a:r>
            <a:endParaRPr lang="en-IN" dirty="0"/>
          </a:p>
          <a:p>
            <a:r>
              <a:rPr lang="en-IN" b="1" u="sng" dirty="0"/>
              <a:t>Divide into halves until each subarray has 1 element:</a:t>
            </a:r>
            <a:endParaRPr lang="en-IN" dirty="0"/>
          </a:p>
          <a:p>
            <a:pPr lvl="0"/>
            <a:r>
              <a:rPr lang="en-IN" b="1" u="sng" dirty="0"/>
              <a:t>[5, 1, 21, 33] and [41, 59, 65, 98, 69]</a:t>
            </a:r>
            <a:endParaRPr lang="en-IN" dirty="0"/>
          </a:p>
          <a:p>
            <a:pPr lvl="0"/>
            <a:r>
              <a:rPr lang="en-IN" b="1" u="sng" dirty="0"/>
              <a:t>[5, 1] and [21, 33]</a:t>
            </a:r>
            <a:endParaRPr lang="en-IN" dirty="0"/>
          </a:p>
          <a:p>
            <a:pPr lvl="0"/>
            <a:r>
              <a:rPr lang="en-IN" b="1" u="sng" dirty="0"/>
              <a:t>[41, 59] and [65, 98, 69]</a:t>
            </a:r>
            <a:endParaRPr lang="en-IN" dirty="0"/>
          </a:p>
          <a:p>
            <a:pPr lvl="0"/>
            <a:r>
              <a:rPr lang="en-IN" b="1" u="sng" dirty="0"/>
              <a:t>[65] and [98, 69] → [98] and [69]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92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BB1A6-5954-4224-391A-F25028D66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Step‑by‑Step Merge Sort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E033E-D6D3-F3C5-F245-61A7E3836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sng" dirty="0"/>
              <a:t>🧮 Step‑by‑Step Merge Sort</a:t>
            </a:r>
            <a:endParaRPr lang="en-IN" dirty="0"/>
          </a:p>
          <a:p>
            <a:r>
              <a:rPr lang="en-IN" b="1" u="sng" dirty="0"/>
              <a:t>Step 1: Split the Array</a:t>
            </a:r>
            <a:endParaRPr lang="en-IN" dirty="0"/>
          </a:p>
          <a:p>
            <a:r>
              <a:rPr lang="en-IN" b="1" u="sng" dirty="0"/>
              <a:t>Divide into halves until each subarray has 1 element:</a:t>
            </a:r>
            <a:endParaRPr lang="en-IN" dirty="0"/>
          </a:p>
          <a:p>
            <a:pPr lvl="0"/>
            <a:r>
              <a:rPr lang="en-IN" b="1" u="sng" dirty="0"/>
              <a:t>[5, 1, 21, 33] and [41, 59, 65, 98, 69]</a:t>
            </a:r>
            <a:endParaRPr lang="en-IN" dirty="0"/>
          </a:p>
          <a:p>
            <a:pPr lvl="0"/>
            <a:r>
              <a:rPr lang="en-IN" b="1" u="sng" dirty="0"/>
              <a:t>[5, 1] and [21, 33]</a:t>
            </a:r>
            <a:endParaRPr lang="en-IN" dirty="0"/>
          </a:p>
          <a:p>
            <a:pPr lvl="0"/>
            <a:r>
              <a:rPr lang="en-IN" b="1" u="sng" dirty="0"/>
              <a:t>[41, 59] and [65, 98, 69]</a:t>
            </a:r>
            <a:endParaRPr lang="en-IN" dirty="0"/>
          </a:p>
          <a:p>
            <a:pPr lvl="0"/>
            <a:r>
              <a:rPr lang="en-IN" b="1" u="sng" dirty="0"/>
              <a:t>[65] and [98, 69] → [98] and [69]</a:t>
            </a:r>
            <a:endParaRPr lang="en-IN" dirty="0"/>
          </a:p>
          <a:p>
            <a:r>
              <a:rPr lang="en-IN" b="1" u="sng" dirty="0"/>
              <a:t>C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4988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FA253-7F37-8072-CE73-078B7AA0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Step 3: Merge Larger Subarrays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D2941-2F14-C206-8F7E-C548C2AE1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sng" dirty="0"/>
              <a:t>Step 3: Merge Larger Subarrays</a:t>
            </a:r>
            <a:endParaRPr lang="en-IN" dirty="0"/>
          </a:p>
          <a:p>
            <a:pPr lvl="0"/>
            <a:r>
              <a:rPr lang="en-IN" b="1" u="sng" dirty="0"/>
              <a:t>[1, 5] + [21, 33] → [1, 5, 21, 33]</a:t>
            </a:r>
            <a:endParaRPr lang="en-IN" dirty="0"/>
          </a:p>
          <a:p>
            <a:pPr lvl="0"/>
            <a:r>
              <a:rPr lang="en-IN" b="1" u="sng" dirty="0"/>
              <a:t>[41, 59] + [69, 98] → [41, 59, 69, 98]</a:t>
            </a:r>
            <a:endParaRPr lang="en-IN" dirty="0"/>
          </a:p>
          <a:p>
            <a:pPr lvl="0"/>
            <a:r>
              <a:rPr lang="en-IN" b="1" u="sng" dirty="0"/>
              <a:t>[65] + [41, 59, 69, 98] → [41, 59, 65, 69, 98]</a:t>
            </a:r>
            <a:endParaRPr lang="en-IN" dirty="0"/>
          </a:p>
          <a:p>
            <a:r>
              <a:rPr lang="en-IN" b="1" u="sng" dirty="0"/>
              <a:t>Step 4: Final Merge</a:t>
            </a:r>
            <a:endParaRPr lang="en-IN" dirty="0"/>
          </a:p>
          <a:p>
            <a:pPr lvl="0"/>
            <a:r>
              <a:rPr lang="en-IN" b="1" u="sng" dirty="0"/>
              <a:t>[1, 5, 21, 33] + [41, 59, 65, 69, 98] → Final Sorted Array = [1, 5, 21, 33, 41, 59, 65, 69, 98]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3541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2DF31-5441-ECF5-A493-77BD211F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Difference vs Quick Sort</a:t>
            </a:r>
            <a:br>
              <a:rPr lang="en-IN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191FB0-B85B-7E04-21C0-3646741C91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Key Difference vs Quick Sort</a:t>
                </a:r>
                <a:endParaRPr lang="en-IN" dirty="0"/>
              </a:p>
              <a:p>
                <a:pPr lvl="0"/>
                <a:r>
                  <a:rPr lang="en-IN" dirty="0"/>
                  <a:t>Quick Sort: Uses pivots to split into smaller/larger groups, then combines as Left + Pivot + Right.</a:t>
                </a:r>
              </a:p>
              <a:p>
                <a:pPr lvl="0"/>
                <a:r>
                  <a:rPr lang="en-IN" dirty="0"/>
                  <a:t>Merge Sort: Always splits into halves, then merges back in sorted order.</a:t>
                </a:r>
              </a:p>
              <a:p>
                <a:pPr lvl="0"/>
                <a:r>
                  <a:rPr lang="en-IN" dirty="0"/>
                  <a:t>Merge Sort guarantees balanced splits → consistent </a:t>
                </a:r>
                <a14:m>
                  <m:oMath xmlns:m="http://schemas.openxmlformats.org/officeDocument/2006/math">
                    <m:r>
                      <a:rPr lang="en-IN" i="1"/>
                      <m:t>𝑂</m:t>
                    </m:r>
                    <m:r>
                      <a:rPr lang="en-IN" i="1"/>
                      <m:t>(</m:t>
                    </m:r>
                    <m:r>
                      <a:rPr lang="en-IN" i="1"/>
                      <m:t>𝑛</m:t>
                    </m:r>
                    <m:r>
                      <m:rPr>
                        <m:sty m:val="p"/>
                      </m:rPr>
                      <a:rPr lang="en-IN"/>
                      <m:t>log</m:t>
                    </m:r>
                    <m:r>
                      <a:rPr lang="en-IN" i="1"/>
                      <m:t>⁡</m:t>
                    </m:r>
                    <m:r>
                      <a:rPr lang="en-IN" i="1"/>
                      <m:t>𝑛</m:t>
                    </m:r>
                    <m:r>
                      <a:rPr lang="en-IN" i="1"/>
                      <m:t>)</m:t>
                    </m:r>
                  </m:oMath>
                </a14:m>
                <a:r>
                  <a:rPr lang="en-IN" dirty="0"/>
                  <a:t>.</a:t>
                </a:r>
              </a:p>
              <a:p>
                <a:pPr lvl="0"/>
                <a:r>
                  <a:rPr lang="en-IN" dirty="0"/>
                  <a:t>Quick Sort can be faster in practice but risks </a:t>
                </a:r>
                <a14:m>
                  <m:oMath xmlns:m="http://schemas.openxmlformats.org/officeDocument/2006/math">
                    <m:r>
                      <a:rPr lang="en-IN" i="1"/>
                      <m:t>𝑂</m:t>
                    </m:r>
                    <m:r>
                      <a:rPr lang="en-IN" i="1"/>
                      <m:t>(</m:t>
                    </m:r>
                    <m:sSup>
                      <m:sSupPr>
                        <m:ctrlPr>
                          <a:rPr lang="en-IN" i="1"/>
                        </m:ctrlPr>
                      </m:sSupPr>
                      <m:e>
                        <m:r>
                          <a:rPr lang="en-IN" i="1"/>
                          <m:t>𝑛</m:t>
                        </m:r>
                      </m:e>
                      <m:sup>
                        <m:r>
                          <a:rPr lang="en-IN" i="1"/>
                          <m:t>2</m:t>
                        </m:r>
                      </m:sup>
                    </m:sSup>
                    <m:r>
                      <a:rPr lang="en-IN" i="1"/>
                      <m:t>)</m:t>
                    </m:r>
                  </m:oMath>
                </a14:m>
                <a:r>
                  <a:rPr lang="en-IN" dirty="0"/>
                  <a:t>if pivots are poor.</a:t>
                </a:r>
              </a:p>
              <a:p>
                <a:r>
                  <a:rPr lang="en-US" b="1" dirty="0"/>
                  <a:t> 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191FB0-B85B-7E04-21C0-3646741C91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2019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840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ARRAY SORT   MERGE SORT </vt:lpstr>
      <vt:lpstr>ARRAY SORT</vt:lpstr>
      <vt:lpstr>ARRAY SORT</vt:lpstr>
      <vt:lpstr>ARRAY SORT</vt:lpstr>
      <vt:lpstr>MERGE SORT</vt:lpstr>
      <vt:lpstr>Step‑by‑Step Merge Sort</vt:lpstr>
      <vt:lpstr>Step 3: Merge Larger Subarrays </vt:lpstr>
      <vt:lpstr>Key Difference vs Quick Sort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 Pro</dc:creator>
  <cp:lastModifiedBy>Bon Pro</cp:lastModifiedBy>
  <cp:revision>1</cp:revision>
  <dcterms:created xsi:type="dcterms:W3CDTF">2026-06-10T16:42:23Z</dcterms:created>
  <dcterms:modified xsi:type="dcterms:W3CDTF">2026-06-10T17:41:34Z</dcterms:modified>
</cp:coreProperties>
</file>