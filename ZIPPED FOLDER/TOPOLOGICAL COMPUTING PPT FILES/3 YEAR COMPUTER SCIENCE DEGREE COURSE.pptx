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28915-7019-41B9-88AE-EFA4EBCDF2C6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BC9-B8B0-45B8-98B1-2031EE1BA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922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BC9-B8B0-45B8-98B1-2031EE1BA98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753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E657A-0031-CE17-7E77-045D65D99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4A939-9417-3FC7-7EF9-14C5CB8EB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80E8F-9CC3-B810-4A46-FC0CC13E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CCAF-3E0D-4C15-B1AA-F831D6CCAE21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B8F54-8A53-A852-9D1F-C74A3AB5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93905-89F5-7FC9-3E46-623205C30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CE94-7B23-47C0-9EFA-A15F3E8F1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83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3990-12D9-7262-7DBE-67788855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77BE4-1CDC-DECB-BA9A-229F8F912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3DB22-5886-7FE3-62C4-A7E51BA3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CCAF-3E0D-4C15-B1AA-F831D6CCAE21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39156-2BD6-9CBE-D360-977250C9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D9CF6-0C6A-1BC2-8F8A-6A47FA763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CE94-7B23-47C0-9EFA-A15F3E8F1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37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57F6-798B-D981-7DB3-3E9DDACC1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889CC-9124-140C-8436-03A3372B7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BB4FD-CC47-9031-913E-DFE8ADBB2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CCAF-3E0D-4C15-B1AA-F831D6CCAE21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A8300-32E7-05CC-1811-0AE369D7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6C39C-5185-F9E7-DAE0-36253351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CE94-7B23-47C0-9EFA-A15F3E8F1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816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9B34D-6C95-61D8-552C-5A62D2ABB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22DFF-971C-DE35-06F3-18AF05579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79C28-CEF2-C23C-ACAE-0C69FDCD0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A989B-037E-2911-1457-23673FB77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CCAF-3E0D-4C15-B1AA-F831D6CCAE21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EC12D-55D8-574F-770C-625A1D9E5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341AC-17A4-BE8A-3FD4-EEAB7F13B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CE94-7B23-47C0-9EFA-A15F3E8F1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28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232F3-630E-375D-A9E9-3D5512E87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2527D-A860-3F08-7F44-32F08676A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6D6DD-CA0B-B70B-FC60-BC76172A2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796EB-B66F-2129-FDC1-174E7C360A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C140D-EC26-B581-E6D8-FA8EB147F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500DA6-BBCA-994C-77DF-F27245B14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CCAF-3E0D-4C15-B1AA-F831D6CCAE21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530DF2-948B-2730-2C18-073E57F5C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7CD15-FCB7-B249-49A4-1FCF6FD70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CE94-7B23-47C0-9EFA-A15F3E8F1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725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3DD34-9595-AE28-ED2E-B0621F78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04293-968A-B4D7-901F-84E4CC203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CCAF-3E0D-4C15-B1AA-F831D6CCAE21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5DB78-04D7-88E7-846A-9D433F57C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71088-7687-2E8B-69A7-57D188213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CE94-7B23-47C0-9EFA-A15F3E8F1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778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E2BE24-2C8E-C1E3-D476-D404DFB3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CCAF-3E0D-4C15-B1AA-F831D6CCAE21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1930FA-F9D4-CAC6-E406-D865CB7E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C5EF7-FC7B-5F50-BB0D-B58F573BA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CE94-7B23-47C0-9EFA-A15F3E8F1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869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016FA-81D6-7B68-87E1-AD517F1A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5BDCE-3013-1DCD-65F5-975F61240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49737-CCEA-24DE-0AB9-88AF8267E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741DB-D8BD-759F-F4E6-7AD212FCF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CCAF-3E0D-4C15-B1AA-F831D6CCAE21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1E7EF-FB92-5EE2-25FB-9567DE00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A749E-8107-34BC-6CBA-B473D7D54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CE94-7B23-47C0-9EFA-A15F3E8F1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22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5F84-F8EB-F4AF-60A7-41707F1AE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BD439-A30C-46DC-9DFF-37BC868F0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7A683-CCD6-9182-705D-D9B0CECC1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0C6BD-6D1F-7517-CF2D-73DFCD8A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CCAF-3E0D-4C15-B1AA-F831D6CCAE21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9B00D-1C5C-31F8-9B5E-A163272E6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98E18-CF8E-3BF4-7A20-2710BDF1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CE94-7B23-47C0-9EFA-A15F3E8F1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231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A490-CC4F-3339-6A3C-7F4E1E8B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A10A7E-FF81-0FF3-EE92-23DC145C3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9215D-53E2-54E0-C593-B714C0A03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CCAF-3E0D-4C15-B1AA-F831D6CCAE21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80585-585E-BE22-5D55-517EDA6D3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AFA80-3592-EC4B-FD54-A1AD0CEC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CE94-7B23-47C0-9EFA-A15F3E8F1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192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E73834-F234-A7B1-9EE8-A34339618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ECE55-64EE-29F1-C40D-D7CE60EB6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313A3-986E-7872-E409-CFF6B27D7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CCAF-3E0D-4C15-B1AA-F831D6CCAE21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A9C0F-CF5E-C87A-C76B-27E17F40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A393E-A8EB-1CC7-B811-14EDA1153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CE94-7B23-47C0-9EFA-A15F3E8F1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00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5014AC-72CB-8A2C-A1AE-7DAE045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242F5-FB7C-9A55-B85E-DB5AAFF50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BF76-0B29-72FF-6262-C3079499D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DCCAF-3E0D-4C15-B1AA-F831D6CCAE21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13EAD-FF36-9928-562A-14F9E70E0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C8535-AC5D-7BFE-ACBE-93D846BFE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CCE94-7B23-47C0-9EFA-A15F3E8F17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81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Discrete_mathematic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6F05-EB39-805C-C671-FDD423F46A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sz="3100" b="1" dirty="0"/>
              <a:t>Slide 1 – Title</a:t>
            </a:r>
            <a:br>
              <a:rPr lang="en-IN" sz="3100" b="1" dirty="0"/>
            </a:br>
            <a:r>
              <a:rPr lang="en-IN" sz="3100" i="1" dirty="0">
                <a:effectLst/>
              </a:rPr>
              <a:t>Self‑Learning Roadmap: Computer Science (4 Years, 6 Semesters)</a:t>
            </a:r>
            <a:br>
              <a:rPr lang="en-IN" sz="3100" dirty="0"/>
            </a:br>
            <a:r>
              <a:rPr lang="en-IN" sz="3100" dirty="0">
                <a:effectLst/>
              </a:rPr>
              <a:t>Subtitle: </a:t>
            </a:r>
            <a:r>
              <a:rPr lang="en-IN" sz="3100" i="1" dirty="0" err="1">
                <a:effectLst/>
              </a:rPr>
              <a:t>Modeled</a:t>
            </a:r>
            <a:r>
              <a:rPr lang="en-IN" sz="3100" i="1" dirty="0">
                <a:effectLst/>
              </a:rPr>
              <a:t> on standard </a:t>
            </a:r>
            <a:r>
              <a:rPr lang="en-IN" sz="3100" i="1" dirty="0" err="1">
                <a:effectLst/>
              </a:rPr>
              <a:t>B.Tech</a:t>
            </a:r>
            <a:r>
              <a:rPr lang="en-IN" sz="3100" i="1" dirty="0">
                <a:effectLst/>
              </a:rPr>
              <a:t>/B.Sc. curricula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5D3F1-D095-A691-4177-28B2F0A8FD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957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2FE9-8209-B317-8C91-0F6552D8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Foundations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E3BF2-D434-95D0-13B7-97FEE519D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Slide 2 – Semester 1: (Jun–Oct 2026) Year 1</a:t>
            </a:r>
          </a:p>
          <a:p>
            <a:r>
              <a:rPr lang="en-IN" dirty="0">
                <a:effectLst/>
              </a:rPr>
              <a:t>Programming in C / Python  PYTYON PROG</a:t>
            </a:r>
            <a:endParaRPr lang="en-IN" dirty="0"/>
          </a:p>
          <a:p>
            <a:r>
              <a:rPr lang="en-IN" dirty="0">
                <a:effectLst/>
              </a:rPr>
              <a:t>Discrete Mathematics  </a:t>
            </a:r>
            <a:r>
              <a:rPr lang="en-IN" b="1" u="sng" dirty="0">
                <a:effectLst/>
                <a:hlinkClick r:id="rId2"/>
              </a:rPr>
              <a:t>Wikipedia page</a:t>
            </a:r>
            <a:endParaRPr lang="en-IN" b="1" u="sng" dirty="0"/>
          </a:p>
          <a:p>
            <a:r>
              <a:rPr lang="en-IN" dirty="0">
                <a:effectLst/>
              </a:rPr>
              <a:t>Engineering Mathematics I</a:t>
            </a:r>
            <a:endParaRPr lang="en-IN" dirty="0"/>
          </a:p>
          <a:p>
            <a:r>
              <a:rPr lang="en-IN" dirty="0">
                <a:effectLst/>
              </a:rPr>
              <a:t>Computer Fundamentals &amp; Digital Logic</a:t>
            </a:r>
            <a:endParaRPr lang="en-IN" dirty="0"/>
          </a:p>
          <a:p>
            <a:r>
              <a:rPr lang="en-IN" dirty="0">
                <a:effectLst/>
              </a:rPr>
              <a:t>Communication Skills</a:t>
            </a:r>
            <a:endParaRPr lang="en-IN" dirty="0"/>
          </a:p>
          <a:p>
            <a:r>
              <a:rPr lang="en-IN" dirty="0">
                <a:effectLst/>
              </a:rPr>
              <a:t>Labs: Programming Lab, Digital Logic Lab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589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4B4B-6BCB-2C06-E574-0A046DEE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Basics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84FE1-9F00-EBCD-C282-39823806B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Slide 3 – Semester 2: (Nov 2026–Mar 2027)</a:t>
            </a:r>
            <a:r>
              <a:rPr lang="en-IN" dirty="0"/>
              <a:t> </a:t>
            </a:r>
            <a:r>
              <a:rPr lang="en-IN" b="1" dirty="0"/>
              <a:t>Year 1</a:t>
            </a:r>
          </a:p>
          <a:p>
            <a:r>
              <a:rPr lang="en-IN" dirty="0">
                <a:effectLst/>
              </a:rPr>
              <a:t>Data Structures</a:t>
            </a:r>
            <a:endParaRPr lang="en-IN" dirty="0"/>
          </a:p>
          <a:p>
            <a:r>
              <a:rPr lang="en-IN" dirty="0">
                <a:effectLst/>
              </a:rPr>
              <a:t>Object-Oriented Programming (Java/C++)</a:t>
            </a:r>
            <a:endParaRPr lang="en-IN" dirty="0"/>
          </a:p>
          <a:p>
            <a:r>
              <a:rPr lang="en-IN" dirty="0">
                <a:effectLst/>
              </a:rPr>
              <a:t>Engineering Mathematics II</a:t>
            </a:r>
            <a:endParaRPr lang="en-IN" dirty="0"/>
          </a:p>
          <a:p>
            <a:r>
              <a:rPr lang="en-IN" dirty="0">
                <a:effectLst/>
              </a:rPr>
              <a:t>Computer Organization &amp; Architecture</a:t>
            </a:r>
            <a:endParaRPr lang="en-IN" dirty="0"/>
          </a:p>
          <a:p>
            <a:r>
              <a:rPr lang="en-IN" dirty="0">
                <a:effectLst/>
              </a:rPr>
              <a:t>Basic Science Requirement (Physics/Chemistry)</a:t>
            </a:r>
            <a:endParaRPr lang="en-IN" dirty="0"/>
          </a:p>
          <a:p>
            <a:r>
              <a:rPr lang="en-IN" dirty="0">
                <a:effectLst/>
              </a:rPr>
              <a:t>Labs: Data Structures Lab, OOP Lab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969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BE698-0B66-4B20-6BDF-CBC80B3C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Systems &amp; Algorithms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44505-DD08-8487-35DC-DF8311B69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Slide 4 – Semester 3: (Jun–Oct 2027) Year 2</a:t>
            </a:r>
            <a:r>
              <a:rPr lang="en-IN" dirty="0"/>
              <a:t> </a:t>
            </a:r>
            <a:endParaRPr lang="en-IN" b="1" dirty="0"/>
          </a:p>
          <a:p>
            <a:r>
              <a:rPr lang="en-IN" dirty="0">
                <a:effectLst/>
              </a:rPr>
              <a:t>Design &amp; Analysis of Algorithms</a:t>
            </a:r>
            <a:endParaRPr lang="en-IN" dirty="0"/>
          </a:p>
          <a:p>
            <a:r>
              <a:rPr lang="en-IN" dirty="0">
                <a:effectLst/>
              </a:rPr>
              <a:t>Operating Systems</a:t>
            </a:r>
            <a:endParaRPr lang="en-IN" dirty="0"/>
          </a:p>
          <a:p>
            <a:r>
              <a:rPr lang="en-IN" dirty="0">
                <a:effectLst/>
              </a:rPr>
              <a:t>Database Management Systems</a:t>
            </a:r>
            <a:endParaRPr lang="en-IN" dirty="0"/>
          </a:p>
          <a:p>
            <a:r>
              <a:rPr lang="en-IN" dirty="0">
                <a:effectLst/>
              </a:rPr>
              <a:t>Software Engineering</a:t>
            </a:r>
            <a:endParaRPr lang="en-IN" dirty="0"/>
          </a:p>
          <a:p>
            <a:r>
              <a:rPr lang="en-IN" dirty="0">
                <a:effectLst/>
              </a:rPr>
              <a:t>Ethics / Human Values</a:t>
            </a:r>
            <a:endParaRPr lang="en-IN" dirty="0"/>
          </a:p>
          <a:p>
            <a:r>
              <a:rPr lang="en-IN" dirty="0">
                <a:effectLst/>
              </a:rPr>
              <a:t>Labs: DBMS Lab, OS Lab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4103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B8649-987D-D57A-630D-786FCE90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Networking &amp; Advanced Topics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B564D-C215-30CD-71D8-40DC7EA4C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Slide 5 – Semester 4: (Nov 2027–Mar 2028)</a:t>
            </a:r>
            <a:r>
              <a:rPr lang="en-IN" dirty="0"/>
              <a:t> </a:t>
            </a:r>
            <a:r>
              <a:rPr lang="en-IN" b="1" dirty="0"/>
              <a:t>Year 2</a:t>
            </a:r>
          </a:p>
          <a:p>
            <a:r>
              <a:rPr lang="en-IN" dirty="0">
                <a:effectLst/>
              </a:rPr>
              <a:t>Computer Networks</a:t>
            </a:r>
            <a:endParaRPr lang="en-IN" dirty="0"/>
          </a:p>
          <a:p>
            <a:r>
              <a:rPr lang="en-IN" dirty="0">
                <a:effectLst/>
              </a:rPr>
              <a:t>Theory of Computation</a:t>
            </a:r>
            <a:endParaRPr lang="en-IN" dirty="0"/>
          </a:p>
          <a:p>
            <a:r>
              <a:rPr lang="en-IN" dirty="0">
                <a:effectLst/>
              </a:rPr>
              <a:t>Microprocessors &amp; Assembly Language</a:t>
            </a:r>
            <a:endParaRPr lang="en-IN" dirty="0"/>
          </a:p>
          <a:p>
            <a:r>
              <a:rPr lang="en-IN" dirty="0">
                <a:effectLst/>
              </a:rPr>
              <a:t>Artificial Intelligence (Intro)</a:t>
            </a:r>
            <a:endParaRPr lang="en-IN" dirty="0"/>
          </a:p>
          <a:p>
            <a:r>
              <a:rPr lang="en-IN" dirty="0">
                <a:effectLst/>
              </a:rPr>
              <a:t>Elective (Cybersecurity / Cloud / Web Dev)</a:t>
            </a:r>
            <a:endParaRPr lang="en-IN" dirty="0"/>
          </a:p>
          <a:p>
            <a:r>
              <a:rPr lang="en-IN" dirty="0">
                <a:effectLst/>
              </a:rPr>
              <a:t>Labs: Networks Lab, Microprocessor Lab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5302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F7ED2-ADD8-8EA7-8AA0-F5242723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Specialization &amp; Applications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5324B-FC95-612C-1F83-6A54C4134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Slide 6 – Semester 5: (Jun–Oct 2028)</a:t>
            </a:r>
            <a:r>
              <a:rPr lang="en-IN" dirty="0"/>
              <a:t> </a:t>
            </a:r>
            <a:r>
              <a:rPr lang="en-IN" b="1" dirty="0"/>
              <a:t>Year 3</a:t>
            </a:r>
          </a:p>
          <a:p>
            <a:r>
              <a:rPr lang="en-IN" dirty="0">
                <a:effectLst/>
              </a:rPr>
              <a:t>Compiler Design</a:t>
            </a:r>
            <a:endParaRPr lang="en-IN" dirty="0"/>
          </a:p>
          <a:p>
            <a:r>
              <a:rPr lang="en-IN" dirty="0">
                <a:effectLst/>
              </a:rPr>
              <a:t>Machine Learning / Data Mining</a:t>
            </a:r>
            <a:endParaRPr lang="en-IN" dirty="0"/>
          </a:p>
          <a:p>
            <a:r>
              <a:rPr lang="en-IN" dirty="0">
                <a:effectLst/>
              </a:rPr>
              <a:t>Cryptography &amp; Network Security</a:t>
            </a:r>
            <a:endParaRPr lang="en-IN" dirty="0"/>
          </a:p>
          <a:p>
            <a:r>
              <a:rPr lang="en-IN" dirty="0">
                <a:effectLst/>
              </a:rPr>
              <a:t>Professional Elective (Parallel Computing, Robotics, Mobile Apps)</a:t>
            </a:r>
            <a:endParaRPr lang="en-IN" dirty="0"/>
          </a:p>
          <a:p>
            <a:r>
              <a:rPr lang="en-IN" dirty="0">
                <a:effectLst/>
              </a:rPr>
              <a:t>Management Elective (Industrial Psychology / Operations Research)</a:t>
            </a:r>
            <a:endParaRPr lang="en-IN" dirty="0"/>
          </a:p>
          <a:p>
            <a:r>
              <a:rPr lang="en-IN" dirty="0">
                <a:effectLst/>
              </a:rPr>
              <a:t>Labs: ML Lab, Compiler Lab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556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6F86B-FB6C-6086-0BD2-C88155613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Integration &amp; Projects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C5449-6361-AA99-1A14-032D3C4DC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Slide 7 – Semester 6: (Nov 2028–Mar 2029)</a:t>
            </a:r>
            <a:r>
              <a:rPr lang="en-IN" dirty="0"/>
              <a:t> </a:t>
            </a:r>
            <a:r>
              <a:rPr lang="en-IN" b="1" dirty="0"/>
              <a:t>Year 3</a:t>
            </a:r>
          </a:p>
          <a:p>
            <a:r>
              <a:rPr lang="en-IN" dirty="0">
                <a:effectLst/>
              </a:rPr>
              <a:t>Distributed Systems / Big Data Analytics</a:t>
            </a:r>
            <a:endParaRPr lang="en-IN" dirty="0"/>
          </a:p>
          <a:p>
            <a:r>
              <a:rPr lang="en-IN" dirty="0">
                <a:effectLst/>
              </a:rPr>
              <a:t>Software Project Management</a:t>
            </a:r>
            <a:endParaRPr lang="en-IN" dirty="0"/>
          </a:p>
          <a:p>
            <a:r>
              <a:rPr lang="en-IN" dirty="0">
                <a:effectLst/>
              </a:rPr>
              <a:t>Advanced Elective (Deep Learning, IoT, Blockchain)</a:t>
            </a:r>
            <a:endParaRPr lang="en-IN" dirty="0"/>
          </a:p>
          <a:p>
            <a:r>
              <a:rPr lang="en-IN" dirty="0">
                <a:effectLst/>
              </a:rPr>
              <a:t>Capstone Project</a:t>
            </a:r>
            <a:endParaRPr lang="en-IN" dirty="0"/>
          </a:p>
          <a:p>
            <a:r>
              <a:rPr lang="en-IN" dirty="0">
                <a:effectLst/>
              </a:rPr>
              <a:t>Seminar &amp; Internship (self‑directed research or open‑source contribution)</a:t>
            </a:r>
            <a:endParaRPr lang="en-IN" dirty="0"/>
          </a:p>
          <a:p>
            <a:r>
              <a:rPr lang="en-IN" dirty="0">
                <a:effectLst/>
              </a:rPr>
              <a:t>Labs: Project Lab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93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BC24D-FC75-94B4-2312-F2E878526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Self‑Learning Tips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4B0DB-F82C-F372-14AD-3C8304F33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Slide 8 – Self‑Learning Tips</a:t>
            </a:r>
          </a:p>
          <a:p>
            <a:r>
              <a:rPr lang="en-IN" dirty="0">
                <a:effectLst/>
              </a:rPr>
              <a:t>Use textbooks + MOOCs (Coursera, edX, NPTEL)</a:t>
            </a:r>
            <a:endParaRPr lang="en-IN" dirty="0"/>
          </a:p>
          <a:p>
            <a:r>
              <a:rPr lang="en-IN" dirty="0">
                <a:effectLst/>
              </a:rPr>
              <a:t>Build projects each semester (GitHub portfolio)</a:t>
            </a:r>
            <a:endParaRPr lang="en-IN" dirty="0"/>
          </a:p>
          <a:p>
            <a:r>
              <a:rPr lang="en-IN" dirty="0">
                <a:effectLst/>
              </a:rPr>
              <a:t>Balance theory &amp; coding</a:t>
            </a:r>
            <a:endParaRPr lang="en-IN" dirty="0"/>
          </a:p>
          <a:p>
            <a:r>
              <a:rPr lang="en-IN" dirty="0">
                <a:effectLst/>
              </a:rPr>
              <a:t>Choose electives based on career goals</a:t>
            </a:r>
            <a:endParaRPr lang="en-IN" dirty="0"/>
          </a:p>
          <a:p>
            <a:r>
              <a:rPr lang="en-IN" dirty="0">
                <a:effectLst/>
              </a:rPr>
              <a:t>Capstone project = showcase of skills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05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4319-725E-890E-2B06-29CDA6B8E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3‑Year Timeline (June 2026 – March 2029)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C7FB2-79F4-7F83-F09B-FA9E8CBCB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Year 1</a:t>
            </a:r>
          </a:p>
          <a:p>
            <a:r>
              <a:rPr lang="en-IN" b="1" dirty="0">
                <a:effectLst/>
              </a:rPr>
              <a:t>Semester 1 (Jun–Oct 2026)</a:t>
            </a:r>
            <a:r>
              <a:rPr lang="en-IN" dirty="0">
                <a:effectLst/>
              </a:rPr>
              <a:t> </a:t>
            </a:r>
            <a:r>
              <a:rPr lang="en-IN" i="1" dirty="0">
                <a:effectLst/>
              </a:rPr>
              <a:t>Foundations</a:t>
            </a:r>
            <a:r>
              <a:rPr lang="en-IN" dirty="0">
                <a:effectLst/>
              </a:rPr>
              <a:t> → Programming, Discrete Math, Digital Logic, Communication Skills</a:t>
            </a:r>
            <a:endParaRPr lang="en-IN" dirty="0"/>
          </a:p>
          <a:p>
            <a:r>
              <a:rPr lang="en-IN" b="1" dirty="0">
                <a:effectLst/>
              </a:rPr>
              <a:t>Semester 2 (Nov 2026–Mar 2027)</a:t>
            </a:r>
            <a:r>
              <a:rPr lang="en-IN" dirty="0">
                <a:effectLst/>
              </a:rPr>
              <a:t> </a:t>
            </a:r>
            <a:r>
              <a:rPr lang="en-IN" i="1" dirty="0">
                <a:effectLst/>
              </a:rPr>
              <a:t>Core Basics</a:t>
            </a:r>
            <a:r>
              <a:rPr lang="en-IN" dirty="0">
                <a:effectLst/>
              </a:rPr>
              <a:t> → Data Structures, OOP, Computer Organization, Math II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3232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7C89-FD17-742E-D783-D6EA9BA0A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3‑Year Timeline (June 2026 – March 2029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CDCA4-B1A4-CC76-45C6-DD647332B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Year 2</a:t>
            </a:r>
          </a:p>
          <a:p>
            <a:r>
              <a:rPr lang="en-IN" b="1" dirty="0">
                <a:effectLst/>
              </a:rPr>
              <a:t>Semester 3 (Jun–Oct 2027)</a:t>
            </a:r>
            <a:r>
              <a:rPr lang="en-IN" dirty="0">
                <a:effectLst/>
              </a:rPr>
              <a:t> </a:t>
            </a:r>
            <a:r>
              <a:rPr lang="en-IN" i="1" dirty="0">
                <a:effectLst/>
              </a:rPr>
              <a:t>Systems &amp; Algorithms</a:t>
            </a:r>
            <a:r>
              <a:rPr lang="en-IN" dirty="0">
                <a:effectLst/>
              </a:rPr>
              <a:t> → Algorithms, Operating Systems, DBMS, Software Engineering</a:t>
            </a:r>
            <a:endParaRPr lang="en-IN" dirty="0"/>
          </a:p>
          <a:p>
            <a:r>
              <a:rPr lang="en-IN" b="1" dirty="0">
                <a:effectLst/>
              </a:rPr>
              <a:t>Semester 4 (Nov 2027–Mar 2028)</a:t>
            </a:r>
            <a:r>
              <a:rPr lang="en-IN" dirty="0">
                <a:effectLst/>
              </a:rPr>
              <a:t> </a:t>
            </a:r>
            <a:r>
              <a:rPr lang="en-IN" i="1" dirty="0">
                <a:effectLst/>
              </a:rPr>
              <a:t>Networking &amp; Advanced Topics</a:t>
            </a:r>
            <a:r>
              <a:rPr lang="en-IN" dirty="0">
                <a:effectLst/>
              </a:rPr>
              <a:t> → Computer Networks, TOC, Microprocessors, AI (Intro), Elective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1828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74E47-334E-5A66-53E2-11E45D4A3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3‑Year Timeline (June 2026 – March 2029)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2C99-7EAF-ED2B-85AD-B6B50AE2E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Year 3</a:t>
            </a:r>
          </a:p>
          <a:p>
            <a:r>
              <a:rPr lang="en-IN" b="1" dirty="0">
                <a:effectLst/>
              </a:rPr>
              <a:t>Semester 5 (Jun–Oct 2028)</a:t>
            </a:r>
            <a:r>
              <a:rPr lang="en-IN" dirty="0">
                <a:effectLst/>
              </a:rPr>
              <a:t> </a:t>
            </a:r>
            <a:r>
              <a:rPr lang="en-IN" i="1" dirty="0">
                <a:effectLst/>
              </a:rPr>
              <a:t>Specialization</a:t>
            </a:r>
            <a:r>
              <a:rPr lang="en-IN" dirty="0">
                <a:effectLst/>
              </a:rPr>
              <a:t> → Compiler Design, Machine Learning, Cryptography, Professional Elective</a:t>
            </a:r>
            <a:endParaRPr lang="en-IN" dirty="0"/>
          </a:p>
          <a:p>
            <a:r>
              <a:rPr lang="en-IN" b="1" dirty="0">
                <a:effectLst/>
              </a:rPr>
              <a:t>Semester 6 (Nov 2028–Mar 2029)</a:t>
            </a:r>
            <a:r>
              <a:rPr lang="en-IN" dirty="0">
                <a:effectLst/>
              </a:rPr>
              <a:t> </a:t>
            </a:r>
            <a:r>
              <a:rPr lang="en-IN" i="1" dirty="0">
                <a:effectLst/>
              </a:rPr>
              <a:t>Integration &amp; Projects</a:t>
            </a:r>
            <a:r>
              <a:rPr lang="en-IN" dirty="0">
                <a:effectLst/>
              </a:rPr>
              <a:t> → Distributed Systems, Project Management, Advanced Elective, Capstone Project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5301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3772</TotalTime>
  <Words>548</Words>
  <Application>Microsoft Office PowerPoint</Application>
  <PresentationFormat>Widescreen</PresentationFormat>
  <Paragraphs>69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Slide 1 – Title Self‑Learning Roadmap: Computer Science (4 Years, 6 Semesters) Subtitle: Modeled on standard B.Tech/B.Sc. curricula </vt:lpstr>
      <vt:lpstr>Foundations</vt:lpstr>
      <vt:lpstr>Core Basics</vt:lpstr>
      <vt:lpstr>Systems &amp; Algorithms </vt:lpstr>
      <vt:lpstr>Networking &amp; Advanced Topics </vt:lpstr>
      <vt:lpstr>Specialization &amp; Applications </vt:lpstr>
      <vt:lpstr>Integration &amp; Projects </vt:lpstr>
      <vt:lpstr>Self‑Learning Tips</vt:lpstr>
      <vt:lpstr>3‑Year Timeline (June 2026 – March 2029)</vt:lpstr>
      <vt:lpstr>3‑Year Timeline (June 2026 – March 2029)</vt:lpstr>
      <vt:lpstr>3‑Year Timeline (June 2026 – March 2029)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3</cp:revision>
  <dcterms:created xsi:type="dcterms:W3CDTF">2026-06-08T02:49:46Z</dcterms:created>
  <dcterms:modified xsi:type="dcterms:W3CDTF">2026-06-10T17:41:52Z</dcterms:modified>
</cp:coreProperties>
</file>