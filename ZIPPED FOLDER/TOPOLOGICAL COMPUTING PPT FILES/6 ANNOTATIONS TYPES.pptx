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1" autoAdjust="0"/>
    <p:restoredTop sz="94660"/>
  </p:normalViewPr>
  <p:slideViewPr>
    <p:cSldViewPr snapToGrid="0">
      <p:cViewPr varScale="1">
        <p:scale>
          <a:sx n="45" d="100"/>
          <a:sy n="45" d="100"/>
        </p:scale>
        <p:origin x="4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3D0E-496C-D38E-290A-83C899A8E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95DBD-3C15-DE2B-8D6F-3F38677C8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0D9B4-7BEA-D2A6-E899-38C277FBA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21419-17B7-282E-E2A3-BEC1822A1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21973-DC6E-573A-03F5-E95AB393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4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58178-A0FF-07BC-8ED7-D8FE1ECB4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B0DB1-9835-34B3-62F3-9BF734515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C4CC9-A404-6748-4F81-A4E945826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68706-1134-FF70-8346-0EB9F8049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D1233-F4BA-444D-9ED0-642EDE5BF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94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5EC76-614B-2632-B3C5-C59AE8776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25C88-98CB-7AB6-CE9A-3193384D3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E98B8-CCAB-3E65-4510-CE05955EA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4A9CE-0BDB-BCCB-F314-F3CA6DFAD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4C29A-E228-FB54-4BBA-F0A9D471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420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F3C0-568B-B187-E71B-EBD8C6974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4B16D-8AAC-9463-2A82-FDB760AAF8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16A-F7E9-F2C7-6856-0BC3FD7E4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BE8EA-63FC-FF54-FEDD-B04186DC7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FE1CB-DD15-EA7F-3256-AC4B719E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278CB-F805-98B4-5A2D-5FDFAFD0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52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A0DE9-152A-895B-89D9-91944351B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9E413-5ED7-7537-F306-D3C689B36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54DA4-D89E-1E19-9776-2C14960C7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D466F9-E79D-45C6-BF3B-6D4B85C851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0660E3-107A-777C-E8E4-4C2C34A0AB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EB48C-6F5D-42EC-196B-32E3992AA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038E11-C503-9948-C995-C403DB146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FE5270-5C16-39D9-AA79-99CE0E58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689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2F4FD-6165-E0FB-4E75-76BE1190C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92E06-92F0-8343-4AE8-201857210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7A153-A76C-1775-AA18-4A729B9F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4E0A5-5C1A-918C-2A51-E99F497F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80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FF73A-F3EF-131A-FFBA-6B0548D87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0A10B-3D82-FE05-D961-6930EB3D2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677EA-EA4C-88D2-8A85-860DB9E19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470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AFBA-3388-5924-23AC-47B01037E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C973B-02A6-2CF2-BA20-6D671AC62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7B868-41AB-B999-337F-E6850372D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88E0C-6B46-0E20-0AF1-C8E1B853E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8B398-69F5-50AD-307A-52862A079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74A33-DF19-C1DD-9368-0E5E40FC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63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9C54C-6F69-1901-55FE-F17C5EF0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1F2A7C-7B83-5753-98C8-5E33D9E61F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87C0BE-0DC9-7997-A01A-BFB375504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B6F46-F066-F822-93B1-50B3B261C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E159E-F2B0-51E5-2118-9852B7D2F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009A6-7372-7921-D878-4E70FDD77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57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4A23C-E19F-504C-5CFF-F55A26925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12388-94D4-073A-5ACC-C352BCF2E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6F19E-C3E3-C299-369C-AC9409E03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78B39-E908-79FC-94C7-D1D00D934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53103-530B-BCD5-5374-EC1D0604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476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9C967D-B0B2-F80A-CB6B-36E6BFB759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D73E0-D065-FE94-D7D4-418FE4276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D63C3-7AA6-BDE6-1939-2F2EB4BAC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7982F-2913-0E21-990D-8675B5386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F904B-8F90-B9FB-D2BD-7612C1C5C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995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86419D-1088-3230-AA8C-5F0E91F4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165D1-C78F-91A8-D212-33FBE8FF9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CF72F-E804-4B09-2914-C4C84815A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5DDB1-22A4-4EE9-B61C-C760B8920274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341FB-45EA-1A7A-F5FB-F6CE901E1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26247-CC1C-40EF-C2D2-A2140D85D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E7C4D-1542-4339-B5C1-6E3A291DFD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75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lotus-qa.com/blog/6-annotation-types-differenc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ng.com/search?q=driving+automative+cars+annotation+ideas&amp;cvid=ebb63378208742d28fd37ffb99f1511a&amp;gs_lcrp=EgRlZGdlKgYIABBFGDkyBggAEEUYOdIBCTI5MzM2ajBqNKgCCLACAQ&amp;FORM=ANAB01&amp;PC=EDGEINJ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search?q=driving+automobile+cars+annotation+ideas&amp;FORM=AWRE" TargetMode="External"/><Relationship Id="rId2" Type="http://schemas.openxmlformats.org/officeDocument/2006/relationships/hyperlink" Target="https://www.bing.com/search?q=driving+automative+cars+annotation+ideas&amp;cvid=ebb63378208742d28fd37ffb99f1511a&amp;gs_lcrp=EgRlZGdlKgYIABBFGDkyBggAEEUYOdIBCTI5MzM2ajBqNKgCCLACAQ&amp;FORM=ANAB01&amp;PC=EDGEINJ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bing.com/images/search?view=detailV2&amp;ccid=6kcy0aVi&amp;id=25B1990406C26FB790B9C66206EB598C5B752418&amp;thid=OIP.6kcy0aViULfNecLr3qr2TQHaEe&amp;mediaurl=https%3a%2f%2fmindy-support.com%2fwp-content%2fuploads%2f2024%2f03%2fwhat-types-of-data-annotation-are-used-for-self-driving-cars_.png&amp;exph=1446&amp;expw=2390&amp;q=driving+automobile+cars+annotation+ideas&amp;mode=overlay&amp;FORM=IQFRBA&amp;ck=4B40AFDE71F255380E049DEE29080696&amp;selectedIndex=0&amp;idpp=serp&amp;ajaxhist=0&amp;ajaxserp=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yaomnitalk.com/solutions/intelligent-tolling-solutions/automatic-vehicle-classification-system/" TargetMode="External"/><Relationship Id="rId2" Type="http://schemas.openxmlformats.org/officeDocument/2006/relationships/hyperlink" Target="https://www.bing.com/images/search?view=detailV2&amp;ccid=JLV95m7Y&amp;id=7FCDDE8CB154822CA9921CEDD4A9A72CFD4092E8&amp;thid=OIP.JLV95m7YpXHhUf4eY32KuwHaFZ&amp;mediaurl=https%3A%2F%2Faryaomnitalk.com%2Fwp-content%2Fuploads%2F2025%2F01%2Fp16-fish-shape-img1-768x559.jpg&amp;exph=559&amp;expw=768&amp;q=driving+automobile+cars+annotation+ideas&amp;form=IQFRBA&amp;ck=44779C50867E437803EBBE67ABAD8793&amp;selectedindex=6&amp;ajaxhist=0&amp;ajaxserp=0&amp;pivotparams=insightsToken%3Dccid_6kcy0aVi*cp_4B40AFDE71F255380E049DEE29080696*mid_25B1990406C26FB790B9C66206EB598C5B752418*thid_OIP.6kcy0aViULfNecLr3qr2TQHaEe&amp;vt=0&amp;sim=11&amp;iss=VSI&amp;ajaxhist=0&amp;ajaxserp=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D904B-C2DA-9FA4-CC4D-E650E1004F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6 ANNOTATIONS TYPES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6487F-D31F-0577-0219-2AD41D899A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u="sng" dirty="0">
                <a:hlinkClick r:id="rId2"/>
              </a:rPr>
              <a:t>WHATS THE DIFFERENCE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2494411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9A5E-C77C-7686-98C2-D896B49A6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 Types of Annotation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C421-BFD1-5F86-2510-697B8A31D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BPP3DSL</a:t>
            </a:r>
          </a:p>
          <a:p>
            <a:r>
              <a:rPr lang="en-US" dirty="0"/>
              <a:t>BOUNDING : framed  rectangular box around target object, automotive , security and e-Commerce</a:t>
            </a:r>
          </a:p>
          <a:p>
            <a:r>
              <a:rPr lang="en-US" dirty="0"/>
              <a:t>POLYGON : irregular shapes, human bodies, logos, street lights</a:t>
            </a:r>
          </a:p>
          <a:p>
            <a:r>
              <a:rPr lang="en-US" dirty="0"/>
              <a:t>POLYLINE : used for lanes and road images, reducing extra space</a:t>
            </a:r>
          </a:p>
          <a:p>
            <a:r>
              <a:rPr lang="en-US" dirty="0"/>
              <a:t>3D  Cuboids: measure volumes of vehicles, building or furniture </a:t>
            </a:r>
          </a:p>
          <a:p>
            <a:r>
              <a:rPr lang="en-US" dirty="0"/>
              <a:t>SEGMENTATION : layers of alike objects labeled until every pixel of picture is done, complicated than polygons, gives better detection. </a:t>
            </a:r>
          </a:p>
          <a:p>
            <a:r>
              <a:rPr lang="en-US" dirty="0"/>
              <a:t>LANDMARK : facial &amp; emotional,  density of target object  in specific scene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0065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5CE50-0428-7205-290A-8ACDB5111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Annotation Tools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CF75F-F600-EE38-7364-7A9B90290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driving automative cars annotation ideas – Search</a:t>
            </a:r>
            <a:endParaRPr lang="en-IN" dirty="0"/>
          </a:p>
          <a:p>
            <a:r>
              <a:rPr lang="en-IN" dirty="0"/>
              <a:t>Object &amp; Environments : Bounding Boxes/Polygons, Semantic Segmentation, Instance Segmentation </a:t>
            </a:r>
          </a:p>
          <a:p>
            <a:r>
              <a:rPr lang="en-IN" dirty="0"/>
              <a:t>Lane and Road Feature marking:</a:t>
            </a:r>
          </a:p>
          <a:p>
            <a:r>
              <a:rPr lang="en-IN" dirty="0"/>
              <a:t>Traffic and Behaviour Cues</a:t>
            </a:r>
          </a:p>
          <a:p>
            <a:r>
              <a:rPr lang="en-IN" dirty="0"/>
              <a:t>Weather and Lighting</a:t>
            </a:r>
          </a:p>
          <a:p>
            <a:r>
              <a:rPr lang="en-IN" dirty="0"/>
              <a:t>Event and Risk Detection</a:t>
            </a:r>
          </a:p>
        </p:txBody>
      </p:sp>
    </p:spTree>
    <p:extLst>
      <p:ext uri="{BB962C8B-B14F-4D97-AF65-F5344CB8AC3E}">
        <p14:creationId xmlns:p14="http://schemas.microsoft.com/office/powerpoint/2010/main" val="2629517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E6390-0720-A527-648F-31715D0DF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1551E-0872-1BD5-8FC7-2BBB17BAB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Object &amp; Environment Detection</a:t>
            </a:r>
            <a:endParaRPr lang="en-IN" dirty="0"/>
          </a:p>
          <a:p>
            <a:pPr lvl="0"/>
            <a:r>
              <a:rPr lang="en-IN" b="1" dirty="0"/>
              <a:t>Bounding Boxes / Polygons</a:t>
            </a:r>
            <a:r>
              <a:rPr lang="en-IN" dirty="0"/>
              <a:t> for vehicles, pedestrians, cyclists, animals.</a:t>
            </a:r>
          </a:p>
          <a:p>
            <a:pPr lvl="0"/>
            <a:r>
              <a:rPr lang="en-IN" b="1" dirty="0"/>
              <a:t>Semantic Segmentation</a:t>
            </a:r>
            <a:r>
              <a:rPr lang="en-IN" dirty="0"/>
              <a:t> for roads, sidewalks, lane markings, traffic signs, and vegetation.</a:t>
            </a:r>
          </a:p>
          <a:p>
            <a:pPr lvl="0"/>
            <a:r>
              <a:rPr lang="en-IN" b="1" dirty="0"/>
              <a:t>Instance Segmentation</a:t>
            </a:r>
            <a:r>
              <a:rPr lang="en-IN" dirty="0"/>
              <a:t> to differentiate between multiple objects of the same class (e.g., two cars side-by-side).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8231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7DFE0-A24B-182A-948C-17793F5BE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05FCF-4607-7FAE-1AD6-C8A4FA7AF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2. Lane &amp; Road Feature Marking</a:t>
            </a:r>
            <a:endParaRPr lang="en-IN" dirty="0"/>
          </a:p>
          <a:p>
            <a:pPr lvl="0"/>
            <a:r>
              <a:rPr lang="en-IN" b="1" dirty="0"/>
              <a:t>Lane Line Annotation</a:t>
            </a:r>
            <a:r>
              <a:rPr lang="en-IN" dirty="0"/>
              <a:t> (solid, dashed, double, yellow, white).</a:t>
            </a:r>
          </a:p>
          <a:p>
            <a:pPr lvl="0"/>
            <a:r>
              <a:rPr lang="en-IN" b="1" dirty="0"/>
              <a:t>Drivable Area Segmentation</a:t>
            </a:r>
            <a:r>
              <a:rPr lang="en-IN" dirty="0"/>
              <a:t> to distinguish safe vs. unsafe zones.</a:t>
            </a:r>
          </a:p>
          <a:p>
            <a:pPr lvl="0"/>
            <a:r>
              <a:rPr lang="en-IN" b="1" dirty="0"/>
              <a:t>Curb &amp; Road Edge Detection</a:t>
            </a:r>
            <a:r>
              <a:rPr lang="en-IN" dirty="0"/>
              <a:t> for navigation in urban and rural settings.</a:t>
            </a:r>
          </a:p>
          <a:p>
            <a:r>
              <a:rPr lang="en-IN" b="1" dirty="0"/>
              <a:t>3. Traffic &amp; </a:t>
            </a:r>
            <a:r>
              <a:rPr lang="en-IN" b="1" dirty="0" err="1"/>
              <a:t>Behavior</a:t>
            </a:r>
            <a:r>
              <a:rPr lang="en-IN" b="1" dirty="0"/>
              <a:t> Cues</a:t>
            </a:r>
            <a:endParaRPr lang="en-IN" dirty="0"/>
          </a:p>
          <a:p>
            <a:pPr lvl="0"/>
            <a:r>
              <a:rPr lang="en-IN" b="1" dirty="0"/>
              <a:t>Traffic Light State Annotation</a:t>
            </a:r>
            <a:r>
              <a:rPr lang="en-IN" dirty="0"/>
              <a:t> (red, yellow, green, blinking).</a:t>
            </a:r>
          </a:p>
          <a:p>
            <a:pPr lvl="0"/>
            <a:r>
              <a:rPr lang="en-IN" b="1" dirty="0"/>
              <a:t>Sign Recognition</a:t>
            </a:r>
            <a:r>
              <a:rPr lang="en-IN" dirty="0"/>
              <a:t> (speed limits, stop, yield, pedestrian crossing).</a:t>
            </a:r>
          </a:p>
          <a:p>
            <a:pPr lvl="0"/>
            <a:r>
              <a:rPr lang="en-IN" b="1" dirty="0" err="1"/>
              <a:t>Behavior</a:t>
            </a:r>
            <a:r>
              <a:rPr lang="en-IN" b="1" dirty="0"/>
              <a:t> Tagging</a:t>
            </a:r>
            <a:r>
              <a:rPr lang="en-IN" dirty="0"/>
              <a:t> (vehicle turning, overtaking, braking, merging).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2740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477A8-CAE6-5D7E-F04D-E1FA418BB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0883F-94DA-7488-674F-E8552F9BE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4. Weather &amp; Lighting Conditions</a:t>
            </a:r>
            <a:endParaRPr lang="en-IN" dirty="0"/>
          </a:p>
          <a:p>
            <a:pPr lvl="0"/>
            <a:r>
              <a:rPr lang="en-IN" dirty="0"/>
              <a:t>Tagging frames with </a:t>
            </a:r>
            <a:r>
              <a:rPr lang="en-IN" b="1" dirty="0"/>
              <a:t>environmental context</a:t>
            </a:r>
            <a:r>
              <a:rPr lang="en-IN" dirty="0"/>
              <a:t> (rain, fog, snow, night, glare).</a:t>
            </a:r>
          </a:p>
          <a:p>
            <a:pPr lvl="0"/>
            <a:r>
              <a:rPr lang="en-IN" dirty="0"/>
              <a:t>Annotating </a:t>
            </a:r>
            <a:r>
              <a:rPr lang="en-IN" b="1" dirty="0"/>
              <a:t>visibility levels</a:t>
            </a:r>
            <a:r>
              <a:rPr lang="en-IN" dirty="0"/>
              <a:t> for AI adaptation in low-visibility scenarios.</a:t>
            </a:r>
          </a:p>
          <a:p>
            <a:r>
              <a:rPr lang="en-IN" b="1" dirty="0"/>
              <a:t>5. Event &amp; Risk Detection</a:t>
            </a:r>
            <a:endParaRPr lang="en-IN" dirty="0"/>
          </a:p>
          <a:p>
            <a:pPr lvl="0"/>
            <a:r>
              <a:rPr lang="en-IN" b="1" dirty="0"/>
              <a:t>Accident / Hazard Marking</a:t>
            </a:r>
            <a:r>
              <a:rPr lang="en-IN" dirty="0"/>
              <a:t> (fallen objects, potholes, roadblocks).</a:t>
            </a:r>
          </a:p>
          <a:p>
            <a:pPr lvl="0"/>
            <a:r>
              <a:rPr lang="en-IN" b="1" dirty="0"/>
              <a:t>Near-Miss Situations</a:t>
            </a:r>
            <a:r>
              <a:rPr lang="en-IN" dirty="0"/>
              <a:t> for predictive safety models.</a:t>
            </a:r>
          </a:p>
          <a:p>
            <a:pPr lvl="0"/>
            <a:r>
              <a:rPr lang="en-IN" b="1" dirty="0"/>
              <a:t>Emergency Vehicle Detection</a:t>
            </a:r>
            <a:r>
              <a:rPr lang="en-IN" dirty="0"/>
              <a:t> for priority response.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158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90A99-A0A6-CE6C-76E2-29CF528A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73B19-07D8-449F-0443-C99B6C990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driving automative cars annotation ideas – Search</a:t>
            </a:r>
            <a:endParaRPr lang="en-IN" dirty="0"/>
          </a:p>
          <a:p>
            <a:r>
              <a:rPr lang="en-IN" dirty="0">
                <a:hlinkClick r:id="rId3"/>
              </a:rPr>
              <a:t>driving automobile cars annotation ideas - Search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975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F34CD-A89C-4870-7FAC-0BB81EFB5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35F3D-71A6-FD35-E6DB-36DD337D9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🚗 Driving &amp; Automobile Annotation Ideas</a:t>
            </a:r>
            <a:endParaRPr lang="en-IN" dirty="0"/>
          </a:p>
          <a:p>
            <a:pPr lvl="0"/>
            <a:r>
              <a:rPr lang="en-IN" b="1" dirty="0"/>
              <a:t>1. Object Detection &amp; Classification</a:t>
            </a:r>
            <a:endParaRPr lang="en-IN" dirty="0"/>
          </a:p>
          <a:p>
            <a:pPr lvl="0"/>
            <a:r>
              <a:rPr lang="en-IN" dirty="0"/>
              <a:t>Vehicles by type (car, truck, bus, motorcycle, bicycle)</a:t>
            </a:r>
          </a:p>
          <a:p>
            <a:pPr lvl="0"/>
            <a:r>
              <a:rPr lang="en-IN" dirty="0"/>
              <a:t>Pedestrians, animals, road debris</a:t>
            </a:r>
          </a:p>
          <a:p>
            <a:pPr lvl="0"/>
            <a:r>
              <a:rPr lang="en-IN" dirty="0"/>
              <a:t>Emergency vehicles with flashing lights</a:t>
            </a:r>
          </a:p>
          <a:p>
            <a:pPr lvl="0"/>
            <a:r>
              <a:rPr lang="en-IN" b="1" dirty="0"/>
              <a:t>2. Lane &amp; Road Marking Segmentation</a:t>
            </a:r>
            <a:endParaRPr lang="en-IN" dirty="0"/>
          </a:p>
          <a:p>
            <a:pPr lvl="0"/>
            <a:r>
              <a:rPr lang="en-IN" dirty="0"/>
              <a:t>Lane boundaries (solid, dashed, double)</a:t>
            </a:r>
          </a:p>
          <a:p>
            <a:pPr lvl="0"/>
            <a:r>
              <a:rPr lang="en-IN" dirty="0"/>
              <a:t>Crosswalks, stop lines, arrows</a:t>
            </a:r>
          </a:p>
          <a:p>
            <a:pPr lvl="0"/>
            <a:r>
              <a:rPr lang="en-IN" dirty="0"/>
              <a:t>Temporary construction markings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3923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DA8FF-3C57-AFBA-8903-9F3D16D99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B533E-3842-A6A2-58FB-55A05A3A1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3/ Traffic Sign &amp; Signal Recognition</a:t>
            </a:r>
            <a:endParaRPr lang="en-IN" dirty="0"/>
          </a:p>
          <a:p>
            <a:pPr lvl="0"/>
            <a:r>
              <a:rPr lang="en-IN" dirty="0"/>
              <a:t>Sign type (speed limit, stop, yield, warning)</a:t>
            </a:r>
          </a:p>
          <a:p>
            <a:pPr lvl="0"/>
            <a:r>
              <a:rPr lang="en-IN" dirty="0"/>
              <a:t>Traffic light states (red, yellow, green)</a:t>
            </a:r>
          </a:p>
          <a:p>
            <a:pPr lvl="0"/>
            <a:r>
              <a:rPr lang="en-IN" dirty="0"/>
              <a:t>Digital signboards with changing messages</a:t>
            </a:r>
          </a:p>
          <a:p>
            <a:pPr lvl="0"/>
            <a:r>
              <a:rPr lang="en-IN" b="1" dirty="0"/>
              <a:t>4. Driver </a:t>
            </a:r>
            <a:r>
              <a:rPr lang="en-IN" b="1" dirty="0" err="1"/>
              <a:t>Behavior</a:t>
            </a:r>
            <a:r>
              <a:rPr lang="en-IN" b="1" dirty="0"/>
              <a:t> &amp; Cabin Monitoring</a:t>
            </a:r>
            <a:r>
              <a:rPr lang="en-IN" dirty="0"/>
              <a:t> </a:t>
            </a:r>
            <a:r>
              <a:rPr lang="en-IN" i="1" dirty="0"/>
              <a:t>(for in-cabin AI)</a:t>
            </a:r>
            <a:endParaRPr lang="en-IN" dirty="0"/>
          </a:p>
          <a:p>
            <a:pPr lvl="0"/>
            <a:r>
              <a:rPr lang="en-IN" dirty="0"/>
              <a:t>Eye gaze tracking (alertness detection)</a:t>
            </a:r>
          </a:p>
          <a:p>
            <a:pPr lvl="0"/>
            <a:r>
              <a:rPr lang="en-IN" dirty="0"/>
              <a:t>Hand position on steering wheel</a:t>
            </a:r>
          </a:p>
          <a:p>
            <a:pPr lvl="0"/>
            <a:r>
              <a:rPr lang="en-IN" dirty="0"/>
              <a:t>Seatbelt usage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375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E57-4F81-B25C-9FD9-3B68A118A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2AAD2-C863-3D15-AFD2-D234771C8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5 Weather &amp; Lighting Conditions</a:t>
            </a:r>
            <a:endParaRPr lang="en-IN" dirty="0"/>
          </a:p>
          <a:p>
            <a:pPr lvl="0"/>
            <a:r>
              <a:rPr lang="en-IN" dirty="0"/>
              <a:t>Rain, fog, snow, glare, night driving</a:t>
            </a:r>
          </a:p>
          <a:p>
            <a:pPr lvl="0"/>
            <a:r>
              <a:rPr lang="en-IN" dirty="0"/>
              <a:t>Wet vs. dry road surface annotation</a:t>
            </a:r>
          </a:p>
          <a:p>
            <a:pPr lvl="0"/>
            <a:r>
              <a:rPr lang="en-IN" b="1" dirty="0"/>
              <a:t>6 Hazard &amp; Event Tagging</a:t>
            </a:r>
            <a:endParaRPr lang="en-IN" dirty="0"/>
          </a:p>
          <a:p>
            <a:pPr lvl="0"/>
            <a:r>
              <a:rPr lang="en-IN" dirty="0"/>
              <a:t>Sudden braking events</a:t>
            </a:r>
          </a:p>
          <a:p>
            <a:pPr lvl="0"/>
            <a:r>
              <a:rPr lang="en-IN" dirty="0"/>
              <a:t>Road accidents or near-misses</a:t>
            </a:r>
          </a:p>
          <a:p>
            <a:pPr lvl="0"/>
            <a:r>
              <a:rPr lang="en-IN" dirty="0"/>
              <a:t>Obstructions (fallen tree, pothole)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3064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BF51C-2D67-FE87-3FA1-024EC93E0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5A9D7-AD71-6BB5-C9BF-62F9E37F5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7. 3D Bounding Boxes &amp; Depth Estimation</a:t>
            </a:r>
            <a:endParaRPr lang="en-IN" dirty="0"/>
          </a:p>
          <a:p>
            <a:pPr lvl="0"/>
            <a:r>
              <a:rPr lang="en-IN" dirty="0"/>
              <a:t>For LiDAR or stereo camera datasets</a:t>
            </a:r>
          </a:p>
          <a:p>
            <a:pPr lvl="0"/>
            <a:r>
              <a:rPr lang="en-IN" dirty="0"/>
              <a:t>Annotating distance to objects for collision avoidance</a:t>
            </a:r>
          </a:p>
          <a:p>
            <a:pPr lvl="0"/>
            <a:r>
              <a:rPr lang="en-IN" b="1" dirty="0"/>
              <a:t>8. Semantic Scene Understanding</a:t>
            </a:r>
            <a:endParaRPr lang="en-IN" dirty="0"/>
          </a:p>
          <a:p>
            <a:pPr lvl="0"/>
            <a:r>
              <a:rPr lang="en-IN" dirty="0"/>
              <a:t>.Urban vs. rural vs. highway environments</a:t>
            </a:r>
          </a:p>
          <a:p>
            <a:pPr lvl="0"/>
            <a:r>
              <a:rPr lang="en-IN" dirty="0"/>
              <a:t>Parking lots vs. moving traffic</a:t>
            </a:r>
          </a:p>
          <a:p>
            <a:pPr lvl="0"/>
            <a:r>
              <a:rPr lang="en-IN" dirty="0"/>
              <a:t>Construction zones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843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C14B6-0DAE-951B-4530-1701D14E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driving automobile cars annotation ideas - Search</a:t>
            </a:r>
            <a:endParaRPr lang="en-IN" dirty="0"/>
          </a:p>
        </p:txBody>
      </p:sp>
      <p:pic>
        <p:nvPicPr>
          <p:cNvPr id="4" name="Content Placeholder 3" descr="Data Annotation in Autonomous Vehicles | Mindy Support">
            <a:extLst>
              <a:ext uri="{FF2B5EF4-FFF2-40B4-BE49-F238E27FC236}">
                <a16:creationId xmlns:a16="http://schemas.microsoft.com/office/drawing/2014/main" id="{BDAF8679-A7D1-D7F4-E729-8E0783AB4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99977" y="1825625"/>
            <a:ext cx="71920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591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BA730-67D1-50A5-009D-FDB6FE145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driving automobile cars annotation ideas - Search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B6067-6FC9-4346-C320-8525BB865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hlinkClick r:id="rId3"/>
              </a:rPr>
              <a:t>Automatic Vehicle Classification for Toll Efficiency | Arya </a:t>
            </a:r>
            <a:r>
              <a:rPr lang="en-IN" dirty="0" err="1">
                <a:hlinkClick r:id="rId3"/>
              </a:rPr>
              <a:t>Omnitalk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5088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4DFA9-F681-C67D-18A2-2216137B4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drives the annotations for safe </a:t>
            </a:r>
            <a:r>
              <a:rPr lang="en-IN" b="1" dirty="0" err="1"/>
              <a:t>manouvering</a:t>
            </a:r>
            <a:r>
              <a:rPr lang="en-IN" b="1" dirty="0"/>
              <a:t> of autonomous vehicles?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CB1B2-3A2A-21B3-D702-B32B8B08B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effectLst/>
              </a:rPr>
              <a:t>For autonomous vehicles, </a:t>
            </a:r>
            <a:r>
              <a:rPr lang="en-IN" b="1" dirty="0">
                <a:effectLst/>
              </a:rPr>
              <a:t>annotations are the backbone of safe </a:t>
            </a:r>
            <a:r>
              <a:rPr lang="en-IN" b="1" dirty="0" err="1">
                <a:effectLst/>
              </a:rPr>
              <a:t>maneuvering</a:t>
            </a:r>
            <a:r>
              <a:rPr lang="en-IN" dirty="0">
                <a:effectLst/>
              </a:rPr>
              <a:t> because they provide the </a:t>
            </a:r>
            <a:r>
              <a:rPr lang="en-IN" dirty="0" err="1">
                <a:effectLst/>
              </a:rPr>
              <a:t>labeled</a:t>
            </a:r>
            <a:r>
              <a:rPr lang="en-IN" dirty="0">
                <a:effectLst/>
              </a:rPr>
              <a:t> training data that machine learning models rely on. Here’s what drives them:</a:t>
            </a:r>
            <a:endParaRPr lang="en-IN" dirty="0"/>
          </a:p>
          <a:p>
            <a:r>
              <a:rPr lang="en-IN" b="1" dirty="0"/>
              <a:t>🚗 Core Annotation Types</a:t>
            </a:r>
          </a:p>
          <a:p>
            <a:r>
              <a:rPr lang="en-IN" b="1" dirty="0">
                <a:effectLst/>
              </a:rPr>
              <a:t>Bounding Boxes</a:t>
            </a:r>
            <a:r>
              <a:rPr lang="en-IN" dirty="0">
                <a:effectLst/>
              </a:rPr>
              <a:t>: Mark the position of cars, pedestrians, traffic lights, and other objects.</a:t>
            </a:r>
            <a:endParaRPr lang="en-IN" dirty="0"/>
          </a:p>
          <a:p>
            <a:r>
              <a:rPr lang="en-IN" b="1" dirty="0">
                <a:effectLst/>
              </a:rPr>
              <a:t>Segmentation</a:t>
            </a:r>
            <a:r>
              <a:rPr lang="en-IN" dirty="0">
                <a:effectLst/>
              </a:rPr>
              <a:t>: Pixel-level </a:t>
            </a:r>
            <a:r>
              <a:rPr lang="en-IN" dirty="0" err="1">
                <a:effectLst/>
              </a:rPr>
              <a:t>labeling</a:t>
            </a:r>
            <a:r>
              <a:rPr lang="en-IN" dirty="0">
                <a:effectLst/>
              </a:rPr>
              <a:t> to distinguish lanes, sidewalks, and drivable areas.</a:t>
            </a:r>
            <a:endParaRPr lang="en-IN" dirty="0"/>
          </a:p>
          <a:p>
            <a:r>
              <a:rPr lang="en-IN" b="1" dirty="0">
                <a:effectLst/>
              </a:rPr>
              <a:t>Polygons &amp; </a:t>
            </a:r>
            <a:r>
              <a:rPr lang="en-IN" b="1" dirty="0" err="1">
                <a:effectLst/>
              </a:rPr>
              <a:t>Keypoints</a:t>
            </a:r>
            <a:r>
              <a:rPr lang="en-IN" dirty="0">
                <a:effectLst/>
              </a:rPr>
              <a:t>: Capture irregular shapes (like road signs) or specific features (like joints of pedestrians).</a:t>
            </a:r>
            <a:endParaRPr lang="en-IN" dirty="0"/>
          </a:p>
          <a:p>
            <a:r>
              <a:rPr lang="en-IN" b="1" dirty="0">
                <a:effectLst/>
              </a:rPr>
              <a:t>Video Annotation</a:t>
            </a:r>
            <a:r>
              <a:rPr lang="en-IN" dirty="0">
                <a:effectLst/>
              </a:rPr>
              <a:t>: Tracks moving objects frame by frame to teach the system about motion and trajectory.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3477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1C1-1FDE-7C7E-4D5C-E3A3FD144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CDC5-B86F-BD98-46B3-1061A5A50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Why They Matter</a:t>
            </a:r>
          </a:p>
          <a:p>
            <a:r>
              <a:rPr lang="en-IN" b="1" dirty="0">
                <a:effectLst/>
              </a:rPr>
              <a:t>Object Detection</a:t>
            </a:r>
            <a:r>
              <a:rPr lang="en-IN" dirty="0">
                <a:effectLst/>
              </a:rPr>
              <a:t>: Helps the vehicle recognize and classify obstacles.</a:t>
            </a:r>
            <a:endParaRPr lang="en-IN" dirty="0"/>
          </a:p>
          <a:p>
            <a:r>
              <a:rPr lang="en-IN" b="1" dirty="0">
                <a:effectLst/>
              </a:rPr>
              <a:t>Lane Detection</a:t>
            </a:r>
            <a:r>
              <a:rPr lang="en-IN" dirty="0">
                <a:effectLst/>
              </a:rPr>
              <a:t>: Guides the car to stay within safe boundaries.</a:t>
            </a:r>
            <a:endParaRPr lang="en-IN" dirty="0"/>
          </a:p>
          <a:p>
            <a:r>
              <a:rPr lang="en-IN" b="1" dirty="0">
                <a:effectLst/>
              </a:rPr>
              <a:t>Trajectory Prediction</a:t>
            </a:r>
            <a:r>
              <a:rPr lang="en-IN" dirty="0">
                <a:effectLst/>
              </a:rPr>
              <a:t>: Annotated sequences allow the AI to anticipate how other vehicles or pedestrians will move.</a:t>
            </a:r>
            <a:endParaRPr lang="en-IN" dirty="0"/>
          </a:p>
          <a:p>
            <a:r>
              <a:rPr lang="en-IN" b="1" dirty="0">
                <a:effectLst/>
              </a:rPr>
              <a:t>Context Awareness</a:t>
            </a:r>
            <a:r>
              <a:rPr lang="en-IN" dirty="0">
                <a:effectLst/>
              </a:rPr>
              <a:t>: Differentiates between static objects (like parked cars) and dynamic ones (like cyclists).</a:t>
            </a:r>
            <a:endParaRPr lang="en-IN" dirty="0"/>
          </a:p>
          <a:p>
            <a:r>
              <a:rPr lang="en-IN" b="1" dirty="0"/>
              <a:t>⚙️ Driving Factors</a:t>
            </a:r>
          </a:p>
          <a:p>
            <a:r>
              <a:rPr lang="en-IN" b="1" dirty="0">
                <a:effectLst/>
              </a:rPr>
              <a:t>Accuracy of Labels</a:t>
            </a:r>
            <a:r>
              <a:rPr lang="en-IN" dirty="0">
                <a:effectLst/>
              </a:rPr>
              <a:t>: Poor annotation leads to unsafe decisions.</a:t>
            </a:r>
            <a:endParaRPr lang="en-IN" dirty="0"/>
          </a:p>
          <a:p>
            <a:r>
              <a:rPr lang="en-IN" b="1" dirty="0">
                <a:effectLst/>
              </a:rPr>
              <a:t>Consistency Across Datasets</a:t>
            </a:r>
            <a:r>
              <a:rPr lang="en-IN" dirty="0">
                <a:effectLst/>
              </a:rPr>
              <a:t>: Ensures the model generalizes well in varied environments.</a:t>
            </a:r>
            <a:endParaRPr lang="en-IN" dirty="0"/>
          </a:p>
          <a:p>
            <a:r>
              <a:rPr lang="en-IN" b="1" dirty="0">
                <a:effectLst/>
              </a:rPr>
              <a:t>Real-Time Relevance</a:t>
            </a:r>
            <a:r>
              <a:rPr lang="en-IN" dirty="0">
                <a:effectLst/>
              </a:rPr>
              <a:t>: Video annotations help the car adapt to dynamic traffic conditions.</a:t>
            </a:r>
            <a:endParaRPr lang="en-IN" dirty="0"/>
          </a:p>
          <a:p>
            <a:r>
              <a:rPr lang="en-IN" b="1" dirty="0">
                <a:effectLst/>
              </a:rPr>
              <a:t>Sensor Fusion</a:t>
            </a:r>
            <a:r>
              <a:rPr lang="en-IN" dirty="0">
                <a:effectLst/>
              </a:rPr>
              <a:t>: Annotations integrate data from cameras, LiDAR, and radar for a complete picture.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477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F8E85-3BA5-A2FD-F61E-AD10D7450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B3E8D-05BA-8352-C79A-5DF05615A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short, annotations are what </a:t>
            </a:r>
            <a:r>
              <a:rPr lang="en-IN" b="1" dirty="0"/>
              <a:t>translate raw sensor data into meaningful signals</a:t>
            </a:r>
            <a:r>
              <a:rPr lang="en-IN" dirty="0"/>
              <a:t> the AI can act on. Without them, the vehicle wouldn’t know how to distinguish a pedestrian from a shadow or a lane line from a crack in the road.</a:t>
            </a:r>
          </a:p>
        </p:txBody>
      </p:sp>
    </p:spTree>
    <p:extLst>
      <p:ext uri="{BB962C8B-B14F-4D97-AF65-F5344CB8AC3E}">
        <p14:creationId xmlns:p14="http://schemas.microsoft.com/office/powerpoint/2010/main" val="248405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BC3B7-D5CD-3A2C-05B4-85F42779A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/>
              <a:t>Are the machine learning systems for autonomous cars created for all types and makes of cars , larger vehicles and other types?</a:t>
            </a:r>
            <a:br>
              <a:rPr lang="en-IN" sz="3200" b="1" dirty="0"/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9817D-4B47-A684-2BF0-A7F0FCA34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Autonomous vehicle machine learning systems are </a:t>
            </a:r>
            <a:r>
              <a:rPr lang="en-IN" b="1" dirty="0"/>
              <a:t>not built separately for each car make or model</a:t>
            </a:r>
            <a:r>
              <a:rPr lang="en-IN" dirty="0"/>
              <a:t> — instead, they’re designed to be </a:t>
            </a:r>
            <a:r>
              <a:rPr lang="en-IN" b="1" dirty="0"/>
              <a:t>general frameworks</a:t>
            </a:r>
            <a:r>
              <a:rPr lang="en-IN" dirty="0"/>
              <a:t> that can be adapted across different types of vehicles. Here’s how it works:</a:t>
            </a:r>
          </a:p>
          <a:p>
            <a:r>
              <a:rPr lang="en-IN" b="1" dirty="0"/>
              <a:t>Core Design</a:t>
            </a:r>
          </a:p>
          <a:p>
            <a:r>
              <a:rPr lang="en-IN" b="1" dirty="0">
                <a:effectLst/>
              </a:rPr>
              <a:t>Universal Algorithms</a:t>
            </a:r>
            <a:r>
              <a:rPr lang="en-IN" dirty="0">
                <a:effectLst/>
              </a:rPr>
              <a:t>: The perception, planning, and control models (object detection, lane keeping, trajectory prediction) are built to work with sensor data, not tied to a specific car brand.</a:t>
            </a:r>
            <a:endParaRPr lang="en-IN" dirty="0"/>
          </a:p>
          <a:p>
            <a:r>
              <a:rPr lang="en-IN" b="1" dirty="0">
                <a:effectLst/>
              </a:rPr>
              <a:t>Sensor Inputs</a:t>
            </a:r>
            <a:r>
              <a:rPr lang="en-IN" dirty="0">
                <a:effectLst/>
              </a:rPr>
              <a:t>: Cameras, LiDAR, radar, and GPS feed into the same AI pipeline regardless of whether it’s a sedan, SUV, or truck.</a:t>
            </a:r>
            <a:endParaRPr lang="en-IN" dirty="0"/>
          </a:p>
          <a:p>
            <a:r>
              <a:rPr lang="en-IN" b="1" dirty="0">
                <a:effectLst/>
              </a:rPr>
              <a:t>Training Data</a:t>
            </a:r>
            <a:r>
              <a:rPr lang="en-IN" dirty="0">
                <a:effectLst/>
              </a:rPr>
              <a:t>: Annotated datasets include diverse scenarios — urban streets, highways, rural roads — with different vehicle sizes and </a:t>
            </a:r>
            <a:r>
              <a:rPr lang="en-IN" dirty="0" err="1">
                <a:effectLst/>
              </a:rPr>
              <a:t>behaviors</a:t>
            </a:r>
            <a:r>
              <a:rPr lang="en-IN" dirty="0">
                <a:effectLst/>
              </a:rPr>
              <a:t>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788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96621-0840-A2E7-E659-70532D6B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System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DFEB5-49BB-FA7B-CE72-FEA295795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🚛 Applicability Across Vehicle Types</a:t>
            </a:r>
          </a:p>
          <a:p>
            <a:r>
              <a:rPr lang="en-IN" b="1" dirty="0">
                <a:effectLst/>
              </a:rPr>
              <a:t>Passenger Cars</a:t>
            </a:r>
            <a:r>
              <a:rPr lang="en-IN" dirty="0">
                <a:effectLst/>
              </a:rPr>
              <a:t>: Most early development focused here, since they’re the largest market.</a:t>
            </a:r>
            <a:endParaRPr lang="en-IN" dirty="0"/>
          </a:p>
          <a:p>
            <a:r>
              <a:rPr lang="en-IN" b="1" dirty="0">
                <a:effectLst/>
              </a:rPr>
              <a:t>Larger Vehicles (Trucks, Buses)</a:t>
            </a:r>
            <a:r>
              <a:rPr lang="en-IN" dirty="0">
                <a:effectLst/>
              </a:rPr>
              <a:t>: The same AI principles apply, but models are fine-tuned for longer stopping distances, wider turning radii, and blind spots.</a:t>
            </a:r>
            <a:endParaRPr lang="en-IN" dirty="0"/>
          </a:p>
          <a:p>
            <a:r>
              <a:rPr lang="en-IN" b="1" dirty="0">
                <a:effectLst/>
              </a:rPr>
              <a:t>Special Vehicles (Delivery vans, construction equipment)</a:t>
            </a:r>
            <a:r>
              <a:rPr lang="en-IN" dirty="0">
                <a:effectLst/>
              </a:rPr>
              <a:t>: Adaptations are made for unique operating environments (e.g., warehouses, off-road).</a:t>
            </a:r>
            <a:endParaRPr lang="en-IN" dirty="0"/>
          </a:p>
          <a:p>
            <a:r>
              <a:rPr lang="en-IN" b="1" dirty="0"/>
              <a:t>🔑 What Changes Between Vehicle Types</a:t>
            </a:r>
          </a:p>
          <a:p>
            <a:r>
              <a:rPr lang="en-IN" b="1" dirty="0">
                <a:effectLst/>
              </a:rPr>
              <a:t>Calibration</a:t>
            </a:r>
            <a:r>
              <a:rPr lang="en-IN" dirty="0">
                <a:effectLst/>
              </a:rPr>
              <a:t>: Each vehicle’s sensors must be aligned and calibrated differently.</a:t>
            </a:r>
            <a:endParaRPr lang="en-IN" dirty="0"/>
          </a:p>
          <a:p>
            <a:r>
              <a:rPr lang="en-IN" b="1" dirty="0">
                <a:effectLst/>
              </a:rPr>
              <a:t>Control Systems</a:t>
            </a:r>
            <a:r>
              <a:rPr lang="en-IN" dirty="0">
                <a:effectLst/>
              </a:rPr>
              <a:t>: The AI’s output (steering angle, braking force) is mapped to the specific vehicle’s hardware.</a:t>
            </a:r>
            <a:endParaRPr lang="en-IN" dirty="0"/>
          </a:p>
          <a:p>
            <a:r>
              <a:rPr lang="en-IN" b="1" dirty="0">
                <a:effectLst/>
              </a:rPr>
              <a:t>Safety Margins</a:t>
            </a:r>
            <a:r>
              <a:rPr lang="en-IN" dirty="0">
                <a:effectLst/>
              </a:rPr>
              <a:t>: Larger vehicles require different safety buffers and </a:t>
            </a:r>
            <a:r>
              <a:rPr lang="en-IN" dirty="0" err="1">
                <a:effectLst/>
              </a:rPr>
              <a:t>maneuvering</a:t>
            </a:r>
            <a:r>
              <a:rPr lang="en-IN" dirty="0">
                <a:effectLst/>
              </a:rPr>
              <a:t> rules.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6441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4B41F-3BAF-4782-46D4-65C1EB4D6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machine learning models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DBCC0-2B2C-C13A-0BCD-A26659BDA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Bottom Line</a:t>
            </a:r>
          </a:p>
          <a:p>
            <a:r>
              <a:rPr lang="en-IN" dirty="0">
                <a:effectLst/>
              </a:rPr>
              <a:t>The </a:t>
            </a:r>
            <a:r>
              <a:rPr lang="en-IN" b="1" dirty="0">
                <a:effectLst/>
              </a:rPr>
              <a:t>core machine learning models are general-purpose</a:t>
            </a:r>
            <a:r>
              <a:rPr lang="en-IN" dirty="0">
                <a:effectLst/>
              </a:rPr>
              <a:t>, but they’re </a:t>
            </a:r>
            <a:r>
              <a:rPr lang="en-IN" b="1" dirty="0">
                <a:effectLst/>
              </a:rPr>
              <a:t>customized and validated per vehicle type</a:t>
            </a:r>
            <a:r>
              <a:rPr lang="en-IN" dirty="0">
                <a:effectLst/>
              </a:rPr>
              <a:t> to ensure safe </a:t>
            </a:r>
            <a:r>
              <a:rPr lang="en-IN" dirty="0" err="1">
                <a:effectLst/>
              </a:rPr>
              <a:t>maneuvering</a:t>
            </a:r>
            <a:r>
              <a:rPr lang="en-IN" dirty="0">
                <a:effectLst/>
              </a:rPr>
              <a:t>. Think of it like a universal “brain” that gets tuned to the body it’s placed in.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233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82D45-3247-B0D2-B365-5ACC58BAE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/>
              <a:t>Illustrate this with a comparison table showing how autonomous AI adapts differently for cars, trucks, and buses?</a:t>
            </a:r>
            <a:br>
              <a:rPr lang="en-IN" sz="3200" b="1" dirty="0"/>
            </a:br>
            <a:endParaRPr lang="en-IN" sz="32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D2ABFB-62CE-FD28-67FD-A5E5A2BB2D1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98174"/>
          <a:ext cx="10515600" cy="42062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79341212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3676055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7808502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8632652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67860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🚘 Vehicle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⚙️ Sensor Calibration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🛑 Control &amp; Safety Margins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🧠 AI Adaptation 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🛣️ Maneuvering Challenges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723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Passenger Cars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 calibration for cameras, LiDAR, radar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Shorter stopping distances, tighter turns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Lane keeping, pedestrian detection, urban driving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Dense traffic, parking, quick lane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139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Trucks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Sensors mounted higher, wider field of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Longer stopping distances, wider turning radius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Load stability, blind spot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Highway merging, sharp turns, braking with heavy 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238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Buses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Sensors tuned for length and passenger safety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safety buffers, smooth braking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Passenger comfort, frequent stops, route adherence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Crowded urban streets, frequent pedestrian crossings, wide turns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826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852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00045-6605-7EBC-34B9-2363243BB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Same AI “brain”</a:t>
            </a:r>
            <a:r>
              <a:rPr lang="en-IN" dirty="0">
                <a:effectLst/>
              </a:rPr>
              <a:t>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60697-2927-24E5-F142-8CBB8565F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🔑 Key Takeaways</a:t>
            </a:r>
          </a:p>
          <a:p>
            <a:r>
              <a:rPr lang="en-IN" b="1" dirty="0">
                <a:effectLst/>
              </a:rPr>
              <a:t>Same AI “brain”</a:t>
            </a:r>
            <a:r>
              <a:rPr lang="en-IN" dirty="0">
                <a:effectLst/>
              </a:rPr>
              <a:t>: The core perception and planning models are universal.</a:t>
            </a:r>
            <a:endParaRPr lang="en-IN" dirty="0"/>
          </a:p>
          <a:p>
            <a:r>
              <a:rPr lang="en-IN" b="1" dirty="0">
                <a:effectLst/>
              </a:rPr>
              <a:t>Different “body tuning”</a:t>
            </a:r>
            <a:r>
              <a:rPr lang="en-IN" dirty="0">
                <a:effectLst/>
              </a:rPr>
              <a:t>: Each vehicle type requires calibration for its size, dynamics, and operating environment.</a:t>
            </a:r>
            <a:endParaRPr lang="en-IN" dirty="0"/>
          </a:p>
          <a:p>
            <a:r>
              <a:rPr lang="en-IN" b="1" dirty="0">
                <a:effectLst/>
              </a:rPr>
              <a:t>Safety-first adaptation</a:t>
            </a:r>
            <a:r>
              <a:rPr lang="en-IN" dirty="0">
                <a:effectLst/>
              </a:rPr>
              <a:t>: Larger vehicles (trucks, buses) demand more conservative safety margins compared to cars.</a:t>
            </a:r>
            <a:endParaRPr lang="en-IN" dirty="0"/>
          </a:p>
          <a:p>
            <a:r>
              <a:rPr lang="en-IN" dirty="0">
                <a:effectLst/>
              </a:rPr>
              <a:t>So, while the </a:t>
            </a:r>
            <a:r>
              <a:rPr lang="en-IN" b="1" dirty="0">
                <a:effectLst/>
              </a:rPr>
              <a:t>machine learning models are general-purpose</a:t>
            </a:r>
            <a:r>
              <a:rPr lang="en-IN" dirty="0">
                <a:effectLst/>
              </a:rPr>
              <a:t>, they’re </a:t>
            </a:r>
            <a:r>
              <a:rPr lang="en-IN" b="1" dirty="0">
                <a:effectLst/>
              </a:rPr>
              <a:t>fine-tuned per vehicle type</a:t>
            </a:r>
            <a:r>
              <a:rPr lang="en-IN" dirty="0">
                <a:effectLst/>
              </a:rPr>
              <a:t> to ensure safe </a:t>
            </a:r>
            <a:r>
              <a:rPr lang="en-IN" dirty="0" err="1">
                <a:effectLst/>
              </a:rPr>
              <a:t>maneuvering</a:t>
            </a:r>
            <a:r>
              <a:rPr lang="en-IN" dirty="0">
                <a:effectLst/>
              </a:rPr>
              <a:t> in real-world conditions.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3561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A85F0-00C6-BFAB-2FBA-7FB49C4EB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work packages for offloading annotating work are there for freelancers to submit offers?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0647C-07B3-D619-D57A-0292B8DA6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Freelancers can submit offers for autonomous vehicle annotation projects through platforms like </a:t>
            </a:r>
            <a:r>
              <a:rPr lang="en-IN" dirty="0" err="1"/>
              <a:t>Freelanly</a:t>
            </a:r>
            <a:r>
              <a:rPr lang="en-IN" dirty="0"/>
              <a:t>, Upwork, and LinkedIn, where work packages typically include video annotation, image </a:t>
            </a:r>
            <a:r>
              <a:rPr lang="en-IN" dirty="0" err="1"/>
              <a:t>labeling</a:t>
            </a:r>
            <a:r>
              <a:rPr lang="en-IN" dirty="0"/>
              <a:t>, LiDAR point cloud annotation, and QA review tasks. These projects often pay per video, per dataset, or per project tier, depending on complexity.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07782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DDE5F-1A33-634C-9524-1A8932D71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C73FD-D41D-4AD1-6D92-76DD74E82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Common Work Packages for Freelance Annotation</a:t>
            </a:r>
          </a:p>
          <a:p>
            <a:r>
              <a:rPr lang="en-IN" b="1" dirty="0">
                <a:effectLst/>
              </a:rPr>
              <a:t>Video Annotation (Driving Footage)</a:t>
            </a:r>
            <a:endParaRPr lang="en-IN" dirty="0"/>
          </a:p>
          <a:p>
            <a:pPr lvl="1"/>
            <a:r>
              <a:rPr lang="en-IN" dirty="0" err="1">
                <a:effectLst/>
              </a:rPr>
              <a:t>Labeling</a:t>
            </a:r>
            <a:r>
              <a:rPr lang="en-IN" dirty="0">
                <a:effectLst/>
              </a:rPr>
              <a:t> vehicles, pedestrians, lane markings, intersections, and traffic signs.</a:t>
            </a:r>
            <a:endParaRPr lang="en-IN" dirty="0"/>
          </a:p>
          <a:p>
            <a:pPr lvl="1"/>
            <a:r>
              <a:rPr lang="en-IN" dirty="0">
                <a:effectLst/>
              </a:rPr>
              <a:t>Tracking object movement across frames for trajectory prediction.</a:t>
            </a:r>
            <a:endParaRPr lang="en-IN" dirty="0"/>
          </a:p>
          <a:p>
            <a:pPr lvl="1"/>
            <a:r>
              <a:rPr lang="en-IN" dirty="0">
                <a:effectLst/>
              </a:rPr>
              <a:t>Example: Quick Annotate offers freelance video annotation tasks with ~36-second clips, paying per video with performance-based bonuses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880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558C7-CB39-9699-029C-BF5F80E33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2A00F-A756-C4DE-291C-23E7D7130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>
                <a:effectLst/>
              </a:rPr>
              <a:t>2. Image Annotation</a:t>
            </a:r>
            <a:endParaRPr lang="en-IN" dirty="0"/>
          </a:p>
          <a:p>
            <a:r>
              <a:rPr lang="en-IN" dirty="0">
                <a:effectLst/>
              </a:rPr>
              <a:t>Bounding boxes for cars, cyclists, and road features.</a:t>
            </a:r>
            <a:endParaRPr lang="en-IN" dirty="0"/>
          </a:p>
          <a:p>
            <a:r>
              <a:rPr lang="en-IN" dirty="0">
                <a:effectLst/>
              </a:rPr>
              <a:t>Semantic segmentation for drivable areas, sidewalks, and obstacles.</a:t>
            </a:r>
            <a:endParaRPr lang="en-IN" dirty="0"/>
          </a:p>
          <a:p>
            <a:r>
              <a:rPr lang="en-IN" dirty="0">
                <a:effectLst/>
              </a:rPr>
              <a:t>Example: Upwork freelancers provide bounding box annotation services for autonomous vehicle datasets, with tiered packages ($50–$100 depending on speed and revisions).</a:t>
            </a:r>
            <a:endParaRPr lang="en-IN" dirty="0"/>
          </a:p>
          <a:p>
            <a:r>
              <a:rPr lang="en-IN" b="1" dirty="0">
                <a:effectLst/>
              </a:rPr>
              <a:t>3. LiDAR / 3D Point Cloud Annotation</a:t>
            </a:r>
            <a:endParaRPr lang="en-IN" dirty="0"/>
          </a:p>
          <a:p>
            <a:r>
              <a:rPr lang="en-IN" dirty="0">
                <a:effectLst/>
              </a:rPr>
              <a:t>Annotating 3D sensor data to identify vehicles, pedestrians, and infrastructure.</a:t>
            </a:r>
            <a:endParaRPr lang="en-IN" dirty="0"/>
          </a:p>
          <a:p>
            <a:r>
              <a:rPr lang="en-IN" dirty="0">
                <a:effectLst/>
              </a:rPr>
              <a:t>Used for depth perception and collision avoidance.</a:t>
            </a:r>
            <a:endParaRPr lang="en-IN" dirty="0"/>
          </a:p>
          <a:p>
            <a:r>
              <a:rPr lang="en-IN" dirty="0">
                <a:effectLst/>
              </a:rPr>
              <a:t>Example: </a:t>
            </a:r>
            <a:r>
              <a:rPr lang="en-IN" dirty="0" err="1">
                <a:effectLst/>
              </a:rPr>
              <a:t>Freelanly</a:t>
            </a:r>
            <a:r>
              <a:rPr lang="en-IN" dirty="0">
                <a:effectLst/>
              </a:rPr>
              <a:t> projects specifically request 2D/3D/LiDAR annotation experts for autonomous driving datasets.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1738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72854-1CC0-0C50-2250-77B5CE98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D0A9D-5F54-F190-97E3-714E82082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4. ADAS (Advanced Driver Assistance Systems) Annotation</a:t>
            </a:r>
            <a:endParaRPr lang="en-IN" dirty="0"/>
          </a:p>
          <a:p>
            <a:r>
              <a:rPr lang="en-IN" dirty="0">
                <a:effectLst/>
              </a:rPr>
              <a:t>Specialized </a:t>
            </a:r>
            <a:r>
              <a:rPr lang="en-IN" dirty="0" err="1">
                <a:effectLst/>
              </a:rPr>
              <a:t>labeling</a:t>
            </a:r>
            <a:r>
              <a:rPr lang="en-IN" dirty="0">
                <a:effectLst/>
              </a:rPr>
              <a:t> for lane departure warnings, adaptive cruise control, and intersection scenarios.</a:t>
            </a:r>
            <a:endParaRPr lang="en-IN" dirty="0"/>
          </a:p>
          <a:p>
            <a:r>
              <a:rPr lang="en-IN" dirty="0">
                <a:effectLst/>
              </a:rPr>
              <a:t>Includes tagging vehicle movements and environmental events.</a:t>
            </a:r>
            <a:endParaRPr lang="en-IN" dirty="0"/>
          </a:p>
          <a:p>
            <a:r>
              <a:rPr lang="en-IN" b="1" dirty="0">
                <a:effectLst/>
              </a:rPr>
              <a:t>5. QA &amp; Rework Packages</a:t>
            </a:r>
            <a:endParaRPr lang="en-IN" dirty="0"/>
          </a:p>
          <a:p>
            <a:r>
              <a:rPr lang="en-IN" dirty="0">
                <a:effectLst/>
              </a:rPr>
              <a:t>Reviewing annotated datasets for accuracy.</a:t>
            </a:r>
            <a:endParaRPr lang="en-IN" dirty="0"/>
          </a:p>
          <a:p>
            <a:r>
              <a:rPr lang="en-IN" dirty="0">
                <a:effectLst/>
              </a:rPr>
              <a:t>Correcting errors and ensuring consistency across large-scale projects.</a:t>
            </a:r>
            <a:endParaRPr lang="en-IN" dirty="0"/>
          </a:p>
          <a:p>
            <a:r>
              <a:rPr lang="en-IN" dirty="0">
                <a:effectLst/>
              </a:rPr>
              <a:t>Often offered as separate freelance contracts for quality assurance.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110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0448E-2811-2BC9-1E4B-64D9EEE6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30F4A-9668-E981-D4CE-985DB7FA2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Platforms Offering Annotation Work</a:t>
            </a:r>
          </a:p>
          <a:p>
            <a:r>
              <a:rPr lang="en-IN" b="1" dirty="0" err="1">
                <a:effectLst/>
              </a:rPr>
              <a:t>Freelanly</a:t>
            </a:r>
            <a:r>
              <a:rPr lang="en-IN" dirty="0">
                <a:effectLst/>
              </a:rPr>
              <a:t>: Direct-to-recruiter projects for autonomous driving annotation, requiring 20+ hours/week commitment.</a:t>
            </a:r>
            <a:endParaRPr lang="en-IN" dirty="0"/>
          </a:p>
          <a:p>
            <a:r>
              <a:rPr lang="en-IN" b="1" dirty="0">
                <a:effectLst/>
              </a:rPr>
              <a:t>Upwork</a:t>
            </a:r>
            <a:r>
              <a:rPr lang="en-IN" dirty="0">
                <a:effectLst/>
              </a:rPr>
              <a:t>: Freelancers list annotation services with fixed-price tiers for bounding box, LiDAR, and segmentation tasks.</a:t>
            </a:r>
          </a:p>
          <a:p>
            <a:r>
              <a:rPr lang="en-IN" b="1" dirty="0">
                <a:effectLst/>
              </a:rPr>
              <a:t>LinkedIn (Quick Annotate)</a:t>
            </a:r>
            <a:r>
              <a:rPr lang="en-IN" dirty="0">
                <a:effectLst/>
              </a:rPr>
              <a:t>: Full-time freelance video annotation projects with competitive pay per video and training provided.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427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E83B-D142-975F-5F0A-039054BA2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2562C-A7B4-4345-1A6B-60C407746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Risks &amp; Considerations</a:t>
            </a:r>
          </a:p>
          <a:p>
            <a:r>
              <a:rPr lang="en-IN" b="1" dirty="0">
                <a:effectLst/>
              </a:rPr>
              <a:t>Consistency &amp; Accuracy</a:t>
            </a:r>
            <a:r>
              <a:rPr lang="en-IN" dirty="0">
                <a:effectLst/>
              </a:rPr>
              <a:t>: Annotation errors can compromise safety-critical AI models.</a:t>
            </a:r>
            <a:endParaRPr lang="en-IN" dirty="0"/>
          </a:p>
          <a:p>
            <a:r>
              <a:rPr lang="en-IN" b="1" dirty="0">
                <a:effectLst/>
              </a:rPr>
              <a:t>Payment Models</a:t>
            </a:r>
            <a:r>
              <a:rPr lang="en-IN" dirty="0">
                <a:effectLst/>
              </a:rPr>
              <a:t>: Some platforms pay per video, others per dataset — freelancers should confirm rates before committing.</a:t>
            </a:r>
            <a:endParaRPr lang="en-IN" dirty="0"/>
          </a:p>
          <a:p>
            <a:r>
              <a:rPr lang="en-IN" b="1" dirty="0">
                <a:effectLst/>
              </a:rPr>
              <a:t>Scams</a:t>
            </a:r>
            <a:r>
              <a:rPr lang="en-IN" dirty="0">
                <a:effectLst/>
              </a:rPr>
              <a:t>: Be cautious of projects requiring upfront fees or hidden contact details; legitimate platforms (Upwork, LinkedIn) provide secure payment protection.</a:t>
            </a:r>
            <a:endParaRPr lang="en-IN" dirty="0"/>
          </a:p>
          <a:p>
            <a:r>
              <a:rPr lang="en-IN" b="1" dirty="0">
                <a:effectLst/>
              </a:rPr>
              <a:t>Workload</a:t>
            </a:r>
            <a:r>
              <a:rPr lang="en-IN" dirty="0">
                <a:effectLst/>
              </a:rPr>
              <a:t>: Projects often require repetitive tasks and long hours; freelancers should assess availability before bidding.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659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36D7E-0FCA-0D57-9B86-CA7AEA6E5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114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/>
              <a:t>step-by-step guide to pitching your freelance services for autonomous vehicle annotation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66E92-A343-A44C-2AB9-AE6F83EEA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Step-by-Step Guide</a:t>
            </a:r>
          </a:p>
          <a:p>
            <a:r>
              <a:rPr lang="en-IN" b="1" dirty="0">
                <a:effectLst/>
              </a:rPr>
              <a:t>1. Research the Platform</a:t>
            </a:r>
            <a:endParaRPr lang="en-IN" dirty="0"/>
          </a:p>
          <a:p>
            <a:pPr lvl="1"/>
            <a:r>
              <a:rPr lang="en-IN" dirty="0">
                <a:effectLst/>
              </a:rPr>
              <a:t>Identify where projects are posted (Upwork, LinkedIn, </a:t>
            </a:r>
            <a:r>
              <a:rPr lang="en-IN" dirty="0" err="1">
                <a:effectLst/>
              </a:rPr>
              <a:t>Freelanly</a:t>
            </a:r>
            <a:r>
              <a:rPr lang="en-IN" dirty="0">
                <a:effectLst/>
              </a:rPr>
              <a:t>, Quick Annotate).</a:t>
            </a:r>
            <a:endParaRPr lang="en-IN" dirty="0"/>
          </a:p>
          <a:p>
            <a:pPr lvl="1"/>
            <a:r>
              <a:rPr lang="en-IN" dirty="0">
                <a:effectLst/>
              </a:rPr>
              <a:t>Review job descriptions carefully to understand required annotation types (video, image, LiDAR).</a:t>
            </a:r>
            <a:endParaRPr lang="en-IN" dirty="0"/>
          </a:p>
          <a:p>
            <a:r>
              <a:rPr lang="en-IN" b="1" dirty="0">
                <a:effectLst/>
              </a:rPr>
              <a:t>2. Highlight Relevant Skills</a:t>
            </a:r>
            <a:endParaRPr lang="en-IN" dirty="0"/>
          </a:p>
          <a:p>
            <a:pPr lvl="1"/>
            <a:r>
              <a:rPr lang="en-IN" dirty="0">
                <a:effectLst/>
              </a:rPr>
              <a:t>Emphasize experience with annotation tools (e.g., CVAT, </a:t>
            </a:r>
            <a:r>
              <a:rPr lang="en-IN" dirty="0" err="1">
                <a:effectLst/>
              </a:rPr>
              <a:t>Labelbox</a:t>
            </a:r>
            <a:r>
              <a:rPr lang="en-IN" dirty="0">
                <a:effectLst/>
              </a:rPr>
              <a:t>, </a:t>
            </a:r>
            <a:r>
              <a:rPr lang="en-IN" dirty="0" err="1">
                <a:effectLst/>
              </a:rPr>
              <a:t>Supervisely</a:t>
            </a:r>
            <a:r>
              <a:rPr lang="en-IN" dirty="0">
                <a:effectLst/>
              </a:rPr>
              <a:t>).</a:t>
            </a:r>
            <a:endParaRPr lang="en-IN" dirty="0"/>
          </a:p>
          <a:p>
            <a:pPr lvl="1"/>
            <a:r>
              <a:rPr lang="en-IN" dirty="0">
                <a:effectLst/>
              </a:rPr>
              <a:t>Mention familiarity with autonomous driving datasets (traffic signs, pedestrians, lane markings).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4976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92E80-2E7C-DE5B-1C39-530CAACA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56328-363B-91A6-AC78-FC3111DE6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3. Showcase Accuracy &amp; Consistency</a:t>
            </a:r>
            <a:endParaRPr lang="en-IN" dirty="0"/>
          </a:p>
          <a:p>
            <a:r>
              <a:rPr lang="en-IN" dirty="0">
                <a:effectLst/>
              </a:rPr>
              <a:t>Stress attention to detail and ability to maintain </a:t>
            </a:r>
            <a:r>
              <a:rPr lang="en-IN" dirty="0" err="1">
                <a:effectLst/>
              </a:rPr>
              <a:t>labeling</a:t>
            </a:r>
            <a:r>
              <a:rPr lang="en-IN" dirty="0">
                <a:effectLst/>
              </a:rPr>
              <a:t> standards.</a:t>
            </a:r>
            <a:endParaRPr lang="en-IN" dirty="0"/>
          </a:p>
          <a:p>
            <a:r>
              <a:rPr lang="en-IN" dirty="0">
                <a:effectLst/>
              </a:rPr>
              <a:t>If possible, include metrics (e.g., “maintained 98% accuracy across 10,000 frames”).</a:t>
            </a:r>
            <a:endParaRPr lang="en-IN" dirty="0"/>
          </a:p>
          <a:p>
            <a:r>
              <a:rPr lang="en-IN" b="1" dirty="0">
                <a:effectLst/>
              </a:rPr>
              <a:t>4. Offer Flexible Packages</a:t>
            </a:r>
            <a:endParaRPr lang="en-IN" dirty="0"/>
          </a:p>
          <a:p>
            <a:r>
              <a:rPr lang="en-IN" dirty="0">
                <a:effectLst/>
              </a:rPr>
              <a:t>Propose clear deliverables: per video, per dataset, or per hour.</a:t>
            </a:r>
            <a:endParaRPr lang="en-IN" dirty="0"/>
          </a:p>
          <a:p>
            <a:r>
              <a:rPr lang="en-IN" dirty="0">
                <a:effectLst/>
              </a:rPr>
              <a:t>Include tiered options (basic bounding boxes, advanced segmentation, QA review).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7665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502A-B357-53DC-4826-8200E70BC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A1043-43D2-531B-4B00-4560F9721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5. Demonstrate Reliability</a:t>
            </a:r>
            <a:endParaRPr lang="en-IN" dirty="0"/>
          </a:p>
          <a:p>
            <a:pPr lvl="1"/>
            <a:r>
              <a:rPr lang="en-IN" dirty="0">
                <a:effectLst/>
              </a:rPr>
              <a:t>Highlight ability to meet deadlines and handle repetitive tasks.</a:t>
            </a:r>
            <a:endParaRPr lang="en-IN" dirty="0"/>
          </a:p>
          <a:p>
            <a:pPr lvl="1"/>
            <a:r>
              <a:rPr lang="en-IN" dirty="0">
                <a:effectLst/>
              </a:rPr>
              <a:t>Mention availability (e.g., “20+ hours per week commitment”).</a:t>
            </a:r>
            <a:endParaRPr lang="en-IN" dirty="0"/>
          </a:p>
          <a:p>
            <a:r>
              <a:rPr lang="en-IN" b="1" dirty="0"/>
              <a:t>6. </a:t>
            </a:r>
            <a:r>
              <a:rPr lang="en-IN" b="1" dirty="0">
                <a:effectLst/>
              </a:rPr>
              <a:t>Add a Professional Touch</a:t>
            </a:r>
            <a:endParaRPr lang="en-IN" dirty="0"/>
          </a:p>
          <a:p>
            <a:pPr lvl="1"/>
            <a:r>
              <a:rPr lang="en-IN" dirty="0">
                <a:effectLst/>
              </a:rPr>
              <a:t>Keep proposals concise, structured, and tailored to the client’s project.</a:t>
            </a:r>
            <a:endParaRPr lang="en-IN" dirty="0"/>
          </a:p>
          <a:p>
            <a:pPr lvl="1"/>
            <a:r>
              <a:rPr lang="en-IN" dirty="0">
                <a:effectLst/>
              </a:rPr>
              <a:t>Avoid generic pitches — reference the specific annotation type requested.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53430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05C34-E6D6-14DD-51B3-2BD6C585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65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sz="2700" dirty="0"/>
            </a:br>
            <a:r>
              <a:rPr lang="en-IN" b="1" dirty="0"/>
              <a:t>Subject: Proposal for Autonomous Vehicle Annotation Project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5ABD6-A97D-578A-E4D4-54DC6FA1C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5064"/>
            <a:ext cx="10515600" cy="4744527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Subject: Proposal for Autonomous Vehicle Annotation Project</a:t>
            </a:r>
          </a:p>
          <a:p>
            <a:endParaRPr lang="en-IN" dirty="0"/>
          </a:p>
          <a:p>
            <a:r>
              <a:rPr lang="en-IN" dirty="0"/>
              <a:t>Hello [Client Name],</a:t>
            </a:r>
          </a:p>
          <a:p>
            <a:endParaRPr lang="en-IN" dirty="0"/>
          </a:p>
          <a:p>
            <a:r>
              <a:rPr lang="en-IN" dirty="0"/>
              <a:t>I am excited to submit my offer for your autonomous vehicle annotation project. With hands-on experience in video and image </a:t>
            </a:r>
            <a:r>
              <a:rPr lang="en-IN" dirty="0" err="1"/>
              <a:t>labeling</a:t>
            </a:r>
            <a:r>
              <a:rPr lang="en-IN" dirty="0"/>
              <a:t> for AI datasets, I specialize in bounding boxes, semantic segmentation, and LiDAR point cloud annotation.</a:t>
            </a:r>
          </a:p>
          <a:p>
            <a:endParaRPr lang="en-IN" dirty="0"/>
          </a:p>
          <a:p>
            <a:r>
              <a:rPr lang="en-IN" dirty="0"/>
              <a:t>Key strengths I bring:</a:t>
            </a:r>
          </a:p>
          <a:p>
            <a:r>
              <a:rPr lang="en-IN" dirty="0"/>
              <a:t>- Proficiency with tools such as CVAT and </a:t>
            </a:r>
            <a:r>
              <a:rPr lang="en-IN" dirty="0" err="1"/>
              <a:t>Labelbox</a:t>
            </a:r>
            <a:endParaRPr lang="en-IN" dirty="0"/>
          </a:p>
          <a:p>
            <a:r>
              <a:rPr lang="en-IN" dirty="0"/>
              <a:t>- Proven accuracy (98%+ consistency across large datasets)</a:t>
            </a:r>
          </a:p>
          <a:p>
            <a:r>
              <a:rPr lang="en-IN" dirty="0"/>
              <a:t>- Experience annotating traffic signs, lane markings, pedestrians, and vehicles</a:t>
            </a:r>
          </a:p>
          <a:p>
            <a:r>
              <a:rPr lang="en-IN" dirty="0"/>
              <a:t>- Flexible work packages: per video, per dataset, or hourly</a:t>
            </a:r>
          </a:p>
          <a:p>
            <a:r>
              <a:rPr lang="en-IN" dirty="0"/>
              <a:t>- Availability for 20+ hours per week with fast turnaround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5946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FA3F4-CAEC-DA36-F6B1-02FCEECD2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A78C3-E8F2-A57E-C133-171729F87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I understand the importance of precision in training autonomous driving models, and I am committed to delivering high-quality annotations that ensure safety and reliability.</a:t>
            </a:r>
          </a:p>
          <a:p>
            <a:endParaRPr lang="en-IN" dirty="0"/>
          </a:p>
          <a:p>
            <a:r>
              <a:rPr lang="en-IN" dirty="0"/>
              <a:t>I would be happy to discuss your dataset size, preferred annotation format, and timelines to tailor my services to your needs.</a:t>
            </a:r>
          </a:p>
          <a:p>
            <a:endParaRPr lang="en-IN" dirty="0"/>
          </a:p>
          <a:p>
            <a:r>
              <a:rPr lang="en-IN" dirty="0"/>
              <a:t>Looking forward to collaborating with you.</a:t>
            </a:r>
          </a:p>
          <a:p>
            <a:endParaRPr lang="en-IN" dirty="0"/>
          </a:p>
          <a:p>
            <a:r>
              <a:rPr lang="en-IN" dirty="0"/>
              <a:t>Best regards,  </a:t>
            </a:r>
          </a:p>
          <a:p>
            <a:r>
              <a:rPr lang="en-IN" dirty="0"/>
              <a:t>[Your Name]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78730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27493-AC14-DB98-ED89-314DC76C7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“photo + sensor data integration” exercise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940FD-A570-A268-2347-1D28D0E69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Step 1: Choose a Car Image</a:t>
            </a:r>
          </a:p>
          <a:p>
            <a:r>
              <a:rPr lang="en-IN" dirty="0"/>
              <a:t>Start with a simple photo of a car (you can download a royalty-free image from sites like </a:t>
            </a:r>
            <a:r>
              <a:rPr lang="en-IN" dirty="0" err="1"/>
              <a:t>Unsplash</a:t>
            </a:r>
            <a:r>
              <a:rPr lang="en-IN" dirty="0"/>
              <a:t> or </a:t>
            </a:r>
            <a:r>
              <a:rPr lang="en-IN" dirty="0" err="1"/>
              <a:t>Pexels</a:t>
            </a:r>
            <a:r>
              <a:rPr lang="en-IN" dirty="0"/>
              <a:t>).</a:t>
            </a:r>
          </a:p>
          <a:p>
            <a:r>
              <a:rPr lang="en-IN" dirty="0"/>
              <a:t>Place it on a road background — this simulates the environment.</a:t>
            </a:r>
          </a:p>
          <a:p>
            <a:r>
              <a:rPr lang="en-IN" b="1" dirty="0"/>
              <a:t>Step 2: Add a “Virtual Sensor”</a:t>
            </a:r>
          </a:p>
          <a:p>
            <a:r>
              <a:rPr lang="en-IN" dirty="0"/>
              <a:t>Instead of a real sensor, you can </a:t>
            </a:r>
            <a:r>
              <a:rPr lang="en-IN" b="1" dirty="0"/>
              <a:t>annotate</a:t>
            </a:r>
            <a:r>
              <a:rPr lang="en-IN" dirty="0"/>
              <a:t> the image with bounding boxes or labels.</a:t>
            </a:r>
          </a:p>
          <a:p>
            <a:r>
              <a:rPr lang="en-IN" dirty="0"/>
              <a:t>Example: Draw a box around the car and label it as “Vehicle.”</a:t>
            </a:r>
          </a:p>
          <a:p>
            <a:r>
              <a:rPr lang="en-IN" dirty="0"/>
              <a:t>Add a line in front of the car </a:t>
            </a:r>
            <a:r>
              <a:rPr lang="en-IN" dirty="0" err="1"/>
              <a:t>labeled</a:t>
            </a:r>
            <a:r>
              <a:rPr lang="en-IN" dirty="0"/>
              <a:t> “Distance Sensor Range” to simulate LiDAR or radar.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4260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D4CBF-8079-F8AE-D335-C886BACF7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5225B-2530-C5BD-DBF2-5C0B2F60F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3: Simulate Sensor Data</a:t>
            </a:r>
          </a:p>
          <a:p>
            <a:r>
              <a:rPr lang="en-IN" dirty="0"/>
              <a:t>Create a small table of </a:t>
            </a:r>
            <a:r>
              <a:rPr lang="en-IN" b="1" dirty="0"/>
              <a:t>mock sensor readings</a:t>
            </a:r>
            <a:r>
              <a:rPr lang="en-IN" dirty="0"/>
              <a:t> (these are not real internet feeds, but they mimic what sensors would output):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88CA65-F277-F553-4714-F7E9363CC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750050"/>
              </p:ext>
            </p:extLst>
          </p:nvPr>
        </p:nvGraphicFramePr>
        <p:xfrm>
          <a:off x="838200" y="3086893"/>
          <a:ext cx="10515600" cy="34059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1405282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78024783"/>
                    </a:ext>
                  </a:extLst>
                </a:gridCol>
              </a:tblGrid>
              <a:tr h="68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Sensor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181218"/>
                  </a:ext>
                </a:extLst>
              </a:tr>
              <a:tr h="68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LiDAR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Distance to obstacle: 12.5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500901"/>
                  </a:ext>
                </a:extLst>
              </a:tr>
              <a:tr h="68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Radar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Relative speed of object ahead: -5 m/s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827099"/>
                  </a:ext>
                </a:extLst>
              </a:tr>
              <a:tr h="68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Camera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Lane detected: center lane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281471"/>
                  </a:ext>
                </a:extLst>
              </a:tr>
              <a:tr h="68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Ultrasonic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Side clearance: 0.8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591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02849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92A7C-B3AD-BB8E-CE54-E2A13C51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84C51-2580-003D-B84B-6D6FB0082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Step 4: Join Image + Data</a:t>
            </a:r>
          </a:p>
          <a:p>
            <a:r>
              <a:rPr lang="en-IN" dirty="0"/>
              <a:t>Place the car image on the road.</a:t>
            </a:r>
          </a:p>
          <a:p>
            <a:r>
              <a:rPr lang="en-IN" dirty="0"/>
              <a:t>Overlay text labels showing sensor readings (e.g., “Obstacle ahead: 12.5 m”).</a:t>
            </a:r>
          </a:p>
          <a:p>
            <a:r>
              <a:rPr lang="en-IN" dirty="0"/>
              <a:t>This mimics how training datasets combine </a:t>
            </a:r>
            <a:r>
              <a:rPr lang="en-IN" b="1" dirty="0"/>
              <a:t>visual input + sensor metadata</a:t>
            </a:r>
            <a:r>
              <a:rPr lang="en-IN" dirty="0"/>
              <a:t>.</a:t>
            </a:r>
          </a:p>
          <a:p>
            <a:r>
              <a:rPr lang="en-IN" b="1" dirty="0"/>
              <a:t>Step 5: Practice Annotation</a:t>
            </a:r>
          </a:p>
          <a:p>
            <a:r>
              <a:rPr lang="en-IN" dirty="0"/>
              <a:t>Use free tools like </a:t>
            </a:r>
            <a:r>
              <a:rPr lang="en-IN" b="1" dirty="0"/>
              <a:t>CVAT</a:t>
            </a:r>
            <a:r>
              <a:rPr lang="en-IN" dirty="0"/>
              <a:t> or </a:t>
            </a:r>
            <a:r>
              <a:rPr lang="en-IN" b="1" dirty="0" err="1"/>
              <a:t>LabelImg</a:t>
            </a:r>
            <a:r>
              <a:rPr lang="en-IN" dirty="0"/>
              <a:t> to annotate the car and road.</a:t>
            </a:r>
          </a:p>
          <a:p>
            <a:r>
              <a:rPr lang="en-IN" dirty="0"/>
              <a:t>Export the annotations in JSON or XML format — this is how real datasets are structured.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7373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4DFC-6967-3A2A-8546-852317EB3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5E51A-A7DA-65CB-D588-EE0214002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place a image of a car on a road</a:t>
            </a:r>
          </a:p>
          <a:p>
            <a:r>
              <a:rPr lang="en-IN" b="1" dirty="0"/>
              <a:t>If you’re working with an image editor (like Photoshop, GIMP, or Paint)</a:t>
            </a:r>
          </a:p>
          <a:p>
            <a:r>
              <a:rPr lang="en-IN" dirty="0"/>
              <a:t>Open the image with the car on the road.</a:t>
            </a:r>
          </a:p>
          <a:p>
            <a:r>
              <a:rPr lang="en-IN" dirty="0"/>
              <a:t>Select the </a:t>
            </a:r>
            <a:r>
              <a:rPr lang="en-IN" b="1" dirty="0"/>
              <a:t>rectangle tool</a:t>
            </a:r>
            <a:r>
              <a:rPr lang="en-IN" dirty="0"/>
              <a:t> (or shape tool).</a:t>
            </a:r>
          </a:p>
          <a:p>
            <a:r>
              <a:rPr lang="en-IN" dirty="0"/>
              <a:t>Draw a box around the car — make sure it tightly fits the outline.</a:t>
            </a:r>
          </a:p>
          <a:p>
            <a:r>
              <a:rPr lang="en-IN" dirty="0"/>
              <a:t>Change the box </a:t>
            </a:r>
            <a:r>
              <a:rPr lang="en-IN" dirty="0" err="1"/>
              <a:t>color</a:t>
            </a:r>
            <a:r>
              <a:rPr lang="en-IN" dirty="0"/>
              <a:t> (e.g., red or green) so it stands out.</a:t>
            </a:r>
          </a:p>
          <a:p>
            <a:r>
              <a:rPr lang="en-IN" dirty="0"/>
              <a:t>Save the image — this is your first bounding box annotation.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00529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C32D6-CE35-7851-4CB5-CE6AA8E49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E4E00-B6C0-8FB5-FA37-3CA182948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If you’re using an annotation tool (like CVAT, </a:t>
            </a:r>
            <a:r>
              <a:rPr lang="en-IN" b="1" dirty="0" err="1"/>
              <a:t>LabelImg</a:t>
            </a:r>
            <a:r>
              <a:rPr lang="en-IN" b="1" dirty="0"/>
              <a:t>, or </a:t>
            </a:r>
            <a:r>
              <a:rPr lang="en-IN" b="1" dirty="0" err="1"/>
              <a:t>Supervisely</a:t>
            </a:r>
            <a:r>
              <a:rPr lang="en-IN" b="1" dirty="0"/>
              <a:t>)</a:t>
            </a:r>
          </a:p>
          <a:p>
            <a:r>
              <a:rPr lang="en-IN" dirty="0"/>
              <a:t>Upload your car-on-road image into the tool.</a:t>
            </a:r>
          </a:p>
          <a:p>
            <a:r>
              <a:rPr lang="en-IN" dirty="0"/>
              <a:t>Select </a:t>
            </a:r>
            <a:r>
              <a:rPr lang="en-IN" b="1" dirty="0"/>
              <a:t>“Create Bounding Box”</a:t>
            </a:r>
            <a:r>
              <a:rPr lang="en-IN" dirty="0"/>
              <a:t> from the toolbar.</a:t>
            </a:r>
          </a:p>
          <a:p>
            <a:r>
              <a:rPr lang="en-IN" dirty="0"/>
              <a:t>Click and drag around the car to form the box.</a:t>
            </a:r>
          </a:p>
          <a:p>
            <a:r>
              <a:rPr lang="en-IN" dirty="0"/>
              <a:t>Assign a label (e.g., “Car”).</a:t>
            </a:r>
          </a:p>
          <a:p>
            <a:r>
              <a:rPr lang="en-IN" dirty="0"/>
              <a:t>Export the annotation (usually in XML, JSON, or COCO format).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5984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EDAF0-E07F-82D7-111F-91481C54F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65BC6-5C7B-612B-B53C-14172CA07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 This Represents</a:t>
            </a:r>
          </a:p>
          <a:p>
            <a:r>
              <a:rPr lang="en-IN" dirty="0"/>
              <a:t>The box tells the AI: </a:t>
            </a:r>
            <a:r>
              <a:rPr lang="en-IN" i="1" dirty="0"/>
              <a:t>“This region of the image contains a car.”</a:t>
            </a:r>
            <a:endParaRPr lang="en-IN" dirty="0"/>
          </a:p>
          <a:p>
            <a:r>
              <a:rPr lang="en-IN" dirty="0"/>
              <a:t>Later, you’ll add more boxes for other objects (pedestrians, signs, lanes).</a:t>
            </a:r>
          </a:p>
          <a:p>
            <a:r>
              <a:rPr lang="en-IN" dirty="0"/>
              <a:t>This is how datasets are built for autonomous driving — each object is marked so the AI learns to recognize it.</a:t>
            </a:r>
          </a:p>
          <a:p>
            <a:r>
              <a:rPr lang="en-IN" dirty="0"/>
              <a:t>For your </a:t>
            </a:r>
            <a:r>
              <a:rPr lang="en-IN" b="1" dirty="0"/>
              <a:t>first exercise</a:t>
            </a:r>
            <a:r>
              <a:rPr lang="en-IN" dirty="0"/>
              <a:t>, I recommend starting with </a:t>
            </a:r>
            <a:r>
              <a:rPr lang="en-IN" b="1" dirty="0" err="1"/>
              <a:t>LabelImg</a:t>
            </a:r>
            <a:r>
              <a:rPr lang="en-IN" dirty="0"/>
              <a:t> (a free, beginner-friendly tool). </a:t>
            </a:r>
            <a:r>
              <a:rPr lang="en-IN"/>
              <a:t>It lets you draw boxes easily and saves them in a format used by machine learning models.</a:t>
            </a:r>
          </a:p>
        </p:txBody>
      </p:sp>
    </p:spTree>
    <p:extLst>
      <p:ext uri="{BB962C8B-B14F-4D97-AF65-F5344CB8AC3E}">
        <p14:creationId xmlns:p14="http://schemas.microsoft.com/office/powerpoint/2010/main" val="576990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1625</TotalTime>
  <Words>2768</Words>
  <Application>Microsoft Office PowerPoint</Application>
  <PresentationFormat>Widescreen</PresentationFormat>
  <Paragraphs>253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Office Theme</vt:lpstr>
      <vt:lpstr>6 ANNOTATIONS TYPES</vt:lpstr>
      <vt:lpstr>6 Types of Annotation</vt:lpstr>
      <vt:lpstr>Data and Annotation Tools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driving automobile cars annotation ideas - Search</vt:lpstr>
      <vt:lpstr>driving automobile cars annotation ideas - Search</vt:lpstr>
      <vt:lpstr>what drives the annotations for safe manouvering of autonomous vehicles? </vt:lpstr>
      <vt:lpstr>PowerPoint Presentation</vt:lpstr>
      <vt:lpstr>PowerPoint Presentation</vt:lpstr>
      <vt:lpstr>Are the machine learning systems for autonomous cars created for all types and makes of cars , larger vehicles and other types? </vt:lpstr>
      <vt:lpstr>Machine Learning System Models</vt:lpstr>
      <vt:lpstr>machine learning models </vt:lpstr>
      <vt:lpstr>Illustrate this with a comparison table showing how autonomous AI adapts differently for cars, trucks, and buses? </vt:lpstr>
      <vt:lpstr>Same AI “brain”: </vt:lpstr>
      <vt:lpstr>what work packages for offloading annotating work are there for freelancers to submit offers?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step-by-step guide to pitching your freelance services for autonomous vehicle annotation projects</vt:lpstr>
      <vt:lpstr>PowerPoint Presentation</vt:lpstr>
      <vt:lpstr>PowerPoint Presentation</vt:lpstr>
      <vt:lpstr>   Subject: Proposal for Autonomous Vehicle Annotation Project  </vt:lpstr>
      <vt:lpstr>PowerPoint Presentation</vt:lpstr>
      <vt:lpstr>“photo + sensor data integration” exercise </vt:lpstr>
      <vt:lpstr>PowerPoint Presentation</vt:lpstr>
      <vt:lpstr>PowerPoint Presentation</vt:lpstr>
      <vt:lpstr>PRACTICE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 Pro</dc:creator>
  <cp:lastModifiedBy>Bon Pro</cp:lastModifiedBy>
  <cp:revision>9</cp:revision>
  <dcterms:created xsi:type="dcterms:W3CDTF">2026-07-06T00:36:28Z</dcterms:created>
  <dcterms:modified xsi:type="dcterms:W3CDTF">2026-08-07T02:12:49Z</dcterms:modified>
</cp:coreProperties>
</file>