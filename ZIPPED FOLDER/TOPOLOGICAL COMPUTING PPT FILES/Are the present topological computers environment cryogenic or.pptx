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9673-AD7A-48E4-D903-D51DA3B2F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016E6-7274-F062-4920-9F0914021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AE822-949E-6067-9CB3-FDED52E7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6184-A475-5D95-9B1D-22BBB4D0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6088B-4432-D5FF-31B1-4113E9C8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82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9B71-577C-A5EA-1963-8CE93B6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2FFD-6F0B-C812-8216-58D578BC5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1A974-CB02-9A4B-437A-11362BD8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5A141-8EA2-0F80-A237-FDCAF50B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661E-5179-E043-D7F1-31C3CE53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85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BB21-8891-517F-5C4E-5606709D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4272C-0968-AB6C-A165-D63F1606C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36EBE-348A-8E67-ABD0-9BC08AEE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9490-54DD-3F6E-BA4A-44387FB9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70AD-9539-EF67-AD40-27E7ECDC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771C-AE17-6DCF-53DC-AD09C07B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4958-038E-AD7B-008F-A82D8D81C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A7C46-651D-91D2-0D6D-7F2B70B38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5905-7411-9683-5A8B-BB9F85E6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2626B-6158-2AE9-903A-BF8BBEFA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4C4E0-3FFA-1144-9929-3012BCA3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3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1A06-0B82-2630-E346-7612E334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712EF-26B8-1CBD-4CB2-6440A0125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1D76B-4D5E-D07E-7AE6-18ED9B174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0CA11-A3E0-C128-9FAA-159E0B570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EB9A5-6601-78B4-6453-F8418AFB7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804AA-2B02-230F-21C0-B9EFB11F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5FC3B-42FB-E170-F675-A2E91B1AE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5C7B2E-5B0A-5ED2-DFB2-135A46BF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0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C3D7-2763-1620-C9A8-7F7D6686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A76E7-0B2D-4DD9-FA1D-C4CF4490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5627F-87D6-118D-2522-C1A48705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C916B-8522-07F4-7C4C-FAD17BBF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16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99C95-8AA2-8441-6712-35E832F8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CAF9B-5336-5854-7E6A-14F7781D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8B8EF-D009-7616-C209-AE91BD5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85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8337-F8AC-6951-A83A-B31BBC8F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AEBA7-0BB6-C420-6A5C-CDC5CE623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11EFC-9FC6-C301-16A6-2DED402B2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5DEFF-4E01-8020-6A77-F5C56344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D6778-558B-29F1-BF99-F6741B6E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BBBE7-DC7D-A1DA-B917-311458A1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69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A4FC-3D52-284B-2A36-B80FED4D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D59D3-D8EC-8AEA-F824-59B4195E5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F06AD-359A-87D6-E5AC-5340F22EE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6169F-02C2-3E44-A5EE-31808BEA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2CC4-4A35-6943-B750-79921DEC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B50BC-90E6-B0E3-DC61-226D3863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0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3257-5A99-7ACD-1C2B-CB84E849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FEFB3-CD64-8812-80DB-00B860EC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96867-A630-8A09-2F8E-544FC26A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6047-6DE0-5124-EA36-04C248A5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87110-E1BD-8E44-F968-F89ED2D2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4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1BD30-358C-EB3A-AE1A-D7702CF14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8C1A2-67A8-EAA7-90A1-856FC9311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4915-018F-1768-6C71-CE5E5E05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884D3-9D80-9BDC-5B73-CBFFBA13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91D27-5DF4-1D63-2BBA-F739DA8A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68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F9D89-9489-7E8B-7B58-33F7CB2E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4B12C-33D3-4ECE-A0E0-517C1E0C1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407A1-F800-216F-BF7E-745631C64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F5D35-D912-482E-9AF3-CD4D1586753D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61F13-0CB5-7533-F683-0CABCA0DE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0AE32-1C1F-4271-452C-E39A37527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37EB9-EF50-4E3A-9BE7-890B6D1CC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1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4331-720D-570F-0484-AFAAE76DAF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 present topological computers environment cryogenic or room temperature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66FDE-590C-827B-46D0-E2844FAAF5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b="1" dirty="0"/>
              <a:t>Topological quantum computers are still experimental</a:t>
            </a:r>
            <a:r>
              <a:rPr lang="en-US" sz="4000" dirty="0"/>
              <a:t>, and the environments they use are </a:t>
            </a:r>
            <a:r>
              <a:rPr lang="en-US" sz="4000" b="1" dirty="0"/>
              <a:t>cryogenic</a:t>
            </a:r>
            <a:r>
              <a:rPr lang="en-US" sz="4000" dirty="0"/>
              <a:t>, not room temperature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72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10E8-0A2C-B99D-47FE-4FE588E5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Cryogenics Are Needed Today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C8CC7-3DEB-4DCA-5C38-72F1786D8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Fragile states:</a:t>
            </a:r>
            <a:r>
              <a:rPr lang="en-US" dirty="0">
                <a:effectLst/>
              </a:rPr>
              <a:t> The exotic quasiparticles (like Majorana fermions) that topological quantum computing relies on only appear under very controlled, ultra‑cold conditions.</a:t>
            </a:r>
            <a:endParaRPr lang="en-US" dirty="0"/>
          </a:p>
          <a:p>
            <a:r>
              <a:rPr lang="en-US" b="1" dirty="0">
                <a:effectLst/>
              </a:rPr>
              <a:t>Noise sensitivity:</a:t>
            </a:r>
            <a:r>
              <a:rPr lang="en-US" dirty="0">
                <a:effectLst/>
              </a:rPr>
              <a:t> Even though topological qubits are designed to be more error‑resistant, the materials and devices used to host them still need cryogenic cooling to suppress unwanted thermal noise.</a:t>
            </a:r>
            <a:endParaRPr lang="en-US" dirty="0"/>
          </a:p>
          <a:p>
            <a:r>
              <a:rPr lang="en-US" b="1" dirty="0">
                <a:effectLst/>
              </a:rPr>
              <a:t>Current labs:</a:t>
            </a:r>
            <a:r>
              <a:rPr lang="en-US" dirty="0">
                <a:effectLst/>
              </a:rPr>
              <a:t> Microsoft, Delft University, and other research groups working on topological qubits all use dilution refrigerators that cool circuits to millikelvin temperatures (a fraction of a degree above absolute zero).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88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0A1C-12B8-F353-F32F-361FABE7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Room‑Temperature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DAF37-8CBF-BFD8-F16D-69F7538C5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Research direction:</a:t>
            </a:r>
            <a:r>
              <a:rPr lang="en-US" dirty="0">
                <a:effectLst/>
              </a:rPr>
              <a:t> Scientists are searching for materials (like cobalt, certain topological insulators, and 2D materials like graphene) that can host stable topological states at room temperature.</a:t>
            </a:r>
            <a:endParaRPr lang="en-US" dirty="0"/>
          </a:p>
          <a:p>
            <a:r>
              <a:rPr lang="en-US" b="1" dirty="0">
                <a:effectLst/>
              </a:rPr>
              <a:t>Breakthroughs:</a:t>
            </a:r>
            <a:r>
              <a:rPr lang="en-US" dirty="0">
                <a:effectLst/>
              </a:rPr>
              <a:t> Discoveries of nodal‑line states in cobalt at room temperature are promising, but they haven’t yet been engineered into a working quantum computer.</a:t>
            </a:r>
            <a:endParaRPr lang="en-US" dirty="0"/>
          </a:p>
          <a:p>
            <a:r>
              <a:rPr lang="en-US" b="1" dirty="0">
                <a:effectLst/>
              </a:rPr>
              <a:t>Future vision:</a:t>
            </a:r>
            <a:r>
              <a:rPr lang="en-US" dirty="0">
                <a:effectLst/>
              </a:rPr>
              <a:t> If successful, topological computers could operate like classical chips — no cryogenics, far cheaper, and more practical.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30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45CE-7FCD-B8AF-93F9-96D8DAED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Present Reality (Cryogenic prototypes today)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E116E-93BE-A272-1AE1-480F1DC44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Cryogenic cooling:</a:t>
            </a:r>
            <a:r>
              <a:rPr lang="en-US" dirty="0">
                <a:effectLst/>
              </a:rPr>
              <a:t> Dilution refrigerators bring circuits down to millikelvin temperatures (near absolute zero).</a:t>
            </a:r>
            <a:endParaRPr lang="en-US" dirty="0"/>
          </a:p>
          <a:p>
            <a:r>
              <a:rPr lang="en-US" b="1" dirty="0">
                <a:effectLst/>
              </a:rPr>
              <a:t>Reason:</a:t>
            </a:r>
            <a:r>
              <a:rPr lang="en-US" dirty="0">
                <a:effectLst/>
              </a:rPr>
              <a:t> Even though topological qubits are designed to be more error‑resistant, the materials used to host them are still too fragile at room temperature. </a:t>
            </a:r>
            <a:r>
              <a:rPr lang="en-US" dirty="0"/>
              <a:t>Transitional materials research (cobalt, insulators)</a:t>
            </a:r>
          </a:p>
          <a:p>
            <a:r>
              <a:rPr lang="en-US" b="1" dirty="0">
                <a:effectLst/>
              </a:rPr>
              <a:t>Research labs:</a:t>
            </a:r>
            <a:r>
              <a:rPr lang="en-US" dirty="0">
                <a:effectLst/>
              </a:rPr>
              <a:t> Microsoft, Delft University, and other groups working on topological qubits all use cryogenic setups today.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98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8F80-C038-3202-1119-0FCA107F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C88A-062A-33E6-6631-D2DB8A02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Now (2020s):</a:t>
            </a:r>
            <a:r>
              <a:rPr lang="en-US" dirty="0">
                <a:effectLst/>
              </a:rPr>
              <a:t> Cryogenic prototypes only.</a:t>
            </a:r>
            <a:endParaRPr lang="en-US" dirty="0"/>
          </a:p>
          <a:p>
            <a:r>
              <a:rPr lang="en-US" b="1" dirty="0">
                <a:effectLst/>
              </a:rPr>
              <a:t>Near future (2030s):</a:t>
            </a:r>
            <a:r>
              <a:rPr lang="en-US" dirty="0">
                <a:effectLst/>
              </a:rPr>
              <a:t> Transitional devices using exotic materials, still partly cryogenic.</a:t>
            </a:r>
            <a:endParaRPr lang="en-US" dirty="0"/>
          </a:p>
          <a:p>
            <a:r>
              <a:rPr lang="en-US" b="1" dirty="0">
                <a:effectLst/>
              </a:rPr>
              <a:t>Long term (10–20 years):</a:t>
            </a:r>
            <a:r>
              <a:rPr lang="en-US" dirty="0">
                <a:effectLst/>
              </a:rPr>
              <a:t> Room‑temperature topological computers, if </a:t>
            </a:r>
            <a:r>
              <a:rPr lang="en-IN" dirty="0"/>
              <a:t>breakthroughs in materials succeed.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702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345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Are the present topological computers environment cryogenic or room temperature</vt:lpstr>
      <vt:lpstr>Why Cryogenics Are Needed Today</vt:lpstr>
      <vt:lpstr>The Room‑Temperature Goal</vt:lpstr>
      <vt:lpstr>Present Reality (Cryogenic prototypes today)</vt:lpstr>
      <vt:lpstr>Timeline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3</cp:revision>
  <dcterms:created xsi:type="dcterms:W3CDTF">2026-05-23T01:46:31Z</dcterms:created>
  <dcterms:modified xsi:type="dcterms:W3CDTF">2026-05-23T02:14:42Z</dcterms:modified>
</cp:coreProperties>
</file>