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72" r:id="rId7"/>
    <p:sldId id="273" r:id="rId8"/>
    <p:sldId id="274" r:id="rId9"/>
    <p:sldId id="275" r:id="rId10"/>
    <p:sldId id="257" r:id="rId11"/>
    <p:sldId id="258" r:id="rId12"/>
    <p:sldId id="259" r:id="rId13"/>
    <p:sldId id="260" r:id="rId14"/>
    <p:sldId id="261" r:id="rId15"/>
    <p:sldId id="262" r:id="rId16"/>
    <p:sldId id="263" r:id="rId17"/>
    <p:sldId id="264" r:id="rId18"/>
    <p:sldId id="265" r:id="rId19"/>
    <p:sldId id="266" r:id="rId20"/>
    <p:sldId id="267"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45" d="100"/>
          <a:sy n="45" d="100"/>
        </p:scale>
        <p:origin x="42"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D544-AB85-AE57-9F73-0BF6873B1D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4E73F3-AE8E-3762-2DA3-402B99E0CA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85BB1F-E0B7-7EB1-3079-B473AE388E75}"/>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5" name="Footer Placeholder 4">
            <a:extLst>
              <a:ext uri="{FF2B5EF4-FFF2-40B4-BE49-F238E27FC236}">
                <a16:creationId xmlns:a16="http://schemas.microsoft.com/office/drawing/2014/main" id="{ACDD51AD-6B70-59F7-0488-7DE949026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E8918-2BEA-B321-2EA4-F3B42963A0B6}"/>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312499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1162-0342-3869-3327-AF06005053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5A494A-5DA1-6B10-F233-E338BC676D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63E74-0406-2F74-9AC0-801AF6B3D099}"/>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5" name="Footer Placeholder 4">
            <a:extLst>
              <a:ext uri="{FF2B5EF4-FFF2-40B4-BE49-F238E27FC236}">
                <a16:creationId xmlns:a16="http://schemas.microsoft.com/office/drawing/2014/main" id="{E744FFAC-2B5B-430B-26C7-977B6865D8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A06755-CB67-32C8-8747-B1BE112C8FCB}"/>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3452179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02DBB-7226-C599-8893-567343342A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93E7B7-24C4-5FF2-9B11-2E275020FE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2FD08-F9A2-9245-A5BD-2E90133FD54A}"/>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5" name="Footer Placeholder 4">
            <a:extLst>
              <a:ext uri="{FF2B5EF4-FFF2-40B4-BE49-F238E27FC236}">
                <a16:creationId xmlns:a16="http://schemas.microsoft.com/office/drawing/2014/main" id="{DB946DEC-94FB-7D5E-02CA-6A4610909B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82F832-117B-C81E-801B-ACDB404C41FE}"/>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1721478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D4A59-E540-99CC-DA7B-64C66F2BA2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4D0D49-C5F9-B647-BB9A-4466B5CD33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CFBC2D-120D-970D-612B-86AA312A02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4B7C32-02E2-A313-B851-D57C2DDD3994}"/>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6" name="Footer Placeholder 5">
            <a:extLst>
              <a:ext uri="{FF2B5EF4-FFF2-40B4-BE49-F238E27FC236}">
                <a16:creationId xmlns:a16="http://schemas.microsoft.com/office/drawing/2014/main" id="{6484679A-8003-5114-9C74-BA3ECA30B9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D34853-2927-5ECD-85DA-B0F1C26876B4}"/>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266934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DA302-B13E-78BD-3D61-0788186525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5EB08D-73B1-580A-7FB5-391F00DA33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C3D85D-6FCC-6EFC-2F30-AA1BF8681A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8AAA96-C7F2-8E12-6D28-B21AE42D3A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1D2590-C107-6587-690D-7B4657B9A9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4A99E4-9094-9291-2054-1A103AF5183A}"/>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8" name="Footer Placeholder 7">
            <a:extLst>
              <a:ext uri="{FF2B5EF4-FFF2-40B4-BE49-F238E27FC236}">
                <a16:creationId xmlns:a16="http://schemas.microsoft.com/office/drawing/2014/main" id="{1136A793-F4B1-173F-6E8C-5DA5E33452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6042D9-F0CD-79F2-86F3-432572F13B43}"/>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409335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85FD-1D94-6581-05E7-451E9905BB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C44C30-ED5D-030C-EF09-E03E0C35FCC7}"/>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4" name="Footer Placeholder 3">
            <a:extLst>
              <a:ext uri="{FF2B5EF4-FFF2-40B4-BE49-F238E27FC236}">
                <a16:creationId xmlns:a16="http://schemas.microsoft.com/office/drawing/2014/main" id="{0EE1B9E4-25CA-C921-8D9A-FA37F088E1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EC0085-6588-8E1E-9A07-25030A0E0197}"/>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1221407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00E970-9E4A-598B-FD17-C304F7CBC114}"/>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3" name="Footer Placeholder 2">
            <a:extLst>
              <a:ext uri="{FF2B5EF4-FFF2-40B4-BE49-F238E27FC236}">
                <a16:creationId xmlns:a16="http://schemas.microsoft.com/office/drawing/2014/main" id="{9B207B67-49C6-C0BD-0C0A-F233FC3753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E6EB40F-024B-89AC-A753-CD9306AC7D88}"/>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1048415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B725-C3F6-42EA-9A12-735262C55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FA8657-A0CF-E0A2-2430-30FAA763C5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5C2FB77-6F33-9E8A-735B-DA05B5D83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C56650-AC72-89BE-426F-834C9570E59F}"/>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6" name="Footer Placeholder 5">
            <a:extLst>
              <a:ext uri="{FF2B5EF4-FFF2-40B4-BE49-F238E27FC236}">
                <a16:creationId xmlns:a16="http://schemas.microsoft.com/office/drawing/2014/main" id="{58CA77BE-1270-2735-9F66-FBBA20ECCE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B90F9B-9D8C-A9CF-2F11-1AD9B46ED014}"/>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406244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CE0A0-F445-A698-8587-6C43FC0BA0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E4E925-0EE9-3E46-7C33-9A6AEF862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D2503B-9E02-867A-4BB0-94511C7955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538F6A-CE2B-2CDD-BDC5-3B29D75A3B27}"/>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6" name="Footer Placeholder 5">
            <a:extLst>
              <a:ext uri="{FF2B5EF4-FFF2-40B4-BE49-F238E27FC236}">
                <a16:creationId xmlns:a16="http://schemas.microsoft.com/office/drawing/2014/main" id="{69E73B6F-BD5A-2C7D-23C7-B0DB5D3D8A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E0D76F-DC00-2503-35B1-60DACB844775}"/>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2087987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35758-7AEC-ECE5-76F4-E3A55F7633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CA0934-40D1-FDBE-6772-C6420CFF93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7140AE-DDFF-1DA7-AA98-8BAABEE20AB5}"/>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5" name="Footer Placeholder 4">
            <a:extLst>
              <a:ext uri="{FF2B5EF4-FFF2-40B4-BE49-F238E27FC236}">
                <a16:creationId xmlns:a16="http://schemas.microsoft.com/office/drawing/2014/main" id="{8B03CD4C-A52E-3D0B-C4A6-5C477D4D8E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E5AB03-F561-2158-9EB1-FEB34B0B1BCB}"/>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323391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3E1B56-E407-B14D-EDC9-FA4237A6E1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D63CFF-519C-5C69-67A2-509D080E5F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58D0DA-F89D-4CAD-DEC2-2BE9AE0788CF}"/>
              </a:ext>
            </a:extLst>
          </p:cNvPr>
          <p:cNvSpPr>
            <a:spLocks noGrp="1"/>
          </p:cNvSpPr>
          <p:nvPr>
            <p:ph type="dt" sz="half" idx="10"/>
          </p:nvPr>
        </p:nvSpPr>
        <p:spPr/>
        <p:txBody>
          <a:bodyPr/>
          <a:lstStyle/>
          <a:p>
            <a:fld id="{F5BCD337-D539-4B69-96F7-8F3BA9EAF998}" type="datetimeFigureOut">
              <a:rPr lang="en-IN" smtClean="0"/>
              <a:t>19-07-2026</a:t>
            </a:fld>
            <a:endParaRPr lang="en-IN"/>
          </a:p>
        </p:txBody>
      </p:sp>
      <p:sp>
        <p:nvSpPr>
          <p:cNvPr id="5" name="Footer Placeholder 4">
            <a:extLst>
              <a:ext uri="{FF2B5EF4-FFF2-40B4-BE49-F238E27FC236}">
                <a16:creationId xmlns:a16="http://schemas.microsoft.com/office/drawing/2014/main" id="{996FB8EE-D38D-AA2C-C4B7-55A441B3B5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1ACAAC-2C6F-0752-1177-F94FEBED3F83}"/>
              </a:ext>
            </a:extLst>
          </p:cNvPr>
          <p:cNvSpPr>
            <a:spLocks noGrp="1"/>
          </p:cNvSpPr>
          <p:nvPr>
            <p:ph type="sldNum" sz="quarter" idx="12"/>
          </p:nvPr>
        </p:nvSpPr>
        <p:spPr/>
        <p:txBody>
          <a:bodyPr/>
          <a:lstStyle/>
          <a:p>
            <a:fld id="{1681F56A-9E74-470B-8D6A-6AF26E5D0B29}" type="slidenum">
              <a:rPr lang="en-IN" smtClean="0"/>
              <a:t>‹#›</a:t>
            </a:fld>
            <a:endParaRPr lang="en-IN"/>
          </a:p>
        </p:txBody>
      </p:sp>
    </p:spTree>
    <p:extLst>
      <p:ext uri="{BB962C8B-B14F-4D97-AF65-F5344CB8AC3E}">
        <p14:creationId xmlns:p14="http://schemas.microsoft.com/office/powerpoint/2010/main" val="3927221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23F19C-D5D6-332B-F32F-BF7FD6EBBA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886E96-5E33-4EFB-EF8A-0DAA50FA8A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D490A4-2AC1-5F73-B604-9731562EF8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BCD337-D539-4B69-96F7-8F3BA9EAF998}" type="datetimeFigureOut">
              <a:rPr lang="en-IN" smtClean="0"/>
              <a:t>19-07-2026</a:t>
            </a:fld>
            <a:endParaRPr lang="en-IN"/>
          </a:p>
        </p:txBody>
      </p:sp>
      <p:sp>
        <p:nvSpPr>
          <p:cNvPr id="5" name="Footer Placeholder 4">
            <a:extLst>
              <a:ext uri="{FF2B5EF4-FFF2-40B4-BE49-F238E27FC236}">
                <a16:creationId xmlns:a16="http://schemas.microsoft.com/office/drawing/2014/main" id="{5D1BCF70-C932-8015-13AE-BA6F727D08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9C34C5-42C4-4B07-C2BF-B1CB4B6362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81F56A-9E74-470B-8D6A-6AF26E5D0B29}" type="slidenum">
              <a:rPr lang="en-IN" smtClean="0"/>
              <a:t>‹#›</a:t>
            </a:fld>
            <a:endParaRPr lang="en-IN"/>
          </a:p>
        </p:txBody>
      </p:sp>
    </p:spTree>
    <p:extLst>
      <p:ext uri="{BB962C8B-B14F-4D97-AF65-F5344CB8AC3E}">
        <p14:creationId xmlns:p14="http://schemas.microsoft.com/office/powerpoint/2010/main" val="1798747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9E15D-A48C-4A52-6335-E78FE295566F}"/>
              </a:ext>
            </a:extLst>
          </p:cNvPr>
          <p:cNvSpPr>
            <a:spLocks noGrp="1"/>
          </p:cNvSpPr>
          <p:nvPr>
            <p:ph type="ctrTitle"/>
          </p:nvPr>
        </p:nvSpPr>
        <p:spPr/>
        <p:txBody>
          <a:bodyPr/>
          <a:lstStyle/>
          <a:p>
            <a:r>
              <a:rPr lang="en-US" dirty="0"/>
              <a:t>AUTONOMOUS CARS SOFTWARE</a:t>
            </a:r>
            <a:endParaRPr lang="en-IN" dirty="0"/>
          </a:p>
        </p:txBody>
      </p:sp>
      <p:sp>
        <p:nvSpPr>
          <p:cNvPr id="3" name="Subtitle 2">
            <a:extLst>
              <a:ext uri="{FF2B5EF4-FFF2-40B4-BE49-F238E27FC236}">
                <a16:creationId xmlns:a16="http://schemas.microsoft.com/office/drawing/2014/main" id="{EADCA615-86C7-BD80-34AD-A25B422A7E5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3816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16476-7B7F-FDF1-19FC-EB002BA7875E}"/>
              </a:ext>
            </a:extLst>
          </p:cNvPr>
          <p:cNvSpPr>
            <a:spLocks noGrp="1"/>
          </p:cNvSpPr>
          <p:nvPr>
            <p:ph type="title"/>
          </p:nvPr>
        </p:nvSpPr>
        <p:spPr/>
        <p:txBody>
          <a:bodyPr/>
          <a:lstStyle/>
          <a:p>
            <a:r>
              <a:rPr lang="en-IN" b="1" dirty="0"/>
              <a:t>Role of VPUs in Autonomous Vehicles</a:t>
            </a:r>
          </a:p>
        </p:txBody>
      </p:sp>
      <p:sp>
        <p:nvSpPr>
          <p:cNvPr id="3" name="Content Placeholder 2">
            <a:extLst>
              <a:ext uri="{FF2B5EF4-FFF2-40B4-BE49-F238E27FC236}">
                <a16:creationId xmlns:a16="http://schemas.microsoft.com/office/drawing/2014/main" id="{6A6F9BE0-C3B2-CEC1-852B-E4C05D6241A8}"/>
              </a:ext>
            </a:extLst>
          </p:cNvPr>
          <p:cNvSpPr>
            <a:spLocks noGrp="1"/>
          </p:cNvSpPr>
          <p:nvPr>
            <p:ph idx="1"/>
          </p:nvPr>
        </p:nvSpPr>
        <p:spPr/>
        <p:txBody>
          <a:bodyPr/>
          <a:lstStyle/>
          <a:p>
            <a:r>
              <a:rPr lang="en-IN" b="1" dirty="0">
                <a:effectLst/>
              </a:rPr>
              <a:t>VPUs (Vision Processing Units)</a:t>
            </a:r>
            <a:r>
              <a:rPr lang="en-IN" dirty="0">
                <a:effectLst/>
              </a:rPr>
              <a:t> are indeed used in </a:t>
            </a:r>
            <a:r>
              <a:rPr lang="en-IN" b="1" dirty="0">
                <a:effectLst/>
              </a:rPr>
              <a:t>autonomous car systems software</a:t>
            </a:r>
            <a:r>
              <a:rPr lang="en-IN" dirty="0">
                <a:effectLst/>
              </a:rPr>
              <a:t>. They play a critical role in the perception stack of self‑driving technology. Here’s how:</a:t>
            </a:r>
            <a:endParaRPr lang="en-IN" dirty="0"/>
          </a:p>
          <a:p>
            <a:r>
              <a:rPr lang="en-IN" b="1" dirty="0">
                <a:effectLst/>
              </a:rPr>
              <a:t>Computer Vision Tasks:</a:t>
            </a:r>
            <a:r>
              <a:rPr lang="en-IN" dirty="0">
                <a:effectLst/>
              </a:rPr>
              <a:t> VPUs are optimized for image and video processing. In cars, they handle real‑time tasks like:</a:t>
            </a:r>
            <a:endParaRPr lang="en-IN" dirty="0"/>
          </a:p>
          <a:p>
            <a:r>
              <a:rPr lang="en-IN" dirty="0">
                <a:effectLst/>
              </a:rPr>
              <a:t>Lane detection</a:t>
            </a:r>
            <a:endParaRPr lang="en-IN" dirty="0"/>
          </a:p>
          <a:p>
            <a:r>
              <a:rPr lang="en-IN" dirty="0">
                <a:effectLst/>
              </a:rPr>
              <a:t>Traffic sign recognition</a:t>
            </a:r>
            <a:endParaRPr lang="en-IN" dirty="0"/>
          </a:p>
          <a:p>
            <a:r>
              <a:rPr lang="en-IN" dirty="0">
                <a:effectLst/>
              </a:rPr>
              <a:t>Pedestrian and cyclist detection</a:t>
            </a:r>
            <a:endParaRPr lang="en-IN" dirty="0"/>
          </a:p>
          <a:p>
            <a:r>
              <a:rPr lang="en-IN" dirty="0">
                <a:effectLst/>
              </a:rPr>
              <a:t>Object classification (cars, trucks, obstacles)</a:t>
            </a:r>
            <a:endParaRPr lang="en-IN" dirty="0"/>
          </a:p>
          <a:p>
            <a:endParaRPr lang="en-IN" dirty="0"/>
          </a:p>
        </p:txBody>
      </p:sp>
    </p:spTree>
    <p:extLst>
      <p:ext uri="{BB962C8B-B14F-4D97-AF65-F5344CB8AC3E}">
        <p14:creationId xmlns:p14="http://schemas.microsoft.com/office/powerpoint/2010/main" val="220746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9A67-51C2-9AFC-346D-C90580D6D6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24573E-1A4C-FBB0-75D0-5CF0BE6C36CD}"/>
              </a:ext>
            </a:extLst>
          </p:cNvPr>
          <p:cNvSpPr>
            <a:spLocks noGrp="1"/>
          </p:cNvSpPr>
          <p:nvPr>
            <p:ph idx="1"/>
          </p:nvPr>
        </p:nvSpPr>
        <p:spPr/>
        <p:txBody>
          <a:bodyPr/>
          <a:lstStyle/>
          <a:p>
            <a:r>
              <a:rPr lang="en-IN" b="1" dirty="0">
                <a:effectLst/>
              </a:rPr>
              <a:t>Efficiency:</a:t>
            </a:r>
            <a:r>
              <a:rPr lang="en-IN" dirty="0">
                <a:effectLst/>
              </a:rPr>
              <a:t> VPUs consume less power than GPUs while still delivering high throughput for vision workloads. This is important in cars where energy efficiency matters.</a:t>
            </a:r>
            <a:endParaRPr lang="en-IN" dirty="0"/>
          </a:p>
          <a:p>
            <a:r>
              <a:rPr lang="en-IN" b="1" dirty="0">
                <a:effectLst/>
              </a:rPr>
              <a:t>Integration:</a:t>
            </a:r>
            <a:r>
              <a:rPr lang="en-IN" dirty="0">
                <a:effectLst/>
              </a:rPr>
              <a:t> VPUs are often paired with CPUs and GPUs in </a:t>
            </a:r>
            <a:r>
              <a:rPr lang="en-IN" b="1" dirty="0">
                <a:effectLst/>
              </a:rPr>
              <a:t>heterogeneous computing systems</a:t>
            </a:r>
            <a:r>
              <a:rPr lang="en-IN" dirty="0">
                <a:effectLst/>
              </a:rPr>
              <a:t> inside autonomous vehicles.</a:t>
            </a:r>
            <a:endParaRPr lang="en-IN" dirty="0"/>
          </a:p>
          <a:p>
            <a:pPr lvl="1"/>
            <a:r>
              <a:rPr lang="en-IN" b="1" dirty="0">
                <a:effectLst/>
              </a:rPr>
              <a:t>CPU:</a:t>
            </a:r>
            <a:r>
              <a:rPr lang="en-IN" dirty="0">
                <a:effectLst/>
              </a:rPr>
              <a:t> General control logic, decision making.</a:t>
            </a:r>
            <a:endParaRPr lang="en-IN" dirty="0"/>
          </a:p>
          <a:p>
            <a:pPr lvl="1"/>
            <a:r>
              <a:rPr lang="en-IN" b="1" dirty="0">
                <a:effectLst/>
              </a:rPr>
              <a:t>GPU:</a:t>
            </a:r>
            <a:r>
              <a:rPr lang="en-IN" dirty="0">
                <a:effectLst/>
              </a:rPr>
              <a:t> Heavy parallel math (AI models, sensor fusion).</a:t>
            </a:r>
            <a:endParaRPr lang="en-IN" dirty="0"/>
          </a:p>
          <a:p>
            <a:pPr lvl="1"/>
            <a:r>
              <a:rPr lang="en-IN" b="1" dirty="0">
                <a:effectLst/>
              </a:rPr>
              <a:t>VPU:</a:t>
            </a:r>
            <a:r>
              <a:rPr lang="en-IN" dirty="0">
                <a:effectLst/>
              </a:rPr>
              <a:t> Specialized vision inference, especially for camera feeds.</a:t>
            </a:r>
            <a:endParaRPr lang="en-IN" dirty="0"/>
          </a:p>
          <a:p>
            <a:endParaRPr lang="en-IN" dirty="0"/>
          </a:p>
        </p:txBody>
      </p:sp>
    </p:spTree>
    <p:extLst>
      <p:ext uri="{BB962C8B-B14F-4D97-AF65-F5344CB8AC3E}">
        <p14:creationId xmlns:p14="http://schemas.microsoft.com/office/powerpoint/2010/main" val="2008332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B10F-30FD-F0E1-27DC-F5C20A1740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B19565-0E25-DFD3-5012-6F9E0CC4220B}"/>
              </a:ext>
            </a:extLst>
          </p:cNvPr>
          <p:cNvSpPr>
            <a:spLocks noGrp="1"/>
          </p:cNvSpPr>
          <p:nvPr>
            <p:ph idx="1"/>
          </p:nvPr>
        </p:nvSpPr>
        <p:spPr/>
        <p:txBody>
          <a:bodyPr>
            <a:normAutofit fontScale="92500" lnSpcReduction="20000"/>
          </a:bodyPr>
          <a:lstStyle/>
          <a:p>
            <a:r>
              <a:rPr lang="en-IN" b="1" dirty="0"/>
              <a:t>Examples in Automotive Use</a:t>
            </a:r>
          </a:p>
          <a:p>
            <a:r>
              <a:rPr lang="en-IN" b="1" dirty="0">
                <a:effectLst/>
              </a:rPr>
              <a:t>Intel </a:t>
            </a:r>
            <a:r>
              <a:rPr lang="en-IN" b="1" dirty="0" err="1">
                <a:effectLst/>
              </a:rPr>
              <a:t>Movidius</a:t>
            </a:r>
            <a:r>
              <a:rPr lang="en-IN" b="1" dirty="0">
                <a:effectLst/>
              </a:rPr>
              <a:t> Myriad VPU</a:t>
            </a:r>
            <a:r>
              <a:rPr lang="en-IN" dirty="0">
                <a:effectLst/>
              </a:rPr>
              <a:t> has been used in drones and automotive vision systems.</a:t>
            </a:r>
            <a:endParaRPr lang="en-IN" dirty="0"/>
          </a:p>
          <a:p>
            <a:r>
              <a:rPr lang="en-IN" b="1" dirty="0">
                <a:effectLst/>
              </a:rPr>
              <a:t>Mobileye (owned by Intel)</a:t>
            </a:r>
            <a:r>
              <a:rPr lang="en-IN" dirty="0">
                <a:effectLst/>
              </a:rPr>
              <a:t> integrates vision processors for advanced driver‑assistance systems (ADAS) and autonomous driving.</a:t>
            </a:r>
            <a:endParaRPr lang="en-IN" dirty="0"/>
          </a:p>
          <a:p>
            <a:r>
              <a:rPr lang="en-IN" dirty="0">
                <a:effectLst/>
              </a:rPr>
              <a:t>VPUs help process multiple camera streams simultaneously — critical for 360° awareness in cars.</a:t>
            </a:r>
            <a:endParaRPr lang="en-IN" dirty="0"/>
          </a:p>
          <a:p>
            <a:r>
              <a:rPr lang="en-IN" b="1" dirty="0"/>
              <a:t>⚖️ Why Not Just GPU?</a:t>
            </a:r>
          </a:p>
          <a:p>
            <a:r>
              <a:rPr lang="en-IN" dirty="0">
                <a:effectLst/>
              </a:rPr>
              <a:t>GPUs are powerful but power‑hungry.</a:t>
            </a:r>
            <a:endParaRPr lang="en-IN" dirty="0"/>
          </a:p>
          <a:p>
            <a:r>
              <a:rPr lang="en-IN" dirty="0">
                <a:effectLst/>
              </a:rPr>
              <a:t>VPUs are </a:t>
            </a:r>
            <a:r>
              <a:rPr lang="en-IN" b="1" dirty="0">
                <a:effectLst/>
              </a:rPr>
              <a:t>lighter, more efficient, and specialized</a:t>
            </a:r>
            <a:r>
              <a:rPr lang="en-IN" dirty="0">
                <a:effectLst/>
              </a:rPr>
              <a:t> for vision, making them ideal for embedded automotive systems where thermal and energy constraints exist.</a:t>
            </a:r>
            <a:endParaRPr lang="en-IN" dirty="0"/>
          </a:p>
          <a:p>
            <a:endParaRPr lang="en-IN" dirty="0"/>
          </a:p>
        </p:txBody>
      </p:sp>
    </p:spTree>
    <p:extLst>
      <p:ext uri="{BB962C8B-B14F-4D97-AF65-F5344CB8AC3E}">
        <p14:creationId xmlns:p14="http://schemas.microsoft.com/office/powerpoint/2010/main" val="410211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49894-6783-FB81-6AB4-53DD6B7C2881}"/>
              </a:ext>
            </a:extLst>
          </p:cNvPr>
          <p:cNvSpPr>
            <a:spLocks noGrp="1"/>
          </p:cNvSpPr>
          <p:nvPr>
            <p:ph type="title"/>
          </p:nvPr>
        </p:nvSpPr>
        <p:spPr/>
        <p:txBody>
          <a:bodyPr>
            <a:normAutofit fontScale="90000"/>
          </a:bodyPr>
          <a:lstStyle/>
          <a:p>
            <a:r>
              <a:rPr lang="en-IN" b="1" dirty="0"/>
              <a:t>please show you how matrix operations (linear algebra) are the mathematical backbone of what VPUs do</a:t>
            </a:r>
            <a:endParaRPr lang="en-IN" dirty="0"/>
          </a:p>
        </p:txBody>
      </p:sp>
      <p:sp>
        <p:nvSpPr>
          <p:cNvPr id="3" name="Content Placeholder 2">
            <a:extLst>
              <a:ext uri="{FF2B5EF4-FFF2-40B4-BE49-F238E27FC236}">
                <a16:creationId xmlns:a16="http://schemas.microsoft.com/office/drawing/2014/main" id="{9DC47E23-6B04-D902-E294-1E5548E8B692}"/>
              </a:ext>
            </a:extLst>
          </p:cNvPr>
          <p:cNvSpPr>
            <a:spLocks noGrp="1"/>
          </p:cNvSpPr>
          <p:nvPr>
            <p:ph idx="1"/>
          </p:nvPr>
        </p:nvSpPr>
        <p:spPr/>
        <p:txBody>
          <a:bodyPr/>
          <a:lstStyle/>
          <a:p>
            <a:r>
              <a:rPr lang="en-IN" dirty="0"/>
              <a:t>So yes, VPUs are a </a:t>
            </a:r>
            <a:r>
              <a:rPr lang="en-IN" b="1" dirty="0"/>
              <a:t>key part of autonomous car software</a:t>
            </a:r>
            <a:r>
              <a:rPr lang="en-IN" dirty="0"/>
              <a:t>, working alongside CPUs and GPUs to deliver safe, real‑time perception.</a:t>
            </a:r>
          </a:p>
          <a:p>
            <a:r>
              <a:rPr lang="en-IN" dirty="0">
                <a:effectLst/>
              </a:rPr>
              <a:t>Since you’re watching linear algebra videos right now, I can show you how </a:t>
            </a:r>
            <a:r>
              <a:rPr lang="en-IN" b="1" dirty="0">
                <a:effectLst/>
              </a:rPr>
              <a:t>matrix operations (linear algebra)</a:t>
            </a:r>
            <a:r>
              <a:rPr lang="en-IN" dirty="0">
                <a:effectLst/>
              </a:rPr>
              <a:t> are the mathematical backbone of what VPUs do — for example, in convolutional neural networks used for image recognition. Would you like me to connect those dots so you see how the math you’re studying powers self‑driving cars?</a:t>
            </a:r>
            <a:endParaRPr lang="en-IN" dirty="0"/>
          </a:p>
          <a:p>
            <a:endParaRPr lang="en-IN" dirty="0"/>
          </a:p>
        </p:txBody>
      </p:sp>
    </p:spTree>
    <p:extLst>
      <p:ext uri="{BB962C8B-B14F-4D97-AF65-F5344CB8AC3E}">
        <p14:creationId xmlns:p14="http://schemas.microsoft.com/office/powerpoint/2010/main" val="70495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21FD-EF82-7F66-E52E-E5EAF60119DE}"/>
              </a:ext>
            </a:extLst>
          </p:cNvPr>
          <p:cNvSpPr>
            <a:spLocks noGrp="1"/>
          </p:cNvSpPr>
          <p:nvPr>
            <p:ph type="title"/>
          </p:nvPr>
        </p:nvSpPr>
        <p:spPr/>
        <p:txBody>
          <a:bodyPr>
            <a:normAutofit fontScale="90000"/>
          </a:bodyPr>
          <a:lstStyle/>
          <a:p>
            <a:r>
              <a:rPr lang="en-IN" sz="3600" b="1" dirty="0"/>
              <a:t>please show you how matrix operations (linear algebra) are the mathematical backbone of what VPUs do</a:t>
            </a:r>
            <a:br>
              <a:rPr lang="en-IN" dirty="0"/>
            </a:br>
            <a:endParaRPr lang="en-IN" dirty="0"/>
          </a:p>
        </p:txBody>
      </p:sp>
      <p:sp>
        <p:nvSpPr>
          <p:cNvPr id="3" name="Content Placeholder 2">
            <a:extLst>
              <a:ext uri="{FF2B5EF4-FFF2-40B4-BE49-F238E27FC236}">
                <a16:creationId xmlns:a16="http://schemas.microsoft.com/office/drawing/2014/main" id="{C3ACC7E3-4F21-436C-0612-6A1CE82433CA}"/>
              </a:ext>
            </a:extLst>
          </p:cNvPr>
          <p:cNvSpPr>
            <a:spLocks noGrp="1"/>
          </p:cNvSpPr>
          <p:nvPr>
            <p:ph idx="1"/>
          </p:nvPr>
        </p:nvSpPr>
        <p:spPr/>
        <p:txBody>
          <a:bodyPr>
            <a:normAutofit fontScale="92500" lnSpcReduction="20000"/>
          </a:bodyPr>
          <a:lstStyle/>
          <a:p>
            <a:r>
              <a:rPr lang="en-IN" b="1" dirty="0"/>
              <a:t>1. Images as Matrices</a:t>
            </a:r>
          </a:p>
          <a:p>
            <a:r>
              <a:rPr lang="en-IN" dirty="0">
                <a:effectLst/>
              </a:rPr>
              <a:t>A digital image is essentially a </a:t>
            </a:r>
            <a:r>
              <a:rPr lang="en-IN" b="1" dirty="0">
                <a:effectLst/>
              </a:rPr>
              <a:t>matrix of pixel values</a:t>
            </a:r>
            <a:r>
              <a:rPr lang="en-IN" dirty="0">
                <a:effectLst/>
              </a:rPr>
              <a:t>.</a:t>
            </a:r>
            <a:endParaRPr lang="en-IN" dirty="0"/>
          </a:p>
          <a:p>
            <a:pPr lvl="1"/>
            <a:r>
              <a:rPr lang="en-IN" dirty="0">
                <a:effectLst/>
              </a:rPr>
              <a:t>Example: A grayscale image = matrix of intensity values.</a:t>
            </a:r>
            <a:endParaRPr lang="en-IN" dirty="0"/>
          </a:p>
          <a:p>
            <a:pPr lvl="1"/>
            <a:r>
              <a:rPr lang="en-IN" dirty="0">
                <a:effectLst/>
              </a:rPr>
              <a:t>A </a:t>
            </a:r>
            <a:r>
              <a:rPr lang="en-IN" dirty="0" err="1">
                <a:effectLst/>
              </a:rPr>
              <a:t>color</a:t>
            </a:r>
            <a:r>
              <a:rPr lang="en-IN" dirty="0">
                <a:effectLst/>
              </a:rPr>
              <a:t> image = three matrices (R, G, B channels).</a:t>
            </a:r>
            <a:endParaRPr lang="en-IN" dirty="0"/>
          </a:p>
          <a:p>
            <a:r>
              <a:rPr lang="en-IN" dirty="0">
                <a:effectLst/>
              </a:rPr>
              <a:t>VPUs process these matrices in real time from car cameras.</a:t>
            </a:r>
            <a:endParaRPr lang="en-IN" dirty="0"/>
          </a:p>
          <a:p>
            <a:r>
              <a:rPr lang="en-IN" b="1" dirty="0"/>
              <a:t>🔄 2. Convolution (Matrix Multiplication)</a:t>
            </a:r>
          </a:p>
          <a:p>
            <a:r>
              <a:rPr lang="en-IN" dirty="0">
                <a:effectLst/>
              </a:rPr>
              <a:t>Core of computer vision = </a:t>
            </a:r>
            <a:r>
              <a:rPr lang="en-IN" b="1" dirty="0">
                <a:effectLst/>
              </a:rPr>
              <a:t>convolutional neural networks (CNNs)</a:t>
            </a:r>
            <a:r>
              <a:rPr lang="en-IN" dirty="0">
                <a:effectLst/>
              </a:rPr>
              <a:t>.</a:t>
            </a:r>
            <a:endParaRPr lang="en-IN" dirty="0"/>
          </a:p>
          <a:p>
            <a:r>
              <a:rPr lang="en-IN" dirty="0">
                <a:effectLst/>
              </a:rPr>
              <a:t>Convolution = sliding a small matrix (filter/kernel) over the image matrix.</a:t>
            </a:r>
            <a:endParaRPr lang="en-IN" dirty="0"/>
          </a:p>
          <a:p>
            <a:r>
              <a:rPr lang="en-IN" dirty="0">
                <a:effectLst/>
              </a:rPr>
              <a:t>Mathematically: multiply and sum values → detect edges, shapes, patterns.</a:t>
            </a:r>
            <a:endParaRPr lang="en-IN" dirty="0"/>
          </a:p>
          <a:p>
            <a:r>
              <a:rPr lang="en-IN" dirty="0">
                <a:effectLst/>
              </a:rPr>
              <a:t>VPUs accelerate these convolution operations massively.</a:t>
            </a:r>
            <a:endParaRPr lang="en-IN" dirty="0"/>
          </a:p>
          <a:p>
            <a:endParaRPr lang="en-IN" dirty="0"/>
          </a:p>
        </p:txBody>
      </p:sp>
    </p:spTree>
    <p:extLst>
      <p:ext uri="{BB962C8B-B14F-4D97-AF65-F5344CB8AC3E}">
        <p14:creationId xmlns:p14="http://schemas.microsoft.com/office/powerpoint/2010/main" val="1299905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8ACA-09D0-FBAC-F17D-8493863F2665}"/>
              </a:ext>
            </a:extLst>
          </p:cNvPr>
          <p:cNvSpPr>
            <a:spLocks noGrp="1"/>
          </p:cNvSpPr>
          <p:nvPr>
            <p:ph type="title"/>
          </p:nvPr>
        </p:nvSpPr>
        <p:spPr/>
        <p:txBody>
          <a:bodyPr>
            <a:normAutofit fontScale="90000"/>
          </a:bodyPr>
          <a:lstStyle/>
          <a:p>
            <a:r>
              <a:rPr lang="en-IN" b="1" dirty="0"/>
              <a:t>please show you how matrix operations (linear algebra) are the mathematical backbone of what VPUs do</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378C55-1E1B-7865-5C5A-64B6398C6518}"/>
                  </a:ext>
                </a:extLst>
              </p:cNvPr>
              <p:cNvSpPr>
                <a:spLocks noGrp="1"/>
              </p:cNvSpPr>
              <p:nvPr>
                <p:ph idx="1"/>
              </p:nvPr>
            </p:nvSpPr>
            <p:spPr>
              <a:xfrm>
                <a:off x="838200" y="1825625"/>
                <a:ext cx="10515600" cy="4667250"/>
              </a:xfrm>
            </p:spPr>
            <p:txBody>
              <a:bodyPr>
                <a:normAutofit fontScale="70000" lnSpcReduction="20000"/>
              </a:bodyPr>
              <a:lstStyle/>
              <a:p>
                <a:r>
                  <a:rPr lang="en-IN" b="1" dirty="0"/>
                  <a:t>📊 3. Linear Algebra in Neural Networks</a:t>
                </a:r>
              </a:p>
              <a:p>
                <a:r>
                  <a:rPr lang="en-IN" dirty="0">
                    <a:effectLst/>
                  </a:rPr>
                  <a:t>Each layer of a CNN is essentially </a:t>
                </a:r>
                <a:r>
                  <a:rPr lang="en-IN" b="1" dirty="0">
                    <a:effectLst/>
                  </a:rPr>
                  <a:t>matrix multiplication</a:t>
                </a:r>
                <a:r>
                  <a:rPr lang="en-IN" dirty="0">
                    <a:effectLst/>
                  </a:rPr>
                  <a:t>:</a:t>
                </a:r>
                <a:endParaRPr lang="en-IN" dirty="0"/>
              </a:p>
              <a:p>
                <a14:m>
                  <m:oMath xmlns:m="http://schemas.openxmlformats.org/officeDocument/2006/math">
                    <m:r>
                      <a:rPr lang="en-IN" b="1">
                        <a:latin typeface="Cambria Math" panose="02040503050406030204" pitchFamily="18" charset="0"/>
                      </a:rPr>
                      <m:t>𝐲</m:t>
                    </m:r>
                    <m:r>
                      <a:rPr lang="en-IN">
                        <a:latin typeface="Cambria Math" panose="02040503050406030204" pitchFamily="18" charset="0"/>
                      </a:rPr>
                      <m:t>=</m:t>
                    </m:r>
                    <m:r>
                      <a:rPr lang="en-IN" b="1">
                        <a:latin typeface="Cambria Math" panose="02040503050406030204" pitchFamily="18" charset="0"/>
                      </a:rPr>
                      <m:t>𝐖</m:t>
                    </m:r>
                    <m:r>
                      <a:rPr lang="en-IN">
                        <a:latin typeface="Cambria Math" panose="02040503050406030204" pitchFamily="18" charset="0"/>
                      </a:rPr>
                      <m:t>⋅</m:t>
                    </m:r>
                    <m:r>
                      <a:rPr lang="en-IN" b="1">
                        <a:latin typeface="Cambria Math" panose="02040503050406030204" pitchFamily="18" charset="0"/>
                      </a:rPr>
                      <m:t>𝐱</m:t>
                    </m:r>
                    <m:r>
                      <a:rPr lang="en-IN">
                        <a:latin typeface="Cambria Math" panose="02040503050406030204" pitchFamily="18" charset="0"/>
                      </a:rPr>
                      <m:t>+</m:t>
                    </m:r>
                    <m:r>
                      <a:rPr lang="en-IN" b="1">
                        <a:latin typeface="Cambria Math" panose="02040503050406030204" pitchFamily="18" charset="0"/>
                      </a:rPr>
                      <m:t>𝐛</m:t>
                    </m:r>
                  </m:oMath>
                </a14:m>
                <a:endParaRPr lang="en-IN" b="1" dirty="0"/>
              </a:p>
              <a:p>
                <a14:m>
                  <m:oMath xmlns:m="http://schemas.openxmlformats.org/officeDocument/2006/math">
                    <m:r>
                      <a:rPr lang="en-IN" b="1">
                        <a:latin typeface="Cambria Math" panose="02040503050406030204" pitchFamily="18" charset="0"/>
                      </a:rPr>
                      <m:t>𝐱</m:t>
                    </m:r>
                  </m:oMath>
                </a14:m>
                <a:r>
                  <a:rPr lang="en-IN" dirty="0">
                    <a:effectLst/>
                  </a:rPr>
                  <a:t>= input vector (pixels/features)</a:t>
                </a:r>
                <a:endParaRPr lang="en-IN" dirty="0"/>
              </a:p>
              <a:p>
                <a14:m>
                  <m:oMath xmlns:m="http://schemas.openxmlformats.org/officeDocument/2006/math">
                    <m:r>
                      <a:rPr lang="en-IN" b="1">
                        <a:latin typeface="Cambria Math" panose="02040503050406030204" pitchFamily="18" charset="0"/>
                      </a:rPr>
                      <m:t>𝐖</m:t>
                    </m:r>
                  </m:oMath>
                </a14:m>
                <a:r>
                  <a:rPr lang="en-IN" dirty="0">
                    <a:effectLst/>
                  </a:rPr>
                  <a:t>= weight matrix (learned filters)</a:t>
                </a:r>
                <a:endParaRPr lang="en-IN" dirty="0"/>
              </a:p>
              <a:p>
                <a14:m>
                  <m:oMath xmlns:m="http://schemas.openxmlformats.org/officeDocument/2006/math">
                    <m:r>
                      <a:rPr lang="en-IN" b="1">
                        <a:latin typeface="Cambria Math" panose="02040503050406030204" pitchFamily="18" charset="0"/>
                      </a:rPr>
                      <m:t>𝐲</m:t>
                    </m:r>
                  </m:oMath>
                </a14:m>
                <a:r>
                  <a:rPr lang="en-IN" dirty="0">
                    <a:effectLst/>
                  </a:rPr>
                  <a:t>= output (feature map, classification)</a:t>
                </a:r>
                <a:endParaRPr lang="en-IN" dirty="0"/>
              </a:p>
              <a:p>
                <a:r>
                  <a:rPr lang="en-IN" dirty="0">
                    <a:effectLst/>
                  </a:rPr>
                  <a:t>VPUs are optimized to run these multiplications quickly and efficiently.</a:t>
                </a:r>
                <a:endParaRPr lang="en-IN" dirty="0"/>
              </a:p>
              <a:p>
                <a:r>
                  <a:rPr lang="en-IN" b="1" dirty="0"/>
                  <a:t>🚘 4. Application in Autonomous Cars</a:t>
                </a:r>
              </a:p>
              <a:p>
                <a:r>
                  <a:rPr lang="en-IN" b="1" dirty="0">
                    <a:effectLst/>
                  </a:rPr>
                  <a:t>Lane detection:</a:t>
                </a:r>
                <a:r>
                  <a:rPr lang="en-IN" dirty="0">
                    <a:effectLst/>
                  </a:rPr>
                  <a:t> Convolution filters highlight lane markings.</a:t>
                </a:r>
                <a:endParaRPr lang="en-IN" dirty="0"/>
              </a:p>
              <a:p>
                <a:r>
                  <a:rPr lang="en-IN" b="1" dirty="0">
                    <a:effectLst/>
                  </a:rPr>
                  <a:t>Pedestrian recognition:</a:t>
                </a:r>
                <a:r>
                  <a:rPr lang="en-IN" dirty="0">
                    <a:effectLst/>
                  </a:rPr>
                  <a:t> CNN layers classify human shapes in matrices.</a:t>
                </a:r>
                <a:endParaRPr lang="en-IN" dirty="0"/>
              </a:p>
              <a:p>
                <a:r>
                  <a:rPr lang="en-IN" b="1" dirty="0">
                    <a:effectLst/>
                  </a:rPr>
                  <a:t>Traffic sign recognition:</a:t>
                </a:r>
                <a:r>
                  <a:rPr lang="en-IN" dirty="0">
                    <a:effectLst/>
                  </a:rPr>
                  <a:t> Matrix multiplications extract features and match them to known patterns.</a:t>
                </a:r>
                <a:endParaRPr lang="en-IN" dirty="0"/>
              </a:p>
              <a:p>
                <a:r>
                  <a:rPr lang="en-IN" b="1" dirty="0">
                    <a:effectLst/>
                  </a:rPr>
                  <a:t>Sensor fusion:</a:t>
                </a:r>
                <a:r>
                  <a:rPr lang="en-IN" dirty="0">
                    <a:effectLst/>
                  </a:rPr>
                  <a:t> Multiple camera matrices are combined with LiDAR/radar data using linear algebra.</a:t>
                </a:r>
                <a:endParaRPr lang="en-IN" dirty="0"/>
              </a:p>
              <a:p>
                <a:endParaRPr lang="en-IN" dirty="0"/>
              </a:p>
            </p:txBody>
          </p:sp>
        </mc:Choice>
        <mc:Fallback xmlns="">
          <p:sp>
            <p:nvSpPr>
              <p:cNvPr id="3" name="Content Placeholder 2">
                <a:extLst>
                  <a:ext uri="{FF2B5EF4-FFF2-40B4-BE49-F238E27FC236}">
                    <a16:creationId xmlns:a16="http://schemas.microsoft.com/office/drawing/2014/main" id="{89378C55-1E1B-7865-5C5A-64B6398C651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480"/>
                </a:stretch>
              </a:blipFill>
            </p:spPr>
            <p:txBody>
              <a:bodyPr/>
              <a:lstStyle/>
              <a:p>
                <a:r>
                  <a:rPr lang="en-IN">
                    <a:noFill/>
                  </a:rPr>
                  <a:t> </a:t>
                </a:r>
              </a:p>
            </p:txBody>
          </p:sp>
        </mc:Fallback>
      </mc:AlternateContent>
    </p:spTree>
    <p:extLst>
      <p:ext uri="{BB962C8B-B14F-4D97-AF65-F5344CB8AC3E}">
        <p14:creationId xmlns:p14="http://schemas.microsoft.com/office/powerpoint/2010/main" val="3211634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89DD3-85E0-5D40-E711-E450DDADAB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A98996-1A50-436E-8C92-CBCFDE6BECA8}"/>
              </a:ext>
            </a:extLst>
          </p:cNvPr>
          <p:cNvSpPr>
            <a:spLocks noGrp="1"/>
          </p:cNvSpPr>
          <p:nvPr>
            <p:ph idx="1"/>
          </p:nvPr>
        </p:nvSpPr>
        <p:spPr/>
        <p:txBody>
          <a:bodyPr/>
          <a:lstStyle/>
          <a:p>
            <a:r>
              <a:rPr lang="en-IN" b="1" dirty="0"/>
              <a:t>Why VPUs?</a:t>
            </a:r>
          </a:p>
          <a:p>
            <a:r>
              <a:rPr lang="en-IN" dirty="0">
                <a:effectLst/>
              </a:rPr>
              <a:t>GPUs can do this too, but VPUs are </a:t>
            </a:r>
            <a:r>
              <a:rPr lang="en-IN" b="1" dirty="0">
                <a:effectLst/>
              </a:rPr>
              <a:t>specialized</a:t>
            </a:r>
            <a:r>
              <a:rPr lang="en-IN" dirty="0">
                <a:effectLst/>
              </a:rPr>
              <a:t>:</a:t>
            </a:r>
            <a:endParaRPr lang="en-IN" dirty="0"/>
          </a:p>
          <a:p>
            <a:pPr lvl="1"/>
            <a:r>
              <a:rPr lang="en-IN" dirty="0">
                <a:effectLst/>
              </a:rPr>
              <a:t>Lower power consumption.</a:t>
            </a:r>
            <a:endParaRPr lang="en-IN" dirty="0"/>
          </a:p>
          <a:p>
            <a:pPr lvl="1"/>
            <a:r>
              <a:rPr lang="en-IN" dirty="0">
                <a:effectLst/>
              </a:rPr>
              <a:t>Optimized for vision workloads (matrix ops on images).</a:t>
            </a:r>
            <a:endParaRPr lang="en-IN" dirty="0"/>
          </a:p>
          <a:p>
            <a:pPr lvl="1"/>
            <a:r>
              <a:rPr lang="en-IN" dirty="0">
                <a:effectLst/>
              </a:rPr>
              <a:t>Ideal for embedded automotive systems.</a:t>
            </a:r>
            <a:endParaRPr lang="en-IN" dirty="0"/>
          </a:p>
          <a:p>
            <a:r>
              <a:rPr lang="en-IN" dirty="0">
                <a:effectLst/>
              </a:rPr>
              <a:t>So, every time a self‑driving car’s camera “sees” something, the VPU is crunching </a:t>
            </a:r>
            <a:r>
              <a:rPr lang="en-IN" b="1" dirty="0">
                <a:effectLst/>
              </a:rPr>
              <a:t>matrix multiplications and convolutions</a:t>
            </a:r>
            <a:r>
              <a:rPr lang="en-IN" dirty="0">
                <a:effectLst/>
              </a:rPr>
              <a:t> to turn raw pixels into meaningful perception — all powered by the linear algebra you’re studying.</a:t>
            </a:r>
            <a:endParaRPr lang="en-IN" dirty="0"/>
          </a:p>
          <a:p>
            <a:endParaRPr lang="en-IN" dirty="0"/>
          </a:p>
        </p:txBody>
      </p:sp>
    </p:spTree>
    <p:extLst>
      <p:ext uri="{BB962C8B-B14F-4D97-AF65-F5344CB8AC3E}">
        <p14:creationId xmlns:p14="http://schemas.microsoft.com/office/powerpoint/2010/main" val="281536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EF3D-2AA0-2842-0932-7FBC1B65F7F6}"/>
              </a:ext>
            </a:extLst>
          </p:cNvPr>
          <p:cNvSpPr>
            <a:spLocks noGrp="1"/>
          </p:cNvSpPr>
          <p:nvPr>
            <p:ph type="title"/>
          </p:nvPr>
        </p:nvSpPr>
        <p:spPr/>
        <p:txBody>
          <a:bodyPr>
            <a:noAutofit/>
          </a:bodyPr>
          <a:lstStyle/>
          <a:p>
            <a:r>
              <a:rPr lang="en-IN" sz="2800" b="1" dirty="0"/>
              <a:t>since you’re watching the Essence of Linear Algebra series on YouTube, would you like me to map one of those vector/matrix concepts (like dot product or transformation) directly to a vision task in autonomous cars, so you see the math in action?</a:t>
            </a:r>
          </a:p>
        </p:txBody>
      </p:sp>
      <p:sp>
        <p:nvSpPr>
          <p:cNvPr id="3" name="Content Placeholder 2">
            <a:extLst>
              <a:ext uri="{FF2B5EF4-FFF2-40B4-BE49-F238E27FC236}">
                <a16:creationId xmlns:a16="http://schemas.microsoft.com/office/drawing/2014/main" id="{4BB16CDA-0332-9836-57AC-AF9965C9FF94}"/>
              </a:ext>
            </a:extLst>
          </p:cNvPr>
          <p:cNvSpPr>
            <a:spLocks noGrp="1"/>
          </p:cNvSpPr>
          <p:nvPr>
            <p:ph idx="1"/>
          </p:nvPr>
        </p:nvSpPr>
        <p:spPr/>
        <p:txBody>
          <a:bodyPr/>
          <a:lstStyle/>
          <a:p>
            <a:r>
              <a:rPr lang="en-IN" dirty="0"/>
              <a:t>please map one of those vector/matrix concepts (like dot product or transformation) directly to a vision task in autonomous cars,</a:t>
            </a:r>
          </a:p>
          <a:p>
            <a:r>
              <a:rPr lang="en-IN" dirty="0"/>
              <a:t>let’s map a </a:t>
            </a:r>
            <a:r>
              <a:rPr lang="en-IN" b="1" dirty="0"/>
              <a:t>linear algebra concept</a:t>
            </a:r>
            <a:r>
              <a:rPr lang="en-IN" dirty="0"/>
              <a:t> directly to a vision task in autonomous cars so you see the math in action:</a:t>
            </a:r>
          </a:p>
        </p:txBody>
      </p:sp>
    </p:spTree>
    <p:extLst>
      <p:ext uri="{BB962C8B-B14F-4D97-AF65-F5344CB8AC3E}">
        <p14:creationId xmlns:p14="http://schemas.microsoft.com/office/powerpoint/2010/main" val="567187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929E5-AB7E-19FD-A0CC-BCF610AF917D}"/>
              </a:ext>
            </a:extLst>
          </p:cNvPr>
          <p:cNvSpPr>
            <a:spLocks noGrp="1"/>
          </p:cNvSpPr>
          <p:nvPr>
            <p:ph type="title"/>
          </p:nvPr>
        </p:nvSpPr>
        <p:spPr/>
        <p:txBody>
          <a:bodyPr>
            <a:normAutofit/>
          </a:bodyPr>
          <a:lstStyle/>
          <a:p>
            <a:r>
              <a:rPr lang="en-IN" sz="3600" b="1" dirty="0"/>
              <a:t>let’s map a linear algebra concept directly to a vision task in autonomous cars so you see the math in action</a:t>
            </a:r>
            <a:r>
              <a:rPr lang="en-IN" dirty="0"/>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A99368-67BF-CBBC-E2E4-7D708C0FF0DA}"/>
                  </a:ext>
                </a:extLst>
              </p:cNvPr>
              <p:cNvSpPr>
                <a:spLocks noGrp="1"/>
              </p:cNvSpPr>
              <p:nvPr>
                <p:ph idx="1"/>
              </p:nvPr>
            </p:nvSpPr>
            <p:spPr/>
            <p:txBody>
              <a:bodyPr>
                <a:normAutofit fontScale="92500" lnSpcReduction="20000"/>
              </a:bodyPr>
              <a:lstStyle/>
              <a:p>
                <a:r>
                  <a:rPr lang="en-IN" b="1" dirty="0"/>
                  <a:t>Dot Product → Detecting Lane Markings</a:t>
                </a:r>
              </a:p>
              <a:p>
                <a:r>
                  <a:rPr lang="en-IN" b="1" dirty="0">
                    <a:effectLst/>
                  </a:rPr>
                  <a:t>Concept:</a:t>
                </a:r>
                <a:r>
                  <a:rPr lang="en-IN" dirty="0">
                    <a:effectLst/>
                  </a:rPr>
                  <a:t> The dot product measures how aligned two vectors are.</a:t>
                </a:r>
                <a:endParaRPr lang="en-IN" dirty="0"/>
              </a:p>
              <a:p>
                <a14:m>
                  <m:oMath xmlns:m="http://schemas.openxmlformats.org/officeDocument/2006/math">
                    <m:r>
                      <a:rPr lang="en-IN" b="1">
                        <a:latin typeface="Cambria Math" panose="02040503050406030204" pitchFamily="18" charset="0"/>
                      </a:rPr>
                      <m:t>𝐚</m:t>
                    </m:r>
                    <m:r>
                      <a:rPr lang="en-IN">
                        <a:latin typeface="Cambria Math" panose="02040503050406030204" pitchFamily="18" charset="0"/>
                      </a:rPr>
                      <m:t>⋅</m:t>
                    </m:r>
                    <m:r>
                      <a:rPr lang="en-IN" b="1">
                        <a:latin typeface="Cambria Math" panose="02040503050406030204" pitchFamily="18" charset="0"/>
                      </a:rPr>
                      <m:t>𝐛</m:t>
                    </m:r>
                    <m:r>
                      <a:rPr lang="en-IN">
                        <a:latin typeface="Cambria Math" panose="02040503050406030204" pitchFamily="18" charset="0"/>
                      </a:rPr>
                      <m:t>=∥</m:t>
                    </m:r>
                    <m:r>
                      <a:rPr lang="en-IN" b="1">
                        <a:latin typeface="Cambria Math" panose="02040503050406030204" pitchFamily="18" charset="0"/>
                      </a:rPr>
                      <m:t>𝐚</m:t>
                    </m:r>
                    <m:r>
                      <a:rPr lang="en-IN">
                        <a:latin typeface="Cambria Math" panose="02040503050406030204" pitchFamily="18" charset="0"/>
                      </a:rPr>
                      <m:t>∥∥</m:t>
                    </m:r>
                    <m:r>
                      <a:rPr lang="en-IN" b="1">
                        <a:latin typeface="Cambria Math" panose="02040503050406030204" pitchFamily="18" charset="0"/>
                      </a:rPr>
                      <m:t>𝐛</m:t>
                    </m:r>
                    <m:r>
                      <a:rPr lang="en-IN">
                        <a:latin typeface="Cambria Math" panose="02040503050406030204" pitchFamily="18" charset="0"/>
                      </a:rPr>
                      <m:t>∥</m:t>
                    </m:r>
                    <m:func>
                      <m:funcPr>
                        <m:ctrlPr>
                          <a:rPr lang="en-IN" i="1">
                            <a:latin typeface="Cambria Math" panose="02040503050406030204" pitchFamily="18" charset="0"/>
                          </a:rPr>
                        </m:ctrlPr>
                      </m:funcPr>
                      <m:fName>
                        <m:r>
                          <m:rPr>
                            <m:sty m:val="p"/>
                          </m:rPr>
                          <a:rPr lang="en-IN">
                            <a:latin typeface="Cambria Math" panose="02040503050406030204" pitchFamily="18" charset="0"/>
                          </a:rPr>
                          <m:t>cos</m:t>
                        </m:r>
                      </m:fName>
                      <m:e>
                        <m:r>
                          <a:rPr lang="en-IN" i="1">
                            <a:latin typeface="Cambria Math" panose="02040503050406030204" pitchFamily="18" charset="0"/>
                          </a:rPr>
                          <m:t>𝜃</m:t>
                        </m:r>
                      </m:e>
                    </m:func>
                  </m:oMath>
                </a14:m>
                <a:endParaRPr lang="en-IN" b="0" dirty="0"/>
              </a:p>
              <a:p>
                <a:r>
                  <a:rPr lang="en-IN" b="1" dirty="0">
                    <a:effectLst/>
                  </a:rPr>
                  <a:t>In Vision:</a:t>
                </a:r>
                <a:r>
                  <a:rPr lang="en-IN" dirty="0">
                    <a:effectLst/>
                  </a:rPr>
                  <a:t> Imagine the car’s camera captures lane lines as edges in the image. Each edge can be represented as a vector.</a:t>
                </a:r>
                <a:endParaRPr lang="en-IN" dirty="0"/>
              </a:p>
              <a:p>
                <a:r>
                  <a:rPr lang="en-IN" b="1" dirty="0">
                    <a:effectLst/>
                  </a:rPr>
                  <a:t>Task:</a:t>
                </a:r>
                <a:r>
                  <a:rPr lang="en-IN" dirty="0">
                    <a:effectLst/>
                  </a:rPr>
                  <a:t> To detect lanes, the system compares the edge vectors with a “reference direction” (e.g., forward road direction).</a:t>
                </a:r>
                <a:endParaRPr lang="en-IN" dirty="0"/>
              </a:p>
              <a:p>
                <a:r>
                  <a:rPr lang="en-IN" b="1" dirty="0">
                    <a:effectLst/>
                  </a:rPr>
                  <a:t>Result:</a:t>
                </a:r>
                <a:endParaRPr lang="en-IN" dirty="0"/>
              </a:p>
              <a:p>
                <a:pPr lvl="1"/>
                <a:r>
                  <a:rPr lang="en-IN" dirty="0">
                    <a:effectLst/>
                  </a:rPr>
                  <a:t>If the dot product ≈ 1 → the edge is aligned with the lane direction.</a:t>
                </a:r>
                <a:endParaRPr lang="en-IN" dirty="0"/>
              </a:p>
              <a:p>
                <a:pPr lvl="1"/>
                <a:r>
                  <a:rPr lang="en-IN" dirty="0">
                    <a:effectLst/>
                  </a:rPr>
                  <a:t>If the dot product ≈ 0 → the edge is perpendicular (like a crossing line or obstacle).</a:t>
                </a:r>
                <a:endParaRPr lang="en-IN" dirty="0"/>
              </a:p>
              <a:p>
                <a:r>
                  <a:rPr lang="en-IN" b="1" dirty="0">
                    <a:effectLst/>
                  </a:rPr>
                  <a:t>Why VPUs:</a:t>
                </a:r>
                <a:r>
                  <a:rPr lang="en-IN" dirty="0">
                    <a:effectLst/>
                  </a:rPr>
                  <a:t> They accelerate these dot product calculations across thousands of pixels simultaneously, making lane detection real‑time.</a:t>
                </a:r>
                <a:endParaRPr lang="en-IN" dirty="0"/>
              </a:p>
              <a:p>
                <a:endParaRPr lang="en-IN" dirty="0"/>
              </a:p>
            </p:txBody>
          </p:sp>
        </mc:Choice>
        <mc:Fallback xmlns="">
          <p:sp>
            <p:nvSpPr>
              <p:cNvPr id="3" name="Content Placeholder 2">
                <a:extLst>
                  <a:ext uri="{FF2B5EF4-FFF2-40B4-BE49-F238E27FC236}">
                    <a16:creationId xmlns:a16="http://schemas.microsoft.com/office/drawing/2014/main" id="{B2A99368-67BF-CBBC-E2E4-7D708C0FF0DA}"/>
                  </a:ext>
                </a:extLst>
              </p:cNvPr>
              <p:cNvSpPr>
                <a:spLocks noGrp="1" noRot="1" noChangeAspect="1" noMove="1" noResize="1" noEditPoints="1" noAdjustHandles="1" noChangeArrowheads="1" noChangeShapeType="1" noTextEdit="1"/>
              </p:cNvSpPr>
              <p:nvPr>
                <p:ph idx="1"/>
              </p:nvPr>
            </p:nvSpPr>
            <p:spPr>
              <a:blipFill>
                <a:blip r:embed="rId2"/>
                <a:stretch>
                  <a:fillRect l="-928" t="-3501" b="-2941"/>
                </a:stretch>
              </a:blipFill>
            </p:spPr>
            <p:txBody>
              <a:bodyPr/>
              <a:lstStyle/>
              <a:p>
                <a:r>
                  <a:rPr lang="en-IN">
                    <a:noFill/>
                  </a:rPr>
                  <a:t> </a:t>
                </a:r>
              </a:p>
            </p:txBody>
          </p:sp>
        </mc:Fallback>
      </mc:AlternateContent>
    </p:spTree>
    <p:extLst>
      <p:ext uri="{BB962C8B-B14F-4D97-AF65-F5344CB8AC3E}">
        <p14:creationId xmlns:p14="http://schemas.microsoft.com/office/powerpoint/2010/main" val="1235494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E203-5F9B-5573-647C-127C88B45F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DE67AD-8337-66C5-725D-49C820713CDB}"/>
              </a:ext>
            </a:extLst>
          </p:cNvPr>
          <p:cNvSpPr>
            <a:spLocks noGrp="1"/>
          </p:cNvSpPr>
          <p:nvPr>
            <p:ph idx="1"/>
          </p:nvPr>
        </p:nvSpPr>
        <p:spPr/>
        <p:txBody>
          <a:bodyPr>
            <a:normAutofit fontScale="77500" lnSpcReduction="20000"/>
          </a:bodyPr>
          <a:lstStyle/>
          <a:p>
            <a:r>
              <a:rPr lang="en-IN" b="1" dirty="0"/>
              <a:t>Matrix Transformation → Object Recognition</a:t>
            </a:r>
          </a:p>
          <a:p>
            <a:r>
              <a:rPr lang="en-IN" b="1" dirty="0">
                <a:effectLst/>
              </a:rPr>
              <a:t>Concept:</a:t>
            </a:r>
            <a:r>
              <a:rPr lang="en-IN" dirty="0">
                <a:effectLst/>
              </a:rPr>
              <a:t> A transformation matrix rotates, scales, or translates vectors.</a:t>
            </a:r>
            <a:endParaRPr lang="en-IN" dirty="0"/>
          </a:p>
          <a:p>
            <a:r>
              <a:rPr lang="en-IN" b="1" dirty="0">
                <a:effectLst/>
              </a:rPr>
              <a:t>In Vision:</a:t>
            </a:r>
            <a:r>
              <a:rPr lang="en-IN" dirty="0">
                <a:effectLst/>
              </a:rPr>
              <a:t> When a pedestrian appears at different angles or scales, the system applies transformation matrices to normalize the image.</a:t>
            </a:r>
            <a:endParaRPr lang="en-IN" dirty="0"/>
          </a:p>
          <a:p>
            <a:r>
              <a:rPr lang="en-IN" b="1" dirty="0">
                <a:effectLst/>
              </a:rPr>
              <a:t>Task:</a:t>
            </a:r>
            <a:r>
              <a:rPr lang="en-IN" dirty="0">
                <a:effectLst/>
              </a:rPr>
              <a:t> VPUs use these transformations so the neural network can recognize “pedestrian” regardless of position, size, or orientation.</a:t>
            </a:r>
            <a:endParaRPr lang="en-IN" dirty="0"/>
          </a:p>
          <a:p>
            <a:r>
              <a:rPr lang="en-IN" b="1" dirty="0">
                <a:effectLst/>
              </a:rPr>
              <a:t>Result:</a:t>
            </a:r>
            <a:r>
              <a:rPr lang="en-IN" dirty="0">
                <a:effectLst/>
              </a:rPr>
              <a:t> Robust recognition even if the person is far away, close up, or partially rotated.</a:t>
            </a:r>
            <a:endParaRPr lang="en-IN" dirty="0"/>
          </a:p>
          <a:p>
            <a:r>
              <a:rPr lang="en-IN" b="1" dirty="0"/>
              <a:t>🚘 Why This Matters in Cars</a:t>
            </a:r>
          </a:p>
          <a:p>
            <a:r>
              <a:rPr lang="en-IN" b="1" dirty="0">
                <a:effectLst/>
              </a:rPr>
              <a:t>Dot product:</a:t>
            </a:r>
            <a:r>
              <a:rPr lang="en-IN" dirty="0">
                <a:effectLst/>
              </a:rPr>
              <a:t> Helps align features like lanes, road edges, and vehicle orientation.</a:t>
            </a:r>
            <a:endParaRPr lang="en-IN" dirty="0"/>
          </a:p>
          <a:p>
            <a:r>
              <a:rPr lang="en-IN" b="1" dirty="0">
                <a:effectLst/>
              </a:rPr>
              <a:t>Transformations:</a:t>
            </a:r>
            <a:r>
              <a:rPr lang="en-IN" dirty="0">
                <a:effectLst/>
              </a:rPr>
              <a:t> Normalize objects for consistent recognition.</a:t>
            </a:r>
            <a:endParaRPr lang="en-IN" dirty="0"/>
          </a:p>
          <a:p>
            <a:r>
              <a:rPr lang="en-IN" dirty="0">
                <a:effectLst/>
              </a:rPr>
              <a:t>Together, these linear algebra operations are the </a:t>
            </a:r>
            <a:r>
              <a:rPr lang="en-IN" b="1" dirty="0">
                <a:effectLst/>
              </a:rPr>
              <a:t>mathematical backbone</a:t>
            </a:r>
            <a:r>
              <a:rPr lang="en-IN" dirty="0">
                <a:effectLst/>
              </a:rPr>
              <a:t> of perception in autonomous driving — and VPUs are specialized to crunch them efficiently.</a:t>
            </a:r>
            <a:endParaRPr lang="en-IN" dirty="0"/>
          </a:p>
          <a:p>
            <a:endParaRPr lang="en-IN" dirty="0"/>
          </a:p>
        </p:txBody>
      </p:sp>
    </p:spTree>
    <p:extLst>
      <p:ext uri="{BB962C8B-B14F-4D97-AF65-F5344CB8AC3E}">
        <p14:creationId xmlns:p14="http://schemas.microsoft.com/office/powerpoint/2010/main" val="6076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3273-7A2D-A9E3-2AA2-546DA0B1D0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E35CCC-B625-D8D5-970C-6E0D25697429}"/>
              </a:ext>
            </a:extLst>
          </p:cNvPr>
          <p:cNvSpPr>
            <a:spLocks noGrp="1"/>
          </p:cNvSpPr>
          <p:nvPr>
            <p:ph idx="1"/>
          </p:nvPr>
        </p:nvSpPr>
        <p:spPr/>
        <p:txBody>
          <a:bodyPr/>
          <a:lstStyle/>
          <a:p>
            <a:r>
              <a:rPr lang="en-IN" b="1" dirty="0"/>
              <a:t>Step‑by‑Step Lane Detection Pipeline (with Linear Algebra)</a:t>
            </a:r>
          </a:p>
          <a:p>
            <a:r>
              <a:rPr lang="en-IN" b="1" dirty="0">
                <a:effectLst/>
              </a:rPr>
              <a:t>Image Capture (Camera Input)</a:t>
            </a:r>
            <a:endParaRPr lang="en-IN" dirty="0"/>
          </a:p>
          <a:p>
            <a:pPr lvl="1"/>
            <a:r>
              <a:rPr lang="en-IN" dirty="0">
                <a:effectLst/>
              </a:rPr>
              <a:t>The car’s camera produces an image → represented as a </a:t>
            </a:r>
            <a:r>
              <a:rPr lang="en-IN" b="1" dirty="0">
                <a:effectLst/>
              </a:rPr>
              <a:t>matrix of pixel values</a:t>
            </a:r>
            <a:r>
              <a:rPr lang="en-IN" dirty="0">
                <a:effectLst/>
              </a:rPr>
              <a:t>.</a:t>
            </a:r>
            <a:endParaRPr lang="en-IN" dirty="0"/>
          </a:p>
          <a:p>
            <a:pPr lvl="1"/>
            <a:r>
              <a:rPr lang="en-IN" dirty="0">
                <a:effectLst/>
              </a:rPr>
              <a:t>Each pixel intensity is a number, so the whole image is essentially a big matrix.</a:t>
            </a:r>
            <a:endParaRPr lang="en-IN" dirty="0"/>
          </a:p>
          <a:p>
            <a:r>
              <a:rPr lang="en-IN" b="1" dirty="0">
                <a:effectLst/>
              </a:rPr>
              <a:t>Preprocessing (Filtering &amp; Edge Detection)</a:t>
            </a:r>
            <a:endParaRPr lang="en-IN" dirty="0"/>
          </a:p>
          <a:p>
            <a:pPr lvl="1"/>
            <a:r>
              <a:rPr lang="en-IN" dirty="0">
                <a:effectLst/>
              </a:rPr>
              <a:t>Apply </a:t>
            </a:r>
            <a:r>
              <a:rPr lang="en-IN" b="1" dirty="0">
                <a:effectLst/>
              </a:rPr>
              <a:t>convolution filters</a:t>
            </a:r>
            <a:r>
              <a:rPr lang="en-IN" dirty="0">
                <a:effectLst/>
              </a:rPr>
              <a:t> (small matrices) across the image matrix.</a:t>
            </a:r>
            <a:endParaRPr lang="en-IN" dirty="0"/>
          </a:p>
          <a:p>
            <a:pPr lvl="1"/>
            <a:r>
              <a:rPr lang="en-IN" dirty="0">
                <a:effectLst/>
              </a:rPr>
              <a:t>These filters highlight edges (like lane markings).</a:t>
            </a:r>
            <a:endParaRPr lang="en-IN" dirty="0"/>
          </a:p>
          <a:p>
            <a:pPr lvl="1"/>
            <a:r>
              <a:rPr lang="en-IN" dirty="0">
                <a:effectLst/>
              </a:rPr>
              <a:t>Mathematically: multiply and sum overlapping matrix regions.</a:t>
            </a:r>
            <a:endParaRPr lang="en-IN" dirty="0"/>
          </a:p>
          <a:p>
            <a:endParaRPr lang="en-IN" dirty="0"/>
          </a:p>
        </p:txBody>
      </p:sp>
    </p:spTree>
    <p:extLst>
      <p:ext uri="{BB962C8B-B14F-4D97-AF65-F5344CB8AC3E}">
        <p14:creationId xmlns:p14="http://schemas.microsoft.com/office/powerpoint/2010/main" val="926539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B0F1D-FA75-430F-E49D-B7A7EAC081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D64D51-94FA-8466-10F9-DB2D95458A24}"/>
              </a:ext>
            </a:extLst>
          </p:cNvPr>
          <p:cNvSpPr>
            <a:spLocks noGrp="1"/>
          </p:cNvSpPr>
          <p:nvPr>
            <p:ph idx="1"/>
          </p:nvPr>
        </p:nvSpPr>
        <p:spPr/>
        <p:txBody>
          <a:bodyPr>
            <a:normAutofit fontScale="85000" lnSpcReduction="20000"/>
          </a:bodyPr>
          <a:lstStyle/>
          <a:p>
            <a:r>
              <a:rPr lang="en-IN" b="1" dirty="0">
                <a:effectLst/>
              </a:rPr>
              <a:t>3. Feature Extraction (Dot Products)</a:t>
            </a:r>
            <a:endParaRPr lang="en-IN" dirty="0"/>
          </a:p>
          <a:p>
            <a:r>
              <a:rPr lang="en-IN" dirty="0">
                <a:effectLst/>
              </a:rPr>
              <a:t>Each detected edge can be represented as a </a:t>
            </a:r>
            <a:r>
              <a:rPr lang="en-IN" b="1" dirty="0">
                <a:effectLst/>
              </a:rPr>
              <a:t>vector</a:t>
            </a:r>
            <a:r>
              <a:rPr lang="en-IN" dirty="0">
                <a:effectLst/>
              </a:rPr>
              <a:t>.</a:t>
            </a:r>
            <a:endParaRPr lang="en-IN" dirty="0"/>
          </a:p>
          <a:p>
            <a:r>
              <a:rPr lang="en-IN" dirty="0">
                <a:effectLst/>
              </a:rPr>
              <a:t>Compute the </a:t>
            </a:r>
            <a:r>
              <a:rPr lang="en-IN" b="1" dirty="0">
                <a:effectLst/>
              </a:rPr>
              <a:t>dot product</a:t>
            </a:r>
            <a:r>
              <a:rPr lang="en-IN" dirty="0">
                <a:effectLst/>
              </a:rPr>
              <a:t> between the edge vector and a reference direction (e.g., forward road axis).</a:t>
            </a:r>
            <a:endParaRPr lang="en-IN" dirty="0"/>
          </a:p>
          <a:p>
            <a:r>
              <a:rPr lang="en-IN" dirty="0">
                <a:effectLst/>
              </a:rPr>
              <a:t>If the dot product ≈ 1 → edge aligns with lane direction.</a:t>
            </a:r>
            <a:endParaRPr lang="en-IN" dirty="0"/>
          </a:p>
          <a:p>
            <a:r>
              <a:rPr lang="en-IN" dirty="0">
                <a:effectLst/>
              </a:rPr>
              <a:t>If ≈ 0 → edge is perpendicular (crosswalk, obstacle).</a:t>
            </a:r>
            <a:endParaRPr lang="en-IN" dirty="0"/>
          </a:p>
          <a:p>
            <a:r>
              <a:rPr lang="en-IN" b="1" dirty="0">
                <a:effectLst/>
              </a:rPr>
              <a:t>4. Transformation (Perspective Correction)</a:t>
            </a:r>
            <a:endParaRPr lang="en-IN" dirty="0"/>
          </a:p>
          <a:p>
            <a:r>
              <a:rPr lang="en-IN" dirty="0">
                <a:effectLst/>
              </a:rPr>
              <a:t>Use </a:t>
            </a:r>
            <a:r>
              <a:rPr lang="en-IN" b="1" dirty="0">
                <a:effectLst/>
              </a:rPr>
              <a:t>matrix transformations</a:t>
            </a:r>
            <a:r>
              <a:rPr lang="en-IN" dirty="0">
                <a:effectLst/>
              </a:rPr>
              <a:t> (rotation, scaling, translation) to adjust the image.</a:t>
            </a:r>
            <a:endParaRPr lang="en-IN" dirty="0"/>
          </a:p>
          <a:p>
            <a:r>
              <a:rPr lang="en-IN" dirty="0">
                <a:effectLst/>
              </a:rPr>
              <a:t>Example: “bird’s‑eye view” transformation to flatten the road for easier lane detection.</a:t>
            </a:r>
            <a:endParaRPr lang="en-IN" dirty="0"/>
          </a:p>
          <a:p>
            <a:r>
              <a:rPr lang="en-IN" dirty="0">
                <a:effectLst/>
              </a:rPr>
              <a:t>Transformation matrices ensure lanes are detected consistently regardless of camera angle.</a:t>
            </a:r>
            <a:endParaRPr lang="en-IN" dirty="0"/>
          </a:p>
          <a:p>
            <a:endParaRPr lang="en-IN" dirty="0"/>
          </a:p>
        </p:txBody>
      </p:sp>
    </p:spTree>
    <p:extLst>
      <p:ext uri="{BB962C8B-B14F-4D97-AF65-F5344CB8AC3E}">
        <p14:creationId xmlns:p14="http://schemas.microsoft.com/office/powerpoint/2010/main" val="1853676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FE0A-59FE-AB6B-7346-EC4B6AE134B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2D2C9B-0B9B-5C26-BB80-4A7A5B5A9AD0}"/>
              </a:ext>
            </a:extLst>
          </p:cNvPr>
          <p:cNvSpPr>
            <a:spLocks noGrp="1"/>
          </p:cNvSpPr>
          <p:nvPr>
            <p:ph idx="1"/>
          </p:nvPr>
        </p:nvSpPr>
        <p:spPr/>
        <p:txBody>
          <a:bodyPr/>
          <a:lstStyle/>
          <a:p>
            <a:r>
              <a:rPr lang="en-IN" b="1" dirty="0">
                <a:effectLst/>
              </a:rPr>
              <a:t>Lane </a:t>
            </a:r>
            <a:r>
              <a:rPr lang="en-IN" b="1" dirty="0" err="1">
                <a:effectLst/>
              </a:rPr>
              <a:t>Modeling</a:t>
            </a:r>
            <a:r>
              <a:rPr lang="en-IN" b="1" dirty="0">
                <a:effectLst/>
              </a:rPr>
              <a:t> (Polynomial Fit)</a:t>
            </a:r>
            <a:endParaRPr lang="en-IN" dirty="0"/>
          </a:p>
          <a:p>
            <a:r>
              <a:rPr lang="en-IN" dirty="0">
                <a:effectLst/>
              </a:rPr>
              <a:t>Once lane points are identified, fit them with a curve (often quadratic).</a:t>
            </a:r>
            <a:endParaRPr lang="en-IN" dirty="0"/>
          </a:p>
          <a:p>
            <a:r>
              <a:rPr lang="en-IN" dirty="0">
                <a:effectLst/>
              </a:rPr>
              <a:t>This uses </a:t>
            </a:r>
            <a:r>
              <a:rPr lang="en-IN" b="1" dirty="0">
                <a:effectLst/>
              </a:rPr>
              <a:t>linear algebra regression techniques</a:t>
            </a:r>
            <a:r>
              <a:rPr lang="en-IN" dirty="0">
                <a:effectLst/>
              </a:rPr>
              <a:t> to minimize error between detected points and the lane model.</a:t>
            </a:r>
            <a:endParaRPr lang="en-IN" dirty="0"/>
          </a:p>
          <a:p>
            <a:r>
              <a:rPr lang="en-IN" b="1" dirty="0">
                <a:effectLst/>
              </a:rPr>
              <a:t>Decision Layer (Integration with Control)</a:t>
            </a:r>
            <a:endParaRPr lang="en-IN" dirty="0"/>
          </a:p>
          <a:p>
            <a:r>
              <a:rPr lang="en-IN" dirty="0">
                <a:effectLst/>
              </a:rPr>
              <a:t>The lane model feeds into the car’s path planning.</a:t>
            </a:r>
            <a:endParaRPr lang="en-IN" dirty="0"/>
          </a:p>
          <a:p>
            <a:r>
              <a:rPr lang="en-IN" dirty="0">
                <a:effectLst/>
              </a:rPr>
              <a:t>VPUs accelerate all the above matrix operations so the car can react in real </a:t>
            </a:r>
            <a:endParaRPr lang="en-IN" dirty="0"/>
          </a:p>
          <a:p>
            <a:endParaRPr lang="en-IN" dirty="0"/>
          </a:p>
        </p:txBody>
      </p:sp>
    </p:spTree>
    <p:extLst>
      <p:ext uri="{BB962C8B-B14F-4D97-AF65-F5344CB8AC3E}">
        <p14:creationId xmlns:p14="http://schemas.microsoft.com/office/powerpoint/2010/main" val="559640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B544-0116-6638-A633-5CE77C4E11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2B1E6A-2DC2-5882-7DE4-2E1644B144A7}"/>
              </a:ext>
            </a:extLst>
          </p:cNvPr>
          <p:cNvSpPr>
            <a:spLocks noGrp="1"/>
          </p:cNvSpPr>
          <p:nvPr>
            <p:ph idx="1"/>
          </p:nvPr>
        </p:nvSpPr>
        <p:spPr/>
        <p:txBody>
          <a:bodyPr>
            <a:normAutofit fontScale="92500" lnSpcReduction="20000"/>
          </a:bodyPr>
          <a:lstStyle/>
          <a:p>
            <a:r>
              <a:rPr lang="en-IN" b="1" dirty="0"/>
              <a:t>What Does “Matrix Ops” Mean?</a:t>
            </a:r>
          </a:p>
          <a:p>
            <a:r>
              <a:rPr lang="en-IN" b="1" dirty="0">
                <a:effectLst/>
              </a:rPr>
              <a:t>Matrix operations (matrix ops)</a:t>
            </a:r>
            <a:r>
              <a:rPr lang="en-IN" dirty="0">
                <a:effectLst/>
              </a:rPr>
              <a:t> = mathematical manipulations of matrices.</a:t>
            </a:r>
            <a:endParaRPr lang="en-IN" dirty="0"/>
          </a:p>
          <a:p>
            <a:r>
              <a:rPr lang="en-IN" dirty="0">
                <a:effectLst/>
              </a:rPr>
              <a:t>Common ones in vision tasks:</a:t>
            </a:r>
            <a:endParaRPr lang="en-IN" dirty="0"/>
          </a:p>
          <a:p>
            <a:pPr lvl="1"/>
            <a:r>
              <a:rPr lang="en-IN" b="1" dirty="0">
                <a:effectLst/>
              </a:rPr>
              <a:t>Multiplication:</a:t>
            </a:r>
            <a:r>
              <a:rPr lang="en-IN" dirty="0">
                <a:effectLst/>
              </a:rPr>
              <a:t> combining filters with image patches.</a:t>
            </a:r>
            <a:endParaRPr lang="en-IN" dirty="0"/>
          </a:p>
          <a:p>
            <a:pPr lvl="1"/>
            <a:r>
              <a:rPr lang="en-IN" b="1" dirty="0">
                <a:effectLst/>
              </a:rPr>
              <a:t>Dot product:</a:t>
            </a:r>
            <a:r>
              <a:rPr lang="en-IN" dirty="0">
                <a:effectLst/>
              </a:rPr>
              <a:t> measuring alignment of vectors.</a:t>
            </a:r>
            <a:endParaRPr lang="en-IN" dirty="0"/>
          </a:p>
          <a:p>
            <a:pPr lvl="1"/>
            <a:r>
              <a:rPr lang="en-IN" b="1" dirty="0">
                <a:effectLst/>
              </a:rPr>
              <a:t>Transformation:</a:t>
            </a:r>
            <a:r>
              <a:rPr lang="en-IN" dirty="0">
                <a:effectLst/>
              </a:rPr>
              <a:t> rotating/scaling/translating coordinates.</a:t>
            </a:r>
            <a:endParaRPr lang="en-IN" dirty="0"/>
          </a:p>
          <a:p>
            <a:pPr lvl="1"/>
            <a:r>
              <a:rPr lang="en-IN" b="1" dirty="0">
                <a:effectLst/>
              </a:rPr>
              <a:t>Addition/Subtraction:</a:t>
            </a:r>
            <a:r>
              <a:rPr lang="en-IN" dirty="0">
                <a:effectLst/>
              </a:rPr>
              <a:t> adjusting brightness or combining feature maps.</a:t>
            </a:r>
            <a:endParaRPr lang="en-IN" dirty="0"/>
          </a:p>
          <a:p>
            <a:r>
              <a:rPr lang="en-IN" dirty="0">
                <a:effectLst/>
              </a:rPr>
              <a:t>In short, “matrix ops” are the </a:t>
            </a:r>
            <a:r>
              <a:rPr lang="en-IN" b="1" dirty="0">
                <a:effectLst/>
              </a:rPr>
              <a:t>core math routines</a:t>
            </a:r>
            <a:r>
              <a:rPr lang="en-IN" dirty="0">
                <a:effectLst/>
              </a:rPr>
              <a:t> that VPUs/GPU hardware crunch billions of times per second to make vision tasks possible.</a:t>
            </a:r>
            <a:endParaRPr lang="en-IN" dirty="0"/>
          </a:p>
          <a:p>
            <a:r>
              <a:rPr lang="en-IN" dirty="0">
                <a:effectLst/>
              </a:rPr>
              <a:t>So, every time an autonomous car “sees” a lane, it’s really doing a chain of </a:t>
            </a:r>
            <a:r>
              <a:rPr lang="en-IN" b="1" dirty="0">
                <a:effectLst/>
              </a:rPr>
              <a:t>matrix multiplications, dot products, and transformations</a:t>
            </a:r>
            <a:r>
              <a:rPr lang="en-IN" dirty="0">
                <a:effectLst/>
              </a:rPr>
              <a:t> — and VPUs are the specialized chips that make this math fast and efficient.</a:t>
            </a:r>
            <a:endParaRPr lang="en-IN" dirty="0"/>
          </a:p>
          <a:p>
            <a:endParaRPr lang="en-IN" dirty="0"/>
          </a:p>
        </p:txBody>
      </p:sp>
    </p:spTree>
    <p:extLst>
      <p:ext uri="{BB962C8B-B14F-4D97-AF65-F5344CB8AC3E}">
        <p14:creationId xmlns:p14="http://schemas.microsoft.com/office/powerpoint/2010/main" val="3547343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427BF-66BF-845D-7CDF-1B63741C041E}"/>
              </a:ext>
            </a:extLst>
          </p:cNvPr>
          <p:cNvSpPr>
            <a:spLocks noGrp="1"/>
          </p:cNvSpPr>
          <p:nvPr>
            <p:ph type="title"/>
          </p:nvPr>
        </p:nvSpPr>
        <p:spPr/>
        <p:txBody>
          <a:bodyPr>
            <a:normAutofit fontScale="90000"/>
          </a:bodyPr>
          <a:lstStyle/>
          <a:p>
            <a:r>
              <a:rPr lang="en-IN" sz="4000" b="1" dirty="0"/>
              <a:t>please illustrate this with a simple numeric example (like a 3×3 image patch and a filter matrix)</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E3A839-BA30-E8D6-A36E-E34BCBD9C07F}"/>
                  </a:ext>
                </a:extLst>
              </p:cNvPr>
              <p:cNvSpPr>
                <a:spLocks noGrp="1"/>
              </p:cNvSpPr>
              <p:nvPr>
                <p:ph idx="1"/>
              </p:nvPr>
            </p:nvSpPr>
            <p:spPr>
              <a:xfrm>
                <a:off x="838200" y="1825625"/>
                <a:ext cx="10515600" cy="4667250"/>
              </a:xfrm>
            </p:spPr>
            <p:txBody>
              <a:bodyPr>
                <a:normAutofit/>
              </a:bodyPr>
              <a:lstStyle/>
              <a:p>
                <a:r>
                  <a:rPr lang="en-IN" b="1" dirty="0"/>
                  <a:t>Example: 3×3 Image Patch + Filter</a:t>
                </a:r>
              </a:p>
              <a:p>
                <a:r>
                  <a:rPr lang="en-IN" dirty="0">
                    <a:effectLst/>
                  </a:rPr>
                  <a:t>Imagine a tiny </a:t>
                </a:r>
                <a:r>
                  <a:rPr lang="en-IN" b="1" dirty="0">
                    <a:effectLst/>
                  </a:rPr>
                  <a:t>3×3 grayscale image patch</a:t>
                </a:r>
                <a:r>
                  <a:rPr lang="en-IN" dirty="0">
                    <a:effectLst/>
                  </a:rPr>
                  <a:t> (values represent pixel brightness):</a:t>
                </a:r>
                <a:endParaRPr lang="en-IN" dirty="0"/>
              </a:p>
              <a:p>
                <a14:m>
                  <m:oMath xmlns:m="http://schemas.openxmlformats.org/officeDocument/2006/math">
                    <m:r>
                      <a:rPr lang="en-IN" i="1">
                        <a:latin typeface="Cambria Math" panose="02040503050406030204" pitchFamily="18" charset="0"/>
                      </a:rPr>
                      <m:t>𝐼</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r>
                                <a:rPr lang="en-IN">
                                  <a:latin typeface="Cambria Math" panose="02040503050406030204" pitchFamily="18" charset="0"/>
                                </a:rPr>
                                <m:t>1</m:t>
                              </m:r>
                            </m:e>
                            <m:e>
                              <m:r>
                                <a:rPr lang="en-IN">
                                  <a:latin typeface="Cambria Math" panose="02040503050406030204" pitchFamily="18" charset="0"/>
                                </a:rPr>
                                <m:t>2</m:t>
                              </m:r>
                            </m:e>
                            <m:e>
                              <m:r>
                                <a:rPr lang="en-IN">
                                  <a:latin typeface="Cambria Math" panose="02040503050406030204" pitchFamily="18" charset="0"/>
                                </a:rPr>
                                <m:t>1</m:t>
                              </m:r>
                            </m:e>
                          </m:mr>
                          <m:mr>
                            <m:e>
                              <m:r>
                                <a:rPr lang="en-IN">
                                  <a:latin typeface="Cambria Math" panose="02040503050406030204" pitchFamily="18" charset="0"/>
                                </a:rPr>
                                <m:t>0</m:t>
                              </m:r>
                            </m:e>
                            <m:e>
                              <m:r>
                                <a:rPr lang="en-IN">
                                  <a:latin typeface="Cambria Math" panose="02040503050406030204" pitchFamily="18" charset="0"/>
                                </a:rPr>
                                <m:t>1</m:t>
                              </m:r>
                            </m:e>
                            <m:e>
                              <m:r>
                                <a:rPr lang="en-IN">
                                  <a:latin typeface="Cambria Math" panose="02040503050406030204" pitchFamily="18" charset="0"/>
                                </a:rPr>
                                <m:t>0</m:t>
                              </m:r>
                            </m:e>
                          </m:mr>
                          <m:mr>
                            <m:e>
                              <m:r>
                                <a:rPr lang="en-IN">
                                  <a:latin typeface="Cambria Math" panose="02040503050406030204" pitchFamily="18" charset="0"/>
                                </a:rPr>
                                <m:t>2</m:t>
                              </m:r>
                            </m:e>
                            <m:e>
                              <m:r>
                                <a:rPr lang="en-IN">
                                  <a:latin typeface="Cambria Math" panose="02040503050406030204" pitchFamily="18" charset="0"/>
                                </a:rPr>
                                <m:t>2</m:t>
                              </m:r>
                            </m:e>
                            <m:e>
                              <m:r>
                                <a:rPr lang="en-IN">
                                  <a:latin typeface="Cambria Math" panose="02040503050406030204" pitchFamily="18" charset="0"/>
                                </a:rPr>
                                <m:t>2</m:t>
                              </m:r>
                            </m:e>
                          </m:mr>
                        </m:m>
                      </m:e>
                    </m:d>
                  </m:oMath>
                </a14:m>
                <a:endParaRPr lang="en-IN" dirty="0"/>
              </a:p>
              <a:p>
                <a:r>
                  <a:rPr lang="en-IN" dirty="0">
                    <a:effectLst/>
                  </a:rPr>
                  <a:t>Now apply a </a:t>
                </a:r>
                <a:r>
                  <a:rPr lang="en-IN" b="1" dirty="0">
                    <a:effectLst/>
                  </a:rPr>
                  <a:t>filter (kernel)</a:t>
                </a:r>
                <a:r>
                  <a:rPr lang="en-IN" dirty="0">
                    <a:effectLst/>
                  </a:rPr>
                  <a:t> designed to detect vertical edges (like lane markings):</a:t>
                </a:r>
                <a:endParaRPr lang="en-IN" dirty="0"/>
              </a:p>
              <a:p>
                <a14:m>
                  <m:oMath xmlns:m="http://schemas.openxmlformats.org/officeDocument/2006/math">
                    <m:r>
                      <a:rPr lang="en-IN" i="1">
                        <a:latin typeface="Cambria Math" panose="02040503050406030204" pitchFamily="18" charset="0"/>
                      </a:rPr>
                      <m:t>𝐹</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r>
                                <a:rPr lang="en-IN">
                                  <a:latin typeface="Cambria Math" panose="02040503050406030204" pitchFamily="18" charset="0"/>
                                </a:rPr>
                                <m:t>−1</m:t>
                              </m:r>
                            </m:e>
                            <m:e>
                              <m:r>
                                <a:rPr lang="en-IN">
                                  <a:latin typeface="Cambria Math" panose="02040503050406030204" pitchFamily="18" charset="0"/>
                                </a:rPr>
                                <m:t>0</m:t>
                              </m:r>
                            </m:e>
                            <m:e>
                              <m:r>
                                <a:rPr lang="en-IN">
                                  <a:latin typeface="Cambria Math" panose="02040503050406030204" pitchFamily="18" charset="0"/>
                                </a:rPr>
                                <m:t>1</m:t>
                              </m:r>
                            </m:e>
                          </m:mr>
                          <m:mr>
                            <m:e>
                              <m:r>
                                <a:rPr lang="en-IN">
                                  <a:latin typeface="Cambria Math" panose="02040503050406030204" pitchFamily="18" charset="0"/>
                                </a:rPr>
                                <m:t>−1</m:t>
                              </m:r>
                            </m:e>
                            <m:e>
                              <m:r>
                                <a:rPr lang="en-IN">
                                  <a:latin typeface="Cambria Math" panose="02040503050406030204" pitchFamily="18" charset="0"/>
                                </a:rPr>
                                <m:t>0</m:t>
                              </m:r>
                            </m:e>
                            <m:e>
                              <m:r>
                                <a:rPr lang="en-IN">
                                  <a:latin typeface="Cambria Math" panose="02040503050406030204" pitchFamily="18" charset="0"/>
                                </a:rPr>
                                <m:t>1</m:t>
                              </m:r>
                            </m:e>
                          </m:mr>
                          <m:mr>
                            <m:e>
                              <m:r>
                                <a:rPr lang="en-IN">
                                  <a:latin typeface="Cambria Math" panose="02040503050406030204" pitchFamily="18" charset="0"/>
                                </a:rPr>
                                <m:t>−1</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5DE3A839-BA30-E8D6-A36E-E34BCBD9C07F}"/>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089" r="-1101"/>
                </a:stretch>
              </a:blipFill>
            </p:spPr>
            <p:txBody>
              <a:bodyPr/>
              <a:lstStyle/>
              <a:p>
                <a:r>
                  <a:rPr lang="en-IN">
                    <a:noFill/>
                  </a:rPr>
                  <a:t> </a:t>
                </a:r>
              </a:p>
            </p:txBody>
          </p:sp>
        </mc:Fallback>
      </mc:AlternateContent>
    </p:spTree>
    <p:extLst>
      <p:ext uri="{BB962C8B-B14F-4D97-AF65-F5344CB8AC3E}">
        <p14:creationId xmlns:p14="http://schemas.microsoft.com/office/powerpoint/2010/main" val="1935025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9B73-A874-9FC1-83A5-174708500825}"/>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22FB77-66D6-F4D9-823F-11E9F9ABEABC}"/>
                  </a:ext>
                </a:extLst>
              </p:cNvPr>
              <p:cNvSpPr>
                <a:spLocks noGrp="1"/>
              </p:cNvSpPr>
              <p:nvPr>
                <p:ph idx="1"/>
              </p:nvPr>
            </p:nvSpPr>
            <p:spPr/>
            <p:txBody>
              <a:bodyPr>
                <a:normAutofit fontScale="85000" lnSpcReduction="10000"/>
              </a:bodyPr>
              <a:lstStyle/>
              <a:p>
                <a:r>
                  <a:rPr lang="en-IN" b="1" dirty="0"/>
                  <a:t>Convolution (Matrix Operation)</a:t>
                </a:r>
              </a:p>
              <a:p>
                <a:r>
                  <a:rPr lang="en-IN" dirty="0">
                    <a:effectLst/>
                  </a:rPr>
                  <a:t>Multiply element‑wise and sum:</a:t>
                </a:r>
                <a:endParaRPr lang="en-IN" dirty="0"/>
              </a:p>
              <a:p>
                <a14:m>
                  <m:oMath xmlns:m="http://schemas.openxmlformats.org/officeDocument/2006/math">
                    <m:r>
                      <a:rPr lang="en-IN" i="1">
                        <a:latin typeface="Cambria Math" panose="02040503050406030204" pitchFamily="18" charset="0"/>
                      </a:rPr>
                      <m:t>𝐼</m:t>
                    </m:r>
                    <m:r>
                      <a:rPr lang="en-IN">
                        <a:latin typeface="Cambria Math" panose="02040503050406030204" pitchFamily="18" charset="0"/>
                      </a:rPr>
                      <m:t>⋅</m:t>
                    </m:r>
                    <m:r>
                      <a:rPr lang="en-IN" i="1">
                        <a:latin typeface="Cambria Math" panose="02040503050406030204" pitchFamily="18" charset="0"/>
                      </a:rPr>
                      <m:t>𝐹</m:t>
                    </m:r>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1⋅−1</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2⋅0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1⋅1</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0⋅−1</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0⋅1</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2⋅−1</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2⋅0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2⋅1</m:t>
                        </m:r>
                      </m:e>
                    </m:d>
                  </m:oMath>
                </a14:m>
                <a:endParaRPr lang="en-IN" dirty="0"/>
              </a:p>
              <a:p>
                <a14:m>
                  <m:oMath xmlns:m="http://schemas.openxmlformats.org/officeDocument/2006/math">
                    <m:r>
                      <a:rPr lang="en-IN">
                        <a:latin typeface="Cambria Math" panose="02040503050406030204" pitchFamily="18" charset="0"/>
                      </a:rPr>
                      <m:t>=−1+0+1+0+0+0−2+0+2=0</m:t>
                    </m:r>
                  </m:oMath>
                </a14:m>
                <a:endParaRPr lang="en-IN" dirty="0"/>
              </a:p>
              <a:p>
                <a:r>
                  <a:rPr lang="en-IN" b="1" dirty="0"/>
                  <a:t>Interpretation</a:t>
                </a:r>
              </a:p>
              <a:p>
                <a:r>
                  <a:rPr lang="en-IN" dirty="0">
                    <a:effectLst/>
                  </a:rPr>
                  <a:t>Result = </a:t>
                </a:r>
                <a:r>
                  <a:rPr lang="en-IN" b="1" dirty="0">
                    <a:effectLst/>
                  </a:rPr>
                  <a:t>0</a:t>
                </a:r>
                <a:r>
                  <a:rPr lang="en-IN" dirty="0">
                    <a:effectLst/>
                  </a:rPr>
                  <a:t> → no strong vertical edge detected in this patch.</a:t>
                </a:r>
                <a:endParaRPr lang="en-IN" dirty="0"/>
              </a:p>
              <a:p>
                <a:r>
                  <a:rPr lang="en-IN" dirty="0">
                    <a:effectLst/>
                  </a:rPr>
                  <a:t>If the sum were large (positive or negative), it would indicate a strong vertical line (like a lane marking).</a:t>
                </a:r>
                <a:endParaRPr lang="en-IN" dirty="0"/>
              </a:p>
              <a:p>
                <a:r>
                  <a:rPr lang="en-IN" dirty="0">
                    <a:effectLst/>
                  </a:rPr>
                  <a:t>VPUs run this operation across the </a:t>
                </a:r>
                <a:r>
                  <a:rPr lang="en-IN" b="1" dirty="0">
                    <a:effectLst/>
                  </a:rPr>
                  <a:t>entire image matrix</a:t>
                </a:r>
                <a:r>
                  <a:rPr lang="en-IN" dirty="0">
                    <a:effectLst/>
                  </a:rPr>
                  <a:t>, sliding the filter over every 3×3 patch, producing a new “feature map” that highlights lane lines.</a:t>
                </a:r>
                <a:endParaRPr lang="en-IN" dirty="0"/>
              </a:p>
              <a:p>
                <a:endParaRPr lang="en-IN" dirty="0"/>
              </a:p>
            </p:txBody>
          </p:sp>
        </mc:Choice>
        <mc:Fallback xmlns="">
          <p:sp>
            <p:nvSpPr>
              <p:cNvPr id="3" name="Content Placeholder 2">
                <a:extLst>
                  <a:ext uri="{FF2B5EF4-FFF2-40B4-BE49-F238E27FC236}">
                    <a16:creationId xmlns:a16="http://schemas.microsoft.com/office/drawing/2014/main" id="{F022FB77-66D6-F4D9-823F-11E9F9ABEABC}"/>
                  </a:ext>
                </a:extLst>
              </p:cNvPr>
              <p:cNvSpPr>
                <a:spLocks noGrp="1" noRot="1" noChangeAspect="1" noMove="1" noResize="1" noEditPoints="1" noAdjustHandles="1" noChangeArrowheads="1" noChangeShapeType="1" noTextEdit="1"/>
              </p:cNvSpPr>
              <p:nvPr>
                <p:ph idx="1"/>
              </p:nvPr>
            </p:nvSpPr>
            <p:spPr>
              <a:blipFill>
                <a:blip r:embed="rId2"/>
                <a:stretch>
                  <a:fillRect l="-812" t="-2661" r="-986" b="-2241"/>
                </a:stretch>
              </a:blipFill>
            </p:spPr>
            <p:txBody>
              <a:bodyPr/>
              <a:lstStyle/>
              <a:p>
                <a:r>
                  <a:rPr lang="en-IN">
                    <a:noFill/>
                  </a:rPr>
                  <a:t> </a:t>
                </a:r>
              </a:p>
            </p:txBody>
          </p:sp>
        </mc:Fallback>
      </mc:AlternateContent>
    </p:spTree>
    <p:extLst>
      <p:ext uri="{BB962C8B-B14F-4D97-AF65-F5344CB8AC3E}">
        <p14:creationId xmlns:p14="http://schemas.microsoft.com/office/powerpoint/2010/main" val="2824603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3DFA9-8A60-A235-7700-ABFB5632B0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6A05E6-A649-AFAD-126A-8E5E89A2FEAB}"/>
              </a:ext>
            </a:extLst>
          </p:cNvPr>
          <p:cNvSpPr>
            <a:spLocks noGrp="1"/>
          </p:cNvSpPr>
          <p:nvPr>
            <p:ph idx="1"/>
          </p:nvPr>
        </p:nvSpPr>
        <p:spPr/>
        <p:txBody>
          <a:bodyPr>
            <a:normAutofit lnSpcReduction="10000"/>
          </a:bodyPr>
          <a:lstStyle/>
          <a:p>
            <a:r>
              <a:rPr lang="en-IN" b="1" dirty="0"/>
              <a:t>What “Matrix Ops” Means Here</a:t>
            </a:r>
          </a:p>
          <a:p>
            <a:r>
              <a:rPr lang="en-IN" b="1" dirty="0">
                <a:effectLst/>
              </a:rPr>
              <a:t>Matrix ops</a:t>
            </a:r>
            <a:r>
              <a:rPr lang="en-IN" dirty="0">
                <a:effectLst/>
              </a:rPr>
              <a:t> = all the math you do with matrices:</a:t>
            </a:r>
            <a:endParaRPr lang="en-IN" dirty="0"/>
          </a:p>
          <a:p>
            <a:pPr lvl="1"/>
            <a:r>
              <a:rPr lang="en-IN" b="1" dirty="0">
                <a:effectLst/>
              </a:rPr>
              <a:t>Multiplication</a:t>
            </a:r>
            <a:r>
              <a:rPr lang="en-IN" dirty="0">
                <a:effectLst/>
              </a:rPr>
              <a:t> (like above, filter × image patch).</a:t>
            </a:r>
            <a:endParaRPr lang="en-IN" dirty="0"/>
          </a:p>
          <a:p>
            <a:pPr lvl="1"/>
            <a:r>
              <a:rPr lang="en-IN" b="1" dirty="0">
                <a:effectLst/>
              </a:rPr>
              <a:t>Dot product</a:t>
            </a:r>
            <a:r>
              <a:rPr lang="en-IN" dirty="0">
                <a:effectLst/>
              </a:rPr>
              <a:t> (measuring alignment of vectors).</a:t>
            </a:r>
            <a:endParaRPr lang="en-IN" dirty="0"/>
          </a:p>
          <a:p>
            <a:pPr lvl="1"/>
            <a:r>
              <a:rPr lang="en-IN" b="1" dirty="0">
                <a:effectLst/>
              </a:rPr>
              <a:t>Transformations</a:t>
            </a:r>
            <a:r>
              <a:rPr lang="en-IN" dirty="0">
                <a:effectLst/>
              </a:rPr>
              <a:t> (rotating/scaling coordinates for perspective correction).</a:t>
            </a:r>
            <a:endParaRPr lang="en-IN" dirty="0"/>
          </a:p>
          <a:p>
            <a:r>
              <a:rPr lang="en-IN" dirty="0">
                <a:effectLst/>
              </a:rPr>
              <a:t>In vision tasks, these are repeated millions of times per second — VPUs are specialized to crunch them efficiently.</a:t>
            </a:r>
            <a:endParaRPr lang="en-IN" dirty="0"/>
          </a:p>
          <a:p>
            <a:r>
              <a:rPr lang="en-IN" dirty="0"/>
              <a:t>So in lane detection, every camera frame is broken into patches, filters (matrices) are applied, and the resulting numbers tell the system where lane lines are. That’s the “matrix ops” backbone in action.</a:t>
            </a:r>
          </a:p>
        </p:txBody>
      </p:sp>
    </p:spTree>
    <p:extLst>
      <p:ext uri="{BB962C8B-B14F-4D97-AF65-F5344CB8AC3E}">
        <p14:creationId xmlns:p14="http://schemas.microsoft.com/office/powerpoint/2010/main" val="4064545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AA397-13E3-8934-455F-D1745C9C64C1}"/>
              </a:ext>
            </a:extLst>
          </p:cNvPr>
          <p:cNvSpPr>
            <a:spLocks noGrp="1"/>
          </p:cNvSpPr>
          <p:nvPr>
            <p:ph type="title"/>
          </p:nvPr>
        </p:nvSpPr>
        <p:spPr>
          <a:xfrm>
            <a:off x="838200" y="256675"/>
            <a:ext cx="10515600" cy="1434014"/>
          </a:xfrm>
        </p:spPr>
        <p:txBody>
          <a:bodyPr>
            <a:normAutofit fontScale="90000"/>
          </a:bodyPr>
          <a:lstStyle/>
          <a:p>
            <a:br>
              <a:rPr lang="en-IN" sz="3100" dirty="0"/>
            </a:br>
            <a:r>
              <a:rPr lang="en-IN" sz="3100" b="1" dirty="0"/>
              <a:t>please show how you how a dot product specifically helps align detected edges with the road’s forward direction (so the car knows which lines are lanes vs. crosswalks)?</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EEACFF-E1D0-CEBC-8B43-CA0A7DD1E884}"/>
                  </a:ext>
                </a:extLst>
              </p:cNvPr>
              <p:cNvSpPr>
                <a:spLocks noGrp="1"/>
              </p:cNvSpPr>
              <p:nvPr>
                <p:ph idx="1"/>
              </p:nvPr>
            </p:nvSpPr>
            <p:spPr/>
            <p:txBody>
              <a:bodyPr>
                <a:normAutofit fontScale="85000" lnSpcReduction="10000"/>
              </a:bodyPr>
              <a:lstStyle/>
              <a:p>
                <a:r>
                  <a:rPr lang="en-IN" dirty="0">
                    <a:effectLst/>
                  </a:rPr>
                  <a:t>Here’s how the </a:t>
                </a:r>
                <a:r>
                  <a:rPr lang="en-IN" b="1" dirty="0">
                    <a:effectLst/>
                  </a:rPr>
                  <a:t>dot product</a:t>
                </a:r>
                <a:r>
                  <a:rPr lang="en-IN" dirty="0">
                    <a:effectLst/>
                  </a:rPr>
                  <a:t> helps an autonomous car decide whether a detected edge is a lane line (aligned with the road) or something else like a crosswalk:</a:t>
                </a:r>
                <a:endParaRPr lang="en-IN" dirty="0"/>
              </a:p>
              <a:p>
                <a:r>
                  <a:rPr lang="en-IN" b="1" dirty="0"/>
                  <a:t>🧮 Step‑by‑Step Example</a:t>
                </a:r>
              </a:p>
              <a:p>
                <a:r>
                  <a:rPr lang="en-IN" b="1" dirty="0">
                    <a:effectLst/>
                  </a:rPr>
                  <a:t>Define the Road’s Forward Direction Vector</a:t>
                </a:r>
                <a:endParaRPr lang="en-IN" dirty="0"/>
              </a:p>
              <a:p>
                <a:pPr lvl="1"/>
                <a:r>
                  <a:rPr lang="en-IN" dirty="0">
                    <a:effectLst/>
                  </a:rPr>
                  <a:t>Suppose the car is driving straight ahead.</a:t>
                </a:r>
                <a:endParaRPr lang="en-IN" dirty="0"/>
              </a:p>
              <a:p>
                <a:pPr lvl="1"/>
                <a:r>
                  <a:rPr lang="en-IN" dirty="0">
                    <a:effectLst/>
                  </a:rPr>
                  <a:t>Forward direction vector:</a:t>
                </a:r>
                <a:endParaRPr lang="en-IN" dirty="0"/>
              </a:p>
              <a:p>
                <a14:m>
                  <m:oMath xmlns:m="http://schemas.openxmlformats.org/officeDocument/2006/math">
                    <m:r>
                      <a:rPr lang="en-IN" b="1">
                        <a:latin typeface="Cambria Math" panose="02040503050406030204" pitchFamily="18" charset="0"/>
                      </a:rPr>
                      <m:t>𝐫</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1"/>
                                  <m:mcJc m:val="center"/>
                                </m:mcPr>
                              </m:mc>
                            </m:mcs>
                            <m:ctrlPr>
                              <a:rPr lang="en-IN" i="1">
                                <a:latin typeface="Cambria Math" panose="02040503050406030204" pitchFamily="18" charset="0"/>
                              </a:rPr>
                            </m:ctrlPr>
                          </m:mPr>
                          <m:mr>
                            <m:e>
                              <m:r>
                                <a:rPr lang="en-IN">
                                  <a:latin typeface="Cambria Math" panose="02040503050406030204" pitchFamily="18" charset="0"/>
                                </a:rPr>
                                <m:t>0</m:t>
                              </m:r>
                            </m:e>
                          </m:mr>
                          <m:mr>
                            <m:e>
                              <m:r>
                                <a:rPr lang="en-IN">
                                  <a:latin typeface="Cambria Math" panose="02040503050406030204" pitchFamily="18" charset="0"/>
                                </a:rPr>
                                <m:t>1</m:t>
                              </m:r>
                            </m:e>
                          </m:mr>
                        </m:m>
                      </m:e>
                    </m:d>
                  </m:oMath>
                </a14:m>
                <a:endParaRPr lang="en-IN" b="0" dirty="0"/>
              </a:p>
              <a:p>
                <a:r>
                  <a:rPr lang="en-IN" dirty="0">
                    <a:effectLst/>
                  </a:rPr>
                  <a:t>(meaning “up” in the image coordinate system).</a:t>
                </a:r>
                <a:endParaRPr lang="en-IN" dirty="0"/>
              </a:p>
              <a:p>
                <a:r>
                  <a:rPr lang="en-IN" b="1" dirty="0">
                    <a:effectLst/>
                  </a:rPr>
                  <a:t>Take an Edge Vector from the Camera</a:t>
                </a:r>
                <a:endParaRPr lang="en-IN" dirty="0"/>
              </a:p>
              <a:p>
                <a:pPr lvl="1"/>
                <a:r>
                  <a:rPr lang="en-IN" dirty="0">
                    <a:effectLst/>
                  </a:rPr>
                  <a:t>The vision system detects an edge in the image (say, a line tilted slightly to the right).</a:t>
                </a:r>
                <a:endParaRPr lang="en-IN" dirty="0"/>
              </a:p>
              <a:p>
                <a:pPr lvl="1"/>
                <a:r>
                  <a:rPr lang="en-IN" dirty="0">
                    <a:effectLst/>
                  </a:rPr>
                  <a:t>Edge vector:</a:t>
                </a:r>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C6EEACFF-E1D0-CEBC-8B43-CA0A7DD1E884}"/>
                  </a:ext>
                </a:extLst>
              </p:cNvPr>
              <p:cNvSpPr>
                <a:spLocks noGrp="1" noRot="1" noChangeAspect="1" noMove="1" noResize="1" noEditPoints="1" noAdjustHandles="1" noChangeArrowheads="1" noChangeShapeType="1" noTextEdit="1"/>
              </p:cNvSpPr>
              <p:nvPr>
                <p:ph idx="1"/>
              </p:nvPr>
            </p:nvSpPr>
            <p:spPr>
              <a:blipFill>
                <a:blip r:embed="rId2"/>
                <a:stretch>
                  <a:fillRect l="-812" t="-2661" r="-580" b="-560"/>
                </a:stretch>
              </a:blipFill>
            </p:spPr>
            <p:txBody>
              <a:bodyPr/>
              <a:lstStyle/>
              <a:p>
                <a:r>
                  <a:rPr lang="en-IN">
                    <a:noFill/>
                  </a:rPr>
                  <a:t> </a:t>
                </a:r>
              </a:p>
            </p:txBody>
          </p:sp>
        </mc:Fallback>
      </mc:AlternateContent>
    </p:spTree>
    <p:extLst>
      <p:ext uri="{BB962C8B-B14F-4D97-AF65-F5344CB8AC3E}">
        <p14:creationId xmlns:p14="http://schemas.microsoft.com/office/powerpoint/2010/main" val="1843771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EC56A-8569-A9FF-2E50-C629BEEE71BD}"/>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EDAC60-1554-6A06-DF57-CEFA5E6C615C}"/>
                  </a:ext>
                </a:extLst>
              </p:cNvPr>
              <p:cNvSpPr>
                <a:spLocks noGrp="1"/>
              </p:cNvSpPr>
              <p:nvPr>
                <p:ph idx="1"/>
              </p:nvPr>
            </p:nvSpPr>
            <p:spPr/>
            <p:txBody>
              <a:bodyPr>
                <a:normAutofit fontScale="92500" lnSpcReduction="20000"/>
              </a:bodyPr>
              <a:lstStyle/>
              <a:p>
                <a:r>
                  <a:rPr lang="en-IN" b="1" dirty="0">
                    <a:effectLst/>
                  </a:rPr>
                  <a:t>Take an Edge Vector from the Camera</a:t>
                </a:r>
                <a:endParaRPr lang="en-IN" dirty="0"/>
              </a:p>
              <a:p>
                <a:pPr lvl="1"/>
                <a:r>
                  <a:rPr lang="en-IN" dirty="0">
                    <a:effectLst/>
                  </a:rPr>
                  <a:t>The vision system detects an edge in the image (say, a line tilted slightly to the right).</a:t>
                </a:r>
                <a:endParaRPr lang="en-IN" dirty="0"/>
              </a:p>
              <a:p>
                <a:pPr lvl="1"/>
                <a:r>
                  <a:rPr lang="en-IN" dirty="0">
                    <a:effectLst/>
                  </a:rPr>
                  <a:t>Edge vector:</a:t>
                </a:r>
                <a:endParaRPr lang="en-IN" dirty="0"/>
              </a:p>
              <a:p>
                <a14:m>
                  <m:oMath xmlns:m="http://schemas.openxmlformats.org/officeDocument/2006/math">
                    <m:r>
                      <a:rPr lang="en-IN" b="1">
                        <a:latin typeface="Cambria Math" panose="02040503050406030204" pitchFamily="18" charset="0"/>
                      </a:rPr>
                      <m:t>𝐞</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1"/>
                                  <m:mcJc m:val="center"/>
                                </m:mcPr>
                              </m:mc>
                            </m:mcs>
                            <m:ctrlPr>
                              <a:rPr lang="en-IN" i="1">
                                <a:latin typeface="Cambria Math" panose="02040503050406030204" pitchFamily="18" charset="0"/>
                              </a:rPr>
                            </m:ctrlPr>
                          </m:mPr>
                          <m:mr>
                            <m:e>
                              <m:r>
                                <a:rPr lang="en-IN">
                                  <a:latin typeface="Cambria Math" panose="02040503050406030204" pitchFamily="18" charset="0"/>
                                </a:rPr>
                                <m:t>1</m:t>
                              </m:r>
                            </m:e>
                          </m:mr>
                          <m:mr>
                            <m:e>
                              <m:r>
                                <a:rPr lang="en-IN">
                                  <a:latin typeface="Cambria Math" panose="02040503050406030204" pitchFamily="18" charset="0"/>
                                </a:rPr>
                                <m:t>2</m:t>
                              </m:r>
                            </m:e>
                          </m:mr>
                        </m:m>
                      </m:e>
                    </m:d>
                  </m:oMath>
                </a14:m>
                <a:endParaRPr lang="en-IN" b="0" dirty="0"/>
              </a:p>
              <a:p>
                <a:r>
                  <a:rPr lang="en-IN" b="1" dirty="0">
                    <a:effectLst/>
                  </a:rPr>
                  <a:t>Compute the Dot Product</a:t>
                </a:r>
                <a:endParaRPr lang="en-IN" dirty="0"/>
              </a:p>
              <a:p>
                <a14:m>
                  <m:oMath xmlns:m="http://schemas.openxmlformats.org/officeDocument/2006/math">
                    <m:r>
                      <a:rPr lang="en-IN" b="1">
                        <a:latin typeface="Cambria Math" panose="02040503050406030204" pitchFamily="18" charset="0"/>
                      </a:rPr>
                      <m:t>𝐫</m:t>
                    </m:r>
                    <m:r>
                      <a:rPr lang="en-IN">
                        <a:latin typeface="Cambria Math" panose="02040503050406030204" pitchFamily="18" charset="0"/>
                      </a:rPr>
                      <m:t>⋅</m:t>
                    </m:r>
                    <m:r>
                      <a:rPr lang="en-IN" b="1">
                        <a:latin typeface="Cambria Math" panose="02040503050406030204" pitchFamily="18" charset="0"/>
                      </a:rPr>
                      <m:t>𝐞</m:t>
                    </m:r>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0⋅1</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1⋅2</m:t>
                        </m:r>
                      </m:e>
                    </m:d>
                    <m:r>
                      <a:rPr lang="en-IN">
                        <a:latin typeface="Cambria Math" panose="02040503050406030204" pitchFamily="18" charset="0"/>
                      </a:rPr>
                      <m:t>=2</m:t>
                    </m:r>
                  </m:oMath>
                </a14:m>
                <a:endParaRPr lang="en-IN" b="0" dirty="0"/>
              </a:p>
              <a:p>
                <a:r>
                  <a:rPr lang="en-IN" b="1" dirty="0">
                    <a:effectLst/>
                  </a:rPr>
                  <a:t>Normalize (Check Alignment)</a:t>
                </a:r>
                <a:endParaRPr lang="en-IN" dirty="0"/>
              </a:p>
              <a:p>
                <a:pPr lvl="1"/>
                <a:r>
                  <a:rPr lang="en-IN" dirty="0">
                    <a:effectLst/>
                  </a:rPr>
                  <a:t>Dot product is large → edge is strongly aligned with the forward direction.</a:t>
                </a:r>
                <a:endParaRPr lang="en-IN" dirty="0"/>
              </a:p>
              <a:p>
                <a:pPr lvl="1"/>
                <a:r>
                  <a:rPr lang="en-IN" dirty="0">
                    <a:effectLst/>
                  </a:rPr>
                  <a:t>If the dot product were close to </a:t>
                </a:r>
                <a:r>
                  <a:rPr lang="en-IN" b="1" dirty="0">
                    <a:effectLst/>
                  </a:rPr>
                  <a:t>0</a:t>
                </a:r>
                <a:r>
                  <a:rPr lang="en-IN" dirty="0">
                    <a:effectLst/>
                  </a:rPr>
                  <a:t>, the edge would be perpendicular (like a crosswalk line).</a:t>
                </a:r>
                <a:endParaRPr lang="en-IN" dirty="0"/>
              </a:p>
              <a:p>
                <a:pPr lvl="1"/>
                <a:r>
                  <a:rPr lang="en-IN" dirty="0">
                    <a:effectLst/>
                  </a:rPr>
                  <a:t>If negative, the edge points opposite the road direction</a:t>
                </a:r>
                <a:endParaRPr lang="en-IN" dirty="0"/>
              </a:p>
              <a:p>
                <a:endParaRPr lang="en-IN" dirty="0"/>
              </a:p>
            </p:txBody>
          </p:sp>
        </mc:Choice>
        <mc:Fallback xmlns="">
          <p:sp>
            <p:nvSpPr>
              <p:cNvPr id="3" name="Content Placeholder 2">
                <a:extLst>
                  <a:ext uri="{FF2B5EF4-FFF2-40B4-BE49-F238E27FC236}">
                    <a16:creationId xmlns:a16="http://schemas.microsoft.com/office/drawing/2014/main" id="{76EDAC60-1554-6A06-DF57-CEFA5E6C615C}"/>
                  </a:ext>
                </a:extLst>
              </p:cNvPr>
              <p:cNvSpPr>
                <a:spLocks noGrp="1" noRot="1" noChangeAspect="1" noMove="1" noResize="1" noEditPoints="1" noAdjustHandles="1" noChangeArrowheads="1" noChangeShapeType="1" noTextEdit="1"/>
              </p:cNvSpPr>
              <p:nvPr>
                <p:ph idx="1"/>
              </p:nvPr>
            </p:nvSpPr>
            <p:spPr>
              <a:blipFill>
                <a:blip r:embed="rId2"/>
                <a:stretch>
                  <a:fillRect l="-928" t="-3501" r="-522"/>
                </a:stretch>
              </a:blipFill>
            </p:spPr>
            <p:txBody>
              <a:bodyPr/>
              <a:lstStyle/>
              <a:p>
                <a:r>
                  <a:rPr lang="en-IN">
                    <a:noFill/>
                  </a:rPr>
                  <a:t> </a:t>
                </a:r>
              </a:p>
            </p:txBody>
          </p:sp>
        </mc:Fallback>
      </mc:AlternateContent>
    </p:spTree>
    <p:extLst>
      <p:ext uri="{BB962C8B-B14F-4D97-AF65-F5344CB8AC3E}">
        <p14:creationId xmlns:p14="http://schemas.microsoft.com/office/powerpoint/2010/main" val="3415284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DB20-685C-EE26-0598-71DDF1E436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DF6747-61CB-4B1D-236D-D5DC83A375D7}"/>
              </a:ext>
            </a:extLst>
          </p:cNvPr>
          <p:cNvSpPr>
            <a:spLocks noGrp="1"/>
          </p:cNvSpPr>
          <p:nvPr>
            <p:ph idx="1"/>
          </p:nvPr>
        </p:nvSpPr>
        <p:spPr/>
        <p:txBody>
          <a:bodyPr>
            <a:normAutofit fontScale="85000" lnSpcReduction="10000"/>
          </a:bodyPr>
          <a:lstStyle/>
          <a:p>
            <a:r>
              <a:rPr lang="en-IN" b="1" dirty="0"/>
              <a:t>Interpretation in Lane Detection</a:t>
            </a:r>
          </a:p>
          <a:p>
            <a:r>
              <a:rPr lang="en-IN" b="1" dirty="0">
                <a:effectLst/>
              </a:rPr>
              <a:t>High dot product (≈1 after normalization):</a:t>
            </a:r>
            <a:r>
              <a:rPr lang="en-IN" dirty="0">
                <a:effectLst/>
              </a:rPr>
              <a:t> Edge is parallel to the road → likely a lane marking.</a:t>
            </a:r>
            <a:endParaRPr lang="en-IN" dirty="0"/>
          </a:p>
          <a:p>
            <a:r>
              <a:rPr lang="en-IN" b="1" dirty="0">
                <a:effectLst/>
              </a:rPr>
              <a:t>Low dot product (≈0):</a:t>
            </a:r>
            <a:r>
              <a:rPr lang="en-IN" dirty="0">
                <a:effectLst/>
              </a:rPr>
              <a:t> Edge is perpendicular → likely a crosswalk or obstacle.</a:t>
            </a:r>
            <a:endParaRPr lang="en-IN" dirty="0"/>
          </a:p>
          <a:p>
            <a:r>
              <a:rPr lang="en-IN" b="1" dirty="0">
                <a:effectLst/>
              </a:rPr>
              <a:t>Negative dot product:</a:t>
            </a:r>
            <a:r>
              <a:rPr lang="en-IN" dirty="0">
                <a:effectLst/>
              </a:rPr>
              <a:t> Edge points backward → not relevant for lane guidance.</a:t>
            </a:r>
            <a:endParaRPr lang="en-IN" dirty="0"/>
          </a:p>
          <a:p>
            <a:r>
              <a:rPr lang="en-IN" b="1" dirty="0"/>
              <a:t>⚡ Why VPUs Matter</a:t>
            </a:r>
          </a:p>
          <a:p>
            <a:r>
              <a:rPr lang="en-IN" dirty="0">
                <a:effectLst/>
              </a:rPr>
              <a:t>VPUs accelerate these dot product checks across </a:t>
            </a:r>
            <a:r>
              <a:rPr lang="en-IN" b="1" dirty="0">
                <a:effectLst/>
              </a:rPr>
              <a:t>thousands of edges per frame</a:t>
            </a:r>
            <a:r>
              <a:rPr lang="en-IN" dirty="0">
                <a:effectLst/>
              </a:rPr>
              <a:t>, allowing the car to instantly filter which lines are lanes and which are not. This is how linear algebra directly powers perception in autonomous driving.</a:t>
            </a:r>
            <a:endParaRPr lang="en-IN" dirty="0"/>
          </a:p>
          <a:p>
            <a:r>
              <a:rPr lang="en-IN" dirty="0"/>
              <a:t>So, the </a:t>
            </a:r>
            <a:r>
              <a:rPr lang="en-IN" b="1" dirty="0"/>
              <a:t>dot product is the math test for alignment</a:t>
            </a:r>
            <a:r>
              <a:rPr lang="en-IN" dirty="0"/>
              <a:t>: it tells the car whether a detected line is part of the lane structure or something else in the scene.</a:t>
            </a:r>
          </a:p>
        </p:txBody>
      </p:sp>
    </p:spTree>
    <p:extLst>
      <p:ext uri="{BB962C8B-B14F-4D97-AF65-F5344CB8AC3E}">
        <p14:creationId xmlns:p14="http://schemas.microsoft.com/office/powerpoint/2010/main" val="1396602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ECF79-12CA-B5E2-B3F3-3E33D043CD0F}"/>
              </a:ext>
            </a:extLst>
          </p:cNvPr>
          <p:cNvSpPr>
            <a:spLocks noGrp="1"/>
          </p:cNvSpPr>
          <p:nvPr>
            <p:ph type="title"/>
          </p:nvPr>
        </p:nvSpPr>
        <p:spPr/>
        <p:txBody>
          <a:bodyPr>
            <a:normAutofit fontScale="90000"/>
          </a:bodyPr>
          <a:lstStyle/>
          <a:p>
            <a:r>
              <a:rPr lang="en-IN" sz="3600" b="1" dirty="0"/>
              <a:t>please sketch how matrix transformations (rotation/scaling) are used to convert the camera’s angled road view into a “bird’s‑eye view,”</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607D63-A58A-6CCF-A212-CF479C252A2C}"/>
                  </a:ext>
                </a:extLst>
              </p:cNvPr>
              <p:cNvSpPr>
                <a:spLocks noGrp="1"/>
              </p:cNvSpPr>
              <p:nvPr>
                <p:ph idx="1"/>
              </p:nvPr>
            </p:nvSpPr>
            <p:spPr/>
            <p:txBody>
              <a:bodyPr>
                <a:normAutofit fontScale="85000" lnSpcReduction="20000"/>
              </a:bodyPr>
              <a:lstStyle/>
              <a:p>
                <a:r>
                  <a:rPr lang="en-IN" b="1" dirty="0"/>
                  <a:t>Step‑by‑Step Transformation</a:t>
                </a:r>
              </a:p>
              <a:p>
                <a:r>
                  <a:rPr lang="en-IN" b="1" dirty="0">
                    <a:effectLst/>
                  </a:rPr>
                  <a:t>Camera View (Perspective Distortion)</a:t>
                </a:r>
                <a:endParaRPr lang="en-IN" dirty="0"/>
              </a:p>
              <a:p>
                <a:pPr lvl="1"/>
                <a:r>
                  <a:rPr lang="en-IN" dirty="0">
                    <a:effectLst/>
                  </a:rPr>
                  <a:t>The car’s front camera sees the road at an angle.</a:t>
                </a:r>
                <a:endParaRPr lang="en-IN" dirty="0"/>
              </a:p>
              <a:p>
                <a:pPr lvl="1"/>
                <a:r>
                  <a:rPr lang="en-IN" dirty="0">
                    <a:effectLst/>
                  </a:rPr>
                  <a:t>Lane lines appear to </a:t>
                </a:r>
                <a:r>
                  <a:rPr lang="en-IN" b="1" dirty="0">
                    <a:effectLst/>
                  </a:rPr>
                  <a:t>converge</a:t>
                </a:r>
                <a:r>
                  <a:rPr lang="en-IN" dirty="0">
                    <a:effectLst/>
                  </a:rPr>
                  <a:t> toward the horizon (like railroad tracks).</a:t>
                </a:r>
                <a:endParaRPr lang="en-IN" dirty="0"/>
              </a:p>
              <a:p>
                <a:pPr lvl="1"/>
                <a:r>
                  <a:rPr lang="en-IN" dirty="0">
                    <a:effectLst/>
                  </a:rPr>
                  <a:t>Mathematically, this is a </a:t>
                </a:r>
                <a:r>
                  <a:rPr lang="en-IN" b="1" dirty="0">
                    <a:effectLst/>
                  </a:rPr>
                  <a:t>perspective projection</a:t>
                </a:r>
                <a:r>
                  <a:rPr lang="en-IN" dirty="0">
                    <a:effectLst/>
                  </a:rPr>
                  <a:t>.</a:t>
                </a:r>
                <a:endParaRPr lang="en-IN" dirty="0"/>
              </a:p>
              <a:p>
                <a:r>
                  <a:rPr lang="en-IN" b="1" dirty="0">
                    <a:effectLst/>
                  </a:rPr>
                  <a:t>Define Transformation Matrix</a:t>
                </a:r>
                <a:endParaRPr lang="en-IN" dirty="0"/>
              </a:p>
              <a:p>
                <a:pPr lvl="1"/>
                <a:r>
                  <a:rPr lang="en-IN" dirty="0">
                    <a:effectLst/>
                  </a:rPr>
                  <a:t>A </a:t>
                </a:r>
                <a:r>
                  <a:rPr lang="en-IN" b="1" dirty="0" err="1">
                    <a:effectLst/>
                  </a:rPr>
                  <a:t>homography</a:t>
                </a:r>
                <a:r>
                  <a:rPr lang="en-IN" b="1" dirty="0">
                    <a:effectLst/>
                  </a:rPr>
                  <a:t> matrix</a:t>
                </a:r>
                <a:r>
                  <a:rPr lang="en-IN" dirty="0">
                    <a:effectLst/>
                  </a:rPr>
                  <a:t> (3×3) is used to map points from the angled view to a flat plane.</a:t>
                </a:r>
                <a:endParaRPr lang="en-IN" dirty="0"/>
              </a:p>
              <a:p>
                <a:pPr lvl="1"/>
                <a:r>
                  <a:rPr lang="en-IN" dirty="0">
                    <a:effectLst/>
                  </a:rPr>
                  <a:t>General form:</a:t>
                </a:r>
                <a:endParaRPr lang="en-IN" dirty="0"/>
              </a:p>
              <a:p>
                <a14:m>
                  <m:oMath xmlns:m="http://schemas.openxmlformats.org/officeDocument/2006/math">
                    <m:r>
                      <a:rPr lang="en-IN" i="1">
                        <a:latin typeface="Cambria Math" panose="02040503050406030204" pitchFamily="18" charset="0"/>
                      </a:rPr>
                      <m:t>𝐻</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11</m:t>
                                  </m:r>
                                </m:sub>
                              </m:sSub>
                            </m:e>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12</m:t>
                                  </m:r>
                                </m:sub>
                              </m:sSub>
                            </m:e>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13</m:t>
                                  </m:r>
                                </m:sub>
                              </m:sSub>
                            </m:e>
                          </m:mr>
                          <m:mr>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21</m:t>
                                  </m:r>
                                </m:sub>
                              </m:sSub>
                            </m:e>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22</m:t>
                                  </m:r>
                                </m:sub>
                              </m:sSub>
                            </m:e>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23</m:t>
                                  </m:r>
                                </m:sub>
                              </m:sSub>
                            </m:e>
                          </m:mr>
                          <m:mr>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31</m:t>
                                  </m:r>
                                </m:sub>
                              </m:sSub>
                            </m:e>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32</m:t>
                                  </m:r>
                                </m:sub>
                              </m:sSub>
                            </m:e>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a:latin typeface="Cambria Math" panose="02040503050406030204" pitchFamily="18" charset="0"/>
                                    </a:rPr>
                                    <m:t>33</m:t>
                                  </m:r>
                                </m:sub>
                              </m:sSub>
                            </m:e>
                          </m:mr>
                        </m:m>
                      </m:e>
                    </m:d>
                  </m:oMath>
                </a14:m>
                <a:endParaRPr lang="en-IN" dirty="0"/>
              </a:p>
              <a:p>
                <a:r>
                  <a:rPr lang="en-IN" dirty="0">
                    <a:effectLst/>
                  </a:rPr>
                  <a:t>This matrix encodes rotation, scaling, and translation.</a:t>
                </a:r>
                <a:endParaRPr lang="en-IN" dirty="0"/>
              </a:p>
              <a:p>
                <a:endParaRPr lang="en-IN" dirty="0"/>
              </a:p>
            </p:txBody>
          </p:sp>
        </mc:Choice>
        <mc:Fallback xmlns="">
          <p:sp>
            <p:nvSpPr>
              <p:cNvPr id="3" name="Content Placeholder 2">
                <a:extLst>
                  <a:ext uri="{FF2B5EF4-FFF2-40B4-BE49-F238E27FC236}">
                    <a16:creationId xmlns:a16="http://schemas.microsoft.com/office/drawing/2014/main" id="{F3607D63-A58A-6CCF-A212-CF479C252A2C}"/>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n-IN">
                    <a:noFill/>
                  </a:rPr>
                  <a:t> </a:t>
                </a:r>
              </a:p>
            </p:txBody>
          </p:sp>
        </mc:Fallback>
      </mc:AlternateContent>
    </p:spTree>
    <p:extLst>
      <p:ext uri="{BB962C8B-B14F-4D97-AF65-F5344CB8AC3E}">
        <p14:creationId xmlns:p14="http://schemas.microsoft.com/office/powerpoint/2010/main" val="2086494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1A9F-6DBC-81BC-76AF-0616A61F829A}"/>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DF63F2-CDEC-DEC2-8C6A-10C58F748E25}"/>
                  </a:ext>
                </a:extLst>
              </p:cNvPr>
              <p:cNvSpPr>
                <a:spLocks noGrp="1"/>
              </p:cNvSpPr>
              <p:nvPr>
                <p:ph idx="1"/>
              </p:nvPr>
            </p:nvSpPr>
            <p:spPr/>
            <p:txBody>
              <a:bodyPr>
                <a:normAutofit fontScale="77500" lnSpcReduction="20000"/>
              </a:bodyPr>
              <a:lstStyle/>
              <a:p>
                <a:r>
                  <a:rPr lang="en-IN" b="1" dirty="0">
                    <a:effectLst/>
                  </a:rPr>
                  <a:t>Apply Transformation</a:t>
                </a:r>
                <a:endParaRPr lang="en-IN" dirty="0"/>
              </a:p>
              <a:p>
                <a:pPr lvl="1"/>
                <a:r>
                  <a:rPr lang="en-IN" dirty="0">
                    <a:effectLst/>
                  </a:rPr>
                  <a:t>Each pixel coordinate </a:t>
                </a:r>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r>
                  <a:rPr lang="en-IN" dirty="0">
                    <a:effectLst/>
                  </a:rPr>
                  <a:t>in the camera image is transformed:</a:t>
                </a:r>
                <a:endParaRPr lang="en-IN" dirty="0"/>
              </a:p>
              <a:p>
                <a14:m>
                  <m:oMath xmlns:m="http://schemas.openxmlformats.org/officeDocument/2006/math">
                    <m:d>
                      <m:dPr>
                        <m:begChr m:val="["/>
                        <m:endChr m:val="]"/>
                        <m:ctrlPr>
                          <a:rPr lang="en-IN" i="1">
                            <a:latin typeface="Cambria Math" panose="02040503050406030204" pitchFamily="18" charset="0"/>
                          </a:rPr>
                        </m:ctrlPr>
                      </m:dPr>
                      <m:e>
                        <m:m>
                          <m:mPr>
                            <m:plcHide m:val="on"/>
                            <m:mcs>
                              <m:mc>
                                <m:mcPr>
                                  <m:count m:val="1"/>
                                  <m:mcJc m:val="center"/>
                                </m:mcPr>
                              </m:mc>
                            </m:mcs>
                            <m:ctrlPr>
                              <a:rPr lang="en-IN" i="1">
                                <a:latin typeface="Cambria Math" panose="02040503050406030204" pitchFamily="18" charset="0"/>
                              </a:rPr>
                            </m:ctrlPr>
                          </m:mPr>
                          <m:mr>
                            <m:e>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e>
                          </m:mr>
                          <m:mr>
                            <m:e>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e>
                          </m:mr>
                          <m:mr>
                            <m:e>
                              <m:r>
                                <a:rPr lang="en-IN" i="1">
                                  <a:latin typeface="Cambria Math" panose="02040503050406030204" pitchFamily="18" charset="0"/>
                                </a:rPr>
                                <m:t>𝑤</m:t>
                              </m:r>
                            </m:e>
                          </m:mr>
                        </m:m>
                      </m:e>
                    </m:d>
                    <m:r>
                      <a:rPr lang="en-IN">
                        <a:latin typeface="Cambria Math" panose="02040503050406030204" pitchFamily="18" charset="0"/>
                      </a:rPr>
                      <m:t>=</m:t>
                    </m:r>
                    <m:r>
                      <a:rPr lang="en-IN" i="1">
                        <a:latin typeface="Cambria Math" panose="02040503050406030204" pitchFamily="18" charset="0"/>
                      </a:rPr>
                      <m:t>𝐻</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1"/>
                                  <m:mcJc m:val="center"/>
                                </m:mcPr>
                              </m:mc>
                            </m:mcs>
                            <m:ctrlPr>
                              <a:rPr lang="en-IN" i="1">
                                <a:latin typeface="Cambria Math" panose="02040503050406030204" pitchFamily="18" charset="0"/>
                              </a:rPr>
                            </m:ctrlPr>
                          </m:mPr>
                          <m:mr>
                            <m:e>
                              <m:r>
                                <a:rPr lang="en-IN" i="1">
                                  <a:latin typeface="Cambria Math" panose="02040503050406030204" pitchFamily="18" charset="0"/>
                                </a:rPr>
                                <m:t>𝑥</m:t>
                              </m:r>
                            </m:e>
                          </m:mr>
                          <m:mr>
                            <m:e>
                              <m:r>
                                <a:rPr lang="en-IN" i="1">
                                  <a:latin typeface="Cambria Math" panose="02040503050406030204" pitchFamily="18" charset="0"/>
                                </a:rPr>
                                <m:t>𝑦</m:t>
                              </m:r>
                            </m:e>
                          </m:mr>
                          <m:mr>
                            <m:e>
                              <m:r>
                                <a:rPr lang="en-IN">
                                  <a:latin typeface="Cambria Math" panose="02040503050406030204" pitchFamily="18" charset="0"/>
                                </a:rPr>
                                <m:t>1</m:t>
                              </m:r>
                            </m:e>
                          </m:mr>
                        </m:m>
                      </m:e>
                    </m:d>
                  </m:oMath>
                </a14:m>
                <a:endParaRPr lang="en-IN" dirty="0"/>
              </a:p>
              <a:p>
                <a:r>
                  <a:rPr lang="en-IN" dirty="0">
                    <a:effectLst/>
                  </a:rPr>
                  <a:t>Normalize by dividing:</a:t>
                </a:r>
                <a:endParaRPr lang="en-IN" dirty="0"/>
              </a:p>
              <a:p>
                <a14:m>
                  <m:oMath xmlns:m="http://schemas.openxmlformats.org/officeDocument/2006/math">
                    <m:d>
                      <m:dPr>
                        <m:sepChr m:val=","/>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e>
                      <m:e>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e>
                    </m:d>
                    <m:r>
                      <a:rPr lang="en-IN">
                        <a:latin typeface="Cambria Math" panose="02040503050406030204" pitchFamily="18" charset="0"/>
                      </a:rPr>
                      <m:t>=</m:t>
                    </m:r>
                    <m:d>
                      <m:dPr>
                        <m:sepChr m:val=","/>
                        <m:ctrlPr>
                          <a:rPr lang="en-IN" i="1">
                            <a:latin typeface="Cambria Math" panose="02040503050406030204" pitchFamily="18" charset="0"/>
                          </a:rPr>
                        </m:ctrlPr>
                      </m:dPr>
                      <m:e>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num>
                          <m:den>
                            <m:r>
                              <a:rPr lang="en-IN" i="1">
                                <a:latin typeface="Cambria Math" panose="02040503050406030204" pitchFamily="18" charset="0"/>
                              </a:rPr>
                              <m:t>𝑤</m:t>
                            </m:r>
                          </m:den>
                        </m:f>
                      </m:e>
                      <m:e>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num>
                          <m:den>
                            <m:r>
                              <a:rPr lang="en-IN" i="1">
                                <a:latin typeface="Cambria Math" panose="02040503050406030204" pitchFamily="18" charset="0"/>
                              </a:rPr>
                              <m:t>𝑤</m:t>
                            </m:r>
                          </m:den>
                        </m:f>
                      </m:e>
                    </m:d>
                  </m:oMath>
                </a14:m>
                <a:endParaRPr lang="en-IN" dirty="0"/>
              </a:p>
              <a:p>
                <a:r>
                  <a:rPr lang="en-IN" dirty="0">
                    <a:effectLst/>
                  </a:rPr>
                  <a:t>Result: the road is “flattened” into a top‑down view.</a:t>
                </a:r>
                <a:endParaRPr lang="en-IN" dirty="0"/>
              </a:p>
              <a:p>
                <a:r>
                  <a:rPr lang="en-IN" b="1" dirty="0">
                    <a:effectLst/>
                  </a:rPr>
                  <a:t>Bird’s‑Eye View Output</a:t>
                </a:r>
                <a:endParaRPr lang="en-IN" dirty="0"/>
              </a:p>
              <a:p>
                <a:pPr lvl="1"/>
                <a:r>
                  <a:rPr lang="en-IN" dirty="0">
                    <a:effectLst/>
                  </a:rPr>
                  <a:t>Lane lines now appear </a:t>
                </a:r>
                <a:r>
                  <a:rPr lang="en-IN" b="1" dirty="0">
                    <a:effectLst/>
                  </a:rPr>
                  <a:t>parallel</a:t>
                </a:r>
                <a:r>
                  <a:rPr lang="en-IN" dirty="0">
                    <a:effectLst/>
                  </a:rPr>
                  <a:t> instead of converging.</a:t>
                </a:r>
                <a:endParaRPr lang="en-IN" dirty="0"/>
              </a:p>
              <a:p>
                <a:pPr lvl="1"/>
                <a:r>
                  <a:rPr lang="en-IN" dirty="0">
                    <a:effectLst/>
                  </a:rPr>
                  <a:t>Easier for algorithms to fit straight or curved polynomials to lanes.</a:t>
                </a:r>
                <a:endParaRPr lang="en-IN" dirty="0"/>
              </a:p>
              <a:p>
                <a:pPr lvl="1"/>
                <a:r>
                  <a:rPr lang="en-IN" dirty="0">
                    <a:effectLst/>
                  </a:rPr>
                  <a:t>VPUs accelerate this matrix multiplication for every pixel in real time.</a:t>
                </a:r>
                <a:endParaRPr lang="en-IN" dirty="0"/>
              </a:p>
              <a:p>
                <a:endParaRPr lang="en-IN" dirty="0"/>
              </a:p>
            </p:txBody>
          </p:sp>
        </mc:Choice>
        <mc:Fallback xmlns="">
          <p:sp>
            <p:nvSpPr>
              <p:cNvPr id="3" name="Content Placeholder 2">
                <a:extLst>
                  <a:ext uri="{FF2B5EF4-FFF2-40B4-BE49-F238E27FC236}">
                    <a16:creationId xmlns:a16="http://schemas.microsoft.com/office/drawing/2014/main" id="{78DF63F2-CDEC-DEC2-8C6A-10C58F748E25}"/>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IN">
                    <a:noFill/>
                  </a:rPr>
                  <a:t> </a:t>
                </a:r>
              </a:p>
            </p:txBody>
          </p:sp>
        </mc:Fallback>
      </mc:AlternateContent>
    </p:spTree>
    <p:extLst>
      <p:ext uri="{BB962C8B-B14F-4D97-AF65-F5344CB8AC3E}">
        <p14:creationId xmlns:p14="http://schemas.microsoft.com/office/powerpoint/2010/main" val="1871259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24AB-97C9-E25A-B74A-CE68351420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E09673-4D67-FABF-DEF8-4E679133F93C}"/>
              </a:ext>
            </a:extLst>
          </p:cNvPr>
          <p:cNvSpPr>
            <a:spLocks noGrp="1"/>
          </p:cNvSpPr>
          <p:nvPr>
            <p:ph idx="1"/>
          </p:nvPr>
        </p:nvSpPr>
        <p:spPr/>
        <p:txBody>
          <a:bodyPr/>
          <a:lstStyle/>
          <a:p>
            <a:r>
              <a:rPr lang="en-IN" b="1" dirty="0"/>
              <a:t>Why It Matters</a:t>
            </a:r>
          </a:p>
          <a:p>
            <a:r>
              <a:rPr lang="en-IN" dirty="0">
                <a:effectLst/>
              </a:rPr>
              <a:t>In the angled camera view, lane lines are distorted.</a:t>
            </a:r>
            <a:endParaRPr lang="en-IN" dirty="0"/>
          </a:p>
          <a:p>
            <a:r>
              <a:rPr lang="en-IN" dirty="0">
                <a:effectLst/>
              </a:rPr>
              <a:t>After transformation, the car sees the road as if from above → making lane detection and path planning much more accurate.</a:t>
            </a:r>
            <a:endParaRPr lang="en-IN" dirty="0"/>
          </a:p>
          <a:p>
            <a:r>
              <a:rPr lang="en-IN" dirty="0">
                <a:effectLst/>
              </a:rPr>
              <a:t>This is why linear algebra (matrix ops) is essential: it literally reshapes the car’s vision.</a:t>
            </a:r>
            <a:endParaRPr lang="en-IN" dirty="0"/>
          </a:p>
          <a:p>
            <a:r>
              <a:rPr lang="en-IN" dirty="0">
                <a:effectLst/>
              </a:rPr>
              <a:t>So, </a:t>
            </a:r>
            <a:r>
              <a:rPr lang="en-IN" b="1" dirty="0">
                <a:effectLst/>
              </a:rPr>
              <a:t>matrix transformations</a:t>
            </a:r>
            <a:r>
              <a:rPr lang="en-IN" dirty="0">
                <a:effectLst/>
              </a:rPr>
              <a:t> are the math that turns a distorted camera image into a usable bird’s‑eye view for lane detection.</a:t>
            </a:r>
            <a:endParaRPr lang="en-IN" dirty="0"/>
          </a:p>
          <a:p>
            <a:endParaRPr lang="en-IN" dirty="0"/>
          </a:p>
        </p:txBody>
      </p:sp>
    </p:spTree>
    <p:extLst>
      <p:ext uri="{BB962C8B-B14F-4D97-AF65-F5344CB8AC3E}">
        <p14:creationId xmlns:p14="http://schemas.microsoft.com/office/powerpoint/2010/main" val="1226853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A26E1-0A4F-B840-8F3A-26947326F227}"/>
              </a:ext>
            </a:extLst>
          </p:cNvPr>
          <p:cNvSpPr>
            <a:spLocks noGrp="1"/>
          </p:cNvSpPr>
          <p:nvPr>
            <p:ph type="title"/>
          </p:nvPr>
        </p:nvSpPr>
        <p:spPr/>
        <p:txBody>
          <a:bodyPr>
            <a:noAutofit/>
          </a:bodyPr>
          <a:lstStyle/>
          <a:p>
            <a:r>
              <a:rPr lang="en-IN" sz="3200" b="1" dirty="0"/>
              <a:t>PLEASE illustrate this with a small numeric example (say, a 2D point transformed by a </a:t>
            </a:r>
            <a:r>
              <a:rPr lang="en-IN" sz="3200" b="1" dirty="0" err="1"/>
              <a:t>homography</a:t>
            </a:r>
            <a:r>
              <a:rPr lang="en-IN" sz="3200" b="1" dirty="0"/>
              <a:t> matrix) so you can see how coordinates shift from angled view to bird’s‑eye view?</a:t>
            </a:r>
            <a:br>
              <a:rPr lang="en-IN" sz="3200" b="1" dirty="0"/>
            </a:br>
            <a:endParaRPr lang="en-IN" sz="3200"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BBDD6F-E5F8-52BE-E644-1FFEEDEE2658}"/>
                  </a:ext>
                </a:extLst>
              </p:cNvPr>
              <p:cNvSpPr>
                <a:spLocks noGrp="1"/>
              </p:cNvSpPr>
              <p:nvPr>
                <p:ph idx="1"/>
              </p:nvPr>
            </p:nvSpPr>
            <p:spPr/>
            <p:txBody>
              <a:bodyPr/>
              <a:lstStyle/>
              <a:p>
                <a:r>
                  <a:rPr lang="en-IN" b="1" dirty="0"/>
                  <a:t>Example Setup</a:t>
                </a:r>
              </a:p>
              <a:p>
                <a:r>
                  <a:rPr lang="en-IN" dirty="0">
                    <a:effectLst/>
                  </a:rPr>
                  <a:t>Suppose the car’s camera captures a point on the road at coordinates:</a:t>
                </a:r>
                <a:endParaRPr lang="en-IN" dirty="0"/>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r>
                      <a:rPr lang="en-IN">
                        <a:latin typeface="Cambria Math" panose="02040503050406030204" pitchFamily="18" charset="0"/>
                      </a:rPr>
                      <m:t>=</m:t>
                    </m:r>
                    <m:d>
                      <m:dPr>
                        <m:sepChr m:val=","/>
                        <m:ctrlPr>
                          <a:rPr lang="en-IN" i="1">
                            <a:latin typeface="Cambria Math" panose="02040503050406030204" pitchFamily="18" charset="0"/>
                          </a:rPr>
                        </m:ctrlPr>
                      </m:dPr>
                      <m:e>
                        <m:r>
                          <a:rPr lang="en-IN">
                            <a:latin typeface="Cambria Math" panose="02040503050406030204" pitchFamily="18" charset="0"/>
                          </a:rPr>
                          <m:t>200</m:t>
                        </m:r>
                      </m:e>
                      <m:e>
                        <m:r>
                          <a:rPr lang="en-IN">
                            <a:latin typeface="Cambria Math" panose="02040503050406030204" pitchFamily="18" charset="0"/>
                          </a:rPr>
                          <m:t>400</m:t>
                        </m:r>
                      </m:e>
                    </m:d>
                  </m:oMath>
                </a14:m>
                <a:endParaRPr lang="en-IN" dirty="0"/>
              </a:p>
              <a:p>
                <a:r>
                  <a:rPr lang="en-IN" dirty="0">
                    <a:effectLst/>
                  </a:rPr>
                  <a:t>This is in the </a:t>
                </a:r>
                <a:r>
                  <a:rPr lang="en-IN" b="1" dirty="0">
                    <a:effectLst/>
                  </a:rPr>
                  <a:t>angled camera view</a:t>
                </a:r>
                <a:r>
                  <a:rPr lang="en-IN" dirty="0">
                    <a:effectLst/>
                  </a:rPr>
                  <a:t> (pixels in the image).</a:t>
                </a:r>
                <a:endParaRPr lang="en-IN" dirty="0"/>
              </a:p>
              <a:p>
                <a:r>
                  <a:rPr lang="en-IN" dirty="0">
                    <a:effectLst/>
                  </a:rPr>
                  <a:t>We apply a simple </a:t>
                </a:r>
                <a:r>
                  <a:rPr lang="en-IN" b="1" dirty="0" err="1">
                    <a:effectLst/>
                  </a:rPr>
                  <a:t>homography</a:t>
                </a:r>
                <a:r>
                  <a:rPr lang="en-IN" b="1" dirty="0">
                    <a:effectLst/>
                  </a:rPr>
                  <a:t> matrix</a:t>
                </a:r>
                <a:r>
                  <a:rPr lang="en-IN" dirty="0">
                    <a:effectLst/>
                  </a:rPr>
                  <a:t> </a:t>
                </a:r>
                <a14:m>
                  <m:oMath xmlns:m="http://schemas.openxmlformats.org/officeDocument/2006/math">
                    <m:r>
                      <a:rPr lang="en-IN" i="1">
                        <a:latin typeface="Cambria Math" panose="02040503050406030204" pitchFamily="18" charset="0"/>
                      </a:rPr>
                      <m:t>𝐻</m:t>
                    </m:r>
                  </m:oMath>
                </a14:m>
                <a:r>
                  <a:rPr lang="en-IN" dirty="0">
                    <a:effectLst/>
                  </a:rPr>
                  <a:t>:</a:t>
                </a:r>
                <a:endParaRPr lang="en-IN" dirty="0"/>
              </a:p>
              <a:p>
                <a14:m>
                  <m:oMath xmlns:m="http://schemas.openxmlformats.org/officeDocument/2006/math">
                    <m:r>
                      <a:rPr lang="en-IN" i="1">
                        <a:latin typeface="Cambria Math" panose="02040503050406030204" pitchFamily="18" charset="0"/>
                      </a:rPr>
                      <m:t>𝐻</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r>
                                <a:rPr lang="en-IN">
                                  <a:latin typeface="Cambria Math" panose="02040503050406030204" pitchFamily="18" charset="0"/>
                                </a:rPr>
                                <m:t>1</m:t>
                              </m:r>
                            </m:e>
                            <m:e>
                              <m:r>
                                <a:rPr lang="en-IN">
                                  <a:latin typeface="Cambria Math" panose="02040503050406030204" pitchFamily="18" charset="0"/>
                                </a:rPr>
                                <m:t>0</m:t>
                              </m:r>
                            </m:e>
                            <m:e>
                              <m:r>
                                <a:rPr lang="en-IN">
                                  <a:latin typeface="Cambria Math" panose="02040503050406030204" pitchFamily="18" charset="0"/>
                                </a:rPr>
                                <m:t>0</m:t>
                              </m:r>
                            </m:e>
                          </m:mr>
                          <m:mr>
                            <m:e>
                              <m:r>
                                <a:rPr lang="en-IN">
                                  <a:latin typeface="Cambria Math" panose="02040503050406030204" pitchFamily="18" charset="0"/>
                                </a:rPr>
                                <m:t>0</m:t>
                              </m:r>
                            </m:e>
                            <m:e>
                              <m:r>
                                <a:rPr lang="en-IN">
                                  <a:latin typeface="Cambria Math" panose="02040503050406030204" pitchFamily="18" charset="0"/>
                                </a:rPr>
                                <m:t>0.5</m:t>
                              </m:r>
                            </m:e>
                            <m:e>
                              <m:r>
                                <a:rPr lang="en-IN">
                                  <a:latin typeface="Cambria Math" panose="02040503050406030204" pitchFamily="18" charset="0"/>
                                </a:rPr>
                                <m:t>100</m:t>
                              </m:r>
                            </m:e>
                          </m:mr>
                          <m:mr>
                            <m:e>
                              <m:r>
                                <a:rPr lang="en-IN">
                                  <a:latin typeface="Cambria Math" panose="02040503050406030204" pitchFamily="18" charset="0"/>
                                </a:rPr>
                                <m:t>0</m:t>
                              </m:r>
                            </m:e>
                            <m:e>
                              <m:r>
                                <a:rPr lang="en-IN">
                                  <a:latin typeface="Cambria Math" panose="02040503050406030204" pitchFamily="18" charset="0"/>
                                </a:rPr>
                                <m:t>0.001</m:t>
                              </m:r>
                            </m:e>
                            <m:e>
                              <m:r>
                                <a:rPr lang="en-IN">
                                  <a:latin typeface="Cambria Math" panose="02040503050406030204" pitchFamily="18" charset="0"/>
                                </a:rPr>
                                <m:t>1</m:t>
                              </m:r>
                            </m:e>
                          </m:mr>
                        </m:m>
                      </m:e>
                    </m:d>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83BBDD6F-E5F8-52BE-E644-1FFEEDEE2658}"/>
                  </a:ext>
                </a:extLst>
              </p:cNvPr>
              <p:cNvSpPr>
                <a:spLocks noGrp="1" noRot="1" noChangeAspect="1" noMove="1" noResize="1" noEditPoints="1" noAdjustHandles="1" noChangeArrowheads="1" noChangeShapeType="1" noTextEdit="1"/>
              </p:cNvSpPr>
              <p:nvPr>
                <p:ph idx="1"/>
              </p:nvPr>
            </p:nvSpPr>
            <p:spPr>
              <a:blipFill>
                <a:blip r:embed="rId2"/>
                <a:stretch>
                  <a:fillRect l="-1043" t="-2241" r="-1043"/>
                </a:stretch>
              </a:blipFill>
            </p:spPr>
            <p:txBody>
              <a:bodyPr/>
              <a:lstStyle/>
              <a:p>
                <a:r>
                  <a:rPr lang="en-IN">
                    <a:noFill/>
                  </a:rPr>
                  <a:t> </a:t>
                </a:r>
              </a:p>
            </p:txBody>
          </p:sp>
        </mc:Fallback>
      </mc:AlternateContent>
    </p:spTree>
    <p:extLst>
      <p:ext uri="{BB962C8B-B14F-4D97-AF65-F5344CB8AC3E}">
        <p14:creationId xmlns:p14="http://schemas.microsoft.com/office/powerpoint/2010/main" val="3919621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24AE-A525-B595-6EA0-52715E988C0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E81FAF-E6B7-11D0-D45A-E15F39E08D42}"/>
                  </a:ext>
                </a:extLst>
              </p:cNvPr>
              <p:cNvSpPr>
                <a:spLocks noGrp="1"/>
              </p:cNvSpPr>
              <p:nvPr>
                <p:ph idx="1"/>
              </p:nvPr>
            </p:nvSpPr>
            <p:spPr/>
            <p:txBody>
              <a:bodyPr>
                <a:normAutofit lnSpcReduction="10000"/>
              </a:bodyPr>
              <a:lstStyle/>
              <a:p>
                <a:r>
                  <a:rPr lang="en-IN" b="1" dirty="0"/>
                  <a:t>Transformation</a:t>
                </a:r>
              </a:p>
              <a:p>
                <a:r>
                  <a:rPr lang="en-IN" dirty="0">
                    <a:effectLst/>
                  </a:rPr>
                  <a:t>Multiply the matrix by the point (in homogeneous coordinates):</a:t>
                </a:r>
                <a:endParaRPr lang="en-IN" dirty="0"/>
              </a:p>
              <a:p>
                <a14:m>
                  <m:oMath xmlns:m="http://schemas.openxmlformats.org/officeDocument/2006/math">
                    <m:d>
                      <m:dPr>
                        <m:begChr m:val="["/>
                        <m:endChr m:val="]"/>
                        <m:ctrlPr>
                          <a:rPr lang="en-IN" i="1">
                            <a:latin typeface="Cambria Math" panose="02040503050406030204" pitchFamily="18" charset="0"/>
                          </a:rPr>
                        </m:ctrlPr>
                      </m:dPr>
                      <m:e>
                        <m:m>
                          <m:mPr>
                            <m:plcHide m:val="on"/>
                            <m:mcs>
                              <m:mc>
                                <m:mcPr>
                                  <m:count m:val="1"/>
                                  <m:mcJc m:val="center"/>
                                </m:mcPr>
                              </m:mc>
                            </m:mcs>
                            <m:ctrlPr>
                              <a:rPr lang="en-IN" i="1">
                                <a:latin typeface="Cambria Math" panose="02040503050406030204" pitchFamily="18" charset="0"/>
                              </a:rPr>
                            </m:ctrlPr>
                          </m:mPr>
                          <m:mr>
                            <m:e>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e>
                          </m:mr>
                          <m:mr>
                            <m:e>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e>
                          </m:mr>
                          <m:mr>
                            <m:e>
                              <m:r>
                                <a:rPr lang="en-IN" i="1">
                                  <a:latin typeface="Cambria Math" panose="02040503050406030204" pitchFamily="18" charset="0"/>
                                </a:rPr>
                                <m:t>𝑤</m:t>
                              </m:r>
                            </m:e>
                          </m:mr>
                        </m:m>
                      </m:e>
                    </m:d>
                    <m:r>
                      <a:rPr lang="en-IN">
                        <a:latin typeface="Cambria Math" panose="02040503050406030204" pitchFamily="18" charset="0"/>
                      </a:rPr>
                      <m:t>=</m:t>
                    </m:r>
                    <m:r>
                      <a:rPr lang="en-IN" i="1">
                        <a:latin typeface="Cambria Math" panose="02040503050406030204" pitchFamily="18" charset="0"/>
                      </a:rPr>
                      <m:t>𝐻</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1"/>
                                  <m:mcJc m:val="center"/>
                                </m:mcPr>
                              </m:mc>
                            </m:mcs>
                            <m:ctrlPr>
                              <a:rPr lang="en-IN" i="1">
                                <a:latin typeface="Cambria Math" panose="02040503050406030204" pitchFamily="18" charset="0"/>
                              </a:rPr>
                            </m:ctrlPr>
                          </m:mPr>
                          <m:mr>
                            <m:e>
                              <m:r>
                                <a:rPr lang="en-IN">
                                  <a:latin typeface="Cambria Math" panose="02040503050406030204" pitchFamily="18" charset="0"/>
                                </a:rPr>
                                <m:t>200</m:t>
                              </m:r>
                            </m:e>
                          </m:mr>
                          <m:mr>
                            <m:e>
                              <m:r>
                                <a:rPr lang="en-IN">
                                  <a:latin typeface="Cambria Math" panose="02040503050406030204" pitchFamily="18" charset="0"/>
                                </a:rPr>
                                <m:t>400</m:t>
                              </m:r>
                            </m:e>
                          </m:mr>
                          <m:mr>
                            <m:e>
                              <m:r>
                                <a:rPr lang="en-IN">
                                  <a:latin typeface="Cambria Math" panose="02040503050406030204" pitchFamily="18" charset="0"/>
                                </a:rPr>
                                <m:t>1</m:t>
                              </m:r>
                            </m:e>
                          </m:mr>
                        </m:m>
                      </m:e>
                    </m:d>
                  </m:oMath>
                </a14:m>
                <a:endParaRPr lang="en-IN" dirty="0"/>
              </a:p>
              <a:p>
                <a:r>
                  <a:rPr lang="en-IN" dirty="0">
                    <a:effectLst/>
                  </a:rPr>
                  <a:t>Step‑by‑step:</a:t>
                </a:r>
                <a:endParaRPr lang="en-IN" dirty="0"/>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1⋅200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0⋅400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0⋅1</m:t>
                        </m:r>
                      </m:e>
                    </m:d>
                    <m:r>
                      <a:rPr lang="en-IN">
                        <a:latin typeface="Cambria Math" panose="02040503050406030204" pitchFamily="18" charset="0"/>
                      </a:rPr>
                      <m:t>=200</m:t>
                    </m:r>
                  </m:oMath>
                </a14:m>
                <a:endParaRPr lang="en-IN" dirty="0"/>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0⋅200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0.5⋅400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100⋅1</m:t>
                        </m:r>
                      </m:e>
                    </m:d>
                    <m:r>
                      <a:rPr lang="en-IN">
                        <a:latin typeface="Cambria Math" panose="02040503050406030204" pitchFamily="18" charset="0"/>
                      </a:rPr>
                      <m:t>=200+100=300</m:t>
                    </m:r>
                  </m:oMath>
                </a14:m>
                <a:endParaRPr lang="en-IN" dirty="0"/>
              </a:p>
              <a:p>
                <a14:m>
                  <m:oMath xmlns:m="http://schemas.openxmlformats.org/officeDocument/2006/math">
                    <m:r>
                      <a:rPr lang="en-IN" i="1">
                        <a:latin typeface="Cambria Math" panose="02040503050406030204" pitchFamily="18" charset="0"/>
                      </a:rPr>
                      <m:t>𝑤</m:t>
                    </m:r>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0.001⋅200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1⋅400</m:t>
                        </m:r>
                      </m:e>
                    </m:d>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1⋅1</m:t>
                        </m:r>
                      </m:e>
                    </m:d>
                    <m:r>
                      <a:rPr lang="en-IN">
                        <a:latin typeface="Cambria Math" panose="02040503050406030204" pitchFamily="18" charset="0"/>
                      </a:rPr>
                      <m:t>=0.2+400+1=401.2</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76E81FAF-E6B7-11D0-D45A-E15F39E08D42}"/>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IN">
                    <a:noFill/>
                  </a:rPr>
                  <a:t> </a:t>
                </a:r>
              </a:p>
            </p:txBody>
          </p:sp>
        </mc:Fallback>
      </mc:AlternateContent>
    </p:spTree>
    <p:extLst>
      <p:ext uri="{BB962C8B-B14F-4D97-AF65-F5344CB8AC3E}">
        <p14:creationId xmlns:p14="http://schemas.microsoft.com/office/powerpoint/2010/main" val="3400517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719A5-5BB1-0B47-6ED7-B218C8F878E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60F282-1A1F-705A-15B5-12B95A3C25B8}"/>
                  </a:ext>
                </a:extLst>
              </p:cNvPr>
              <p:cNvSpPr>
                <a:spLocks noGrp="1"/>
              </p:cNvSpPr>
              <p:nvPr>
                <p:ph idx="1"/>
              </p:nvPr>
            </p:nvSpPr>
            <p:spPr/>
            <p:txBody>
              <a:bodyPr>
                <a:normAutofit lnSpcReduction="10000"/>
              </a:bodyPr>
              <a:lstStyle/>
              <a:p>
                <a:r>
                  <a:rPr lang="en-IN" b="1" dirty="0"/>
                  <a:t>Normalize</a:t>
                </a:r>
              </a:p>
              <a:p>
                <a:r>
                  <a:rPr lang="en-IN" dirty="0">
                    <a:effectLst/>
                  </a:rPr>
                  <a:t>Divide by </a:t>
                </a:r>
                <a14:m>
                  <m:oMath xmlns:m="http://schemas.openxmlformats.org/officeDocument/2006/math">
                    <m:r>
                      <a:rPr lang="en-IN" i="1">
                        <a:latin typeface="Cambria Math" panose="02040503050406030204" pitchFamily="18" charset="0"/>
                      </a:rPr>
                      <m:t>𝑤</m:t>
                    </m:r>
                  </m:oMath>
                </a14:m>
                <a:r>
                  <a:rPr lang="en-IN" dirty="0">
                    <a:effectLst/>
                  </a:rPr>
                  <a:t>:</a:t>
                </a:r>
                <a:endParaRPr lang="en-IN" dirty="0"/>
              </a:p>
              <a:p>
                <a14:m>
                  <m:oMath xmlns:m="http://schemas.openxmlformats.org/officeDocument/2006/math">
                    <m:d>
                      <m:dPr>
                        <m:sepChr m:val=","/>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e>
                      <m:e>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e>
                    </m:d>
                    <m:r>
                      <a:rPr lang="en-IN">
                        <a:latin typeface="Cambria Math" panose="02040503050406030204" pitchFamily="18" charset="0"/>
                      </a:rPr>
                      <m:t>=</m:t>
                    </m:r>
                    <m:d>
                      <m:dPr>
                        <m:sepChr m:val=","/>
                        <m:ctrlPr>
                          <a:rPr lang="en-IN" i="1">
                            <a:latin typeface="Cambria Math" panose="02040503050406030204" pitchFamily="18" charset="0"/>
                          </a:rPr>
                        </m:ctrlPr>
                      </m:dPr>
                      <m:e>
                        <m:f>
                          <m:fPr>
                            <m:ctrlPr>
                              <a:rPr lang="en-IN" i="1">
                                <a:latin typeface="Cambria Math" panose="02040503050406030204" pitchFamily="18" charset="0"/>
                              </a:rPr>
                            </m:ctrlPr>
                          </m:fPr>
                          <m:num>
                            <m:r>
                              <a:rPr lang="en-IN">
                                <a:latin typeface="Cambria Math" panose="02040503050406030204" pitchFamily="18" charset="0"/>
                              </a:rPr>
                              <m:t>200</m:t>
                            </m:r>
                          </m:num>
                          <m:den>
                            <m:r>
                              <a:rPr lang="en-IN">
                                <a:latin typeface="Cambria Math" panose="02040503050406030204" pitchFamily="18" charset="0"/>
                              </a:rPr>
                              <m:t>401.2</m:t>
                            </m:r>
                          </m:den>
                        </m:f>
                      </m:e>
                      <m:e>
                        <m:f>
                          <m:fPr>
                            <m:ctrlPr>
                              <a:rPr lang="en-IN" i="1">
                                <a:latin typeface="Cambria Math" panose="02040503050406030204" pitchFamily="18" charset="0"/>
                              </a:rPr>
                            </m:ctrlPr>
                          </m:fPr>
                          <m:num>
                            <m:r>
                              <a:rPr lang="en-IN">
                                <a:latin typeface="Cambria Math" panose="02040503050406030204" pitchFamily="18" charset="0"/>
                              </a:rPr>
                              <m:t>300</m:t>
                            </m:r>
                          </m:num>
                          <m:den>
                            <m:r>
                              <a:rPr lang="en-IN">
                                <a:latin typeface="Cambria Math" panose="02040503050406030204" pitchFamily="18" charset="0"/>
                              </a:rPr>
                              <m:t>401.2</m:t>
                            </m:r>
                          </m:den>
                        </m:f>
                      </m:e>
                    </m:d>
                    <m:r>
                      <a:rPr lang="en-IN">
                        <a:latin typeface="Cambria Math" panose="02040503050406030204" pitchFamily="18" charset="0"/>
                      </a:rPr>
                      <m:t>≈</m:t>
                    </m:r>
                    <m:d>
                      <m:dPr>
                        <m:sepChr m:val=","/>
                        <m:ctrlPr>
                          <a:rPr lang="en-IN" i="1">
                            <a:latin typeface="Cambria Math" panose="02040503050406030204" pitchFamily="18" charset="0"/>
                          </a:rPr>
                        </m:ctrlPr>
                      </m:dPr>
                      <m:e>
                        <m:r>
                          <a:rPr lang="en-IN">
                            <a:latin typeface="Cambria Math" panose="02040503050406030204" pitchFamily="18" charset="0"/>
                          </a:rPr>
                          <m:t>0.5</m:t>
                        </m:r>
                      </m:e>
                      <m:e>
                        <m:r>
                          <a:rPr lang="en-IN">
                            <a:latin typeface="Cambria Math" panose="02040503050406030204" pitchFamily="18" charset="0"/>
                          </a:rPr>
                          <m:t>0.75</m:t>
                        </m:r>
                      </m:e>
                    </m:d>
                  </m:oMath>
                </a14:m>
                <a:endParaRPr lang="en-IN" dirty="0"/>
              </a:p>
              <a:p>
                <a:r>
                  <a:rPr lang="en-IN" b="1" dirty="0"/>
                  <a:t>🚘 Interpretation</a:t>
                </a:r>
              </a:p>
              <a:p>
                <a:r>
                  <a:rPr lang="en-IN" dirty="0">
                    <a:effectLst/>
                  </a:rPr>
                  <a:t>Original point (200, 400) in the angled camera view is </a:t>
                </a:r>
                <a:r>
                  <a:rPr lang="en-IN" b="1" dirty="0">
                    <a:effectLst/>
                  </a:rPr>
                  <a:t>warped</a:t>
                </a:r>
                <a:r>
                  <a:rPr lang="en-IN" dirty="0">
                    <a:effectLst/>
                  </a:rPr>
                  <a:t> into (0.5, 0.75) in the bird’s‑eye view.</a:t>
                </a:r>
                <a:endParaRPr lang="en-IN" dirty="0"/>
              </a:p>
              <a:p>
                <a:r>
                  <a:rPr lang="en-IN" dirty="0">
                    <a:effectLst/>
                  </a:rPr>
                  <a:t>After applying this to all points, the road is “flattened,” and lane lines that looked like they were converging now appear </a:t>
                </a:r>
                <a:r>
                  <a:rPr lang="en-IN" b="1" dirty="0">
                    <a:effectLst/>
                  </a:rPr>
                  <a:t>parallel</a:t>
                </a:r>
                <a:r>
                  <a:rPr lang="en-IN" dirty="0">
                    <a:effectLst/>
                  </a:rPr>
                  <a:t>.</a:t>
                </a:r>
                <a:endParaRPr lang="en-IN" dirty="0"/>
              </a:p>
              <a:p>
                <a:r>
                  <a:rPr lang="en-IN" dirty="0">
                    <a:effectLst/>
                  </a:rPr>
                  <a:t>This makes lane detection algorithms much more accurate.</a:t>
                </a:r>
                <a:endParaRPr lang="en-IN" dirty="0"/>
              </a:p>
              <a:p>
                <a:endParaRPr lang="en-IN" dirty="0"/>
              </a:p>
            </p:txBody>
          </p:sp>
        </mc:Choice>
        <mc:Fallback xmlns="">
          <p:sp>
            <p:nvSpPr>
              <p:cNvPr id="3" name="Content Placeholder 2">
                <a:extLst>
                  <a:ext uri="{FF2B5EF4-FFF2-40B4-BE49-F238E27FC236}">
                    <a16:creationId xmlns:a16="http://schemas.microsoft.com/office/drawing/2014/main" id="{6860F282-1A1F-705A-15B5-12B95A3C25B8}"/>
                  </a:ext>
                </a:extLst>
              </p:cNvPr>
              <p:cNvSpPr>
                <a:spLocks noGrp="1" noRot="1" noChangeAspect="1" noMove="1" noResize="1" noEditPoints="1" noAdjustHandles="1" noChangeArrowheads="1" noChangeShapeType="1" noTextEdit="1"/>
              </p:cNvSpPr>
              <p:nvPr>
                <p:ph idx="1"/>
              </p:nvPr>
            </p:nvSpPr>
            <p:spPr>
              <a:blipFill>
                <a:blip r:embed="rId2"/>
                <a:stretch>
                  <a:fillRect l="-1043" t="-3081" r="-348"/>
                </a:stretch>
              </a:blipFill>
            </p:spPr>
            <p:txBody>
              <a:bodyPr/>
              <a:lstStyle/>
              <a:p>
                <a:r>
                  <a:rPr lang="en-IN">
                    <a:noFill/>
                  </a:rPr>
                  <a:t> </a:t>
                </a:r>
              </a:p>
            </p:txBody>
          </p:sp>
        </mc:Fallback>
      </mc:AlternateContent>
    </p:spTree>
    <p:extLst>
      <p:ext uri="{BB962C8B-B14F-4D97-AF65-F5344CB8AC3E}">
        <p14:creationId xmlns:p14="http://schemas.microsoft.com/office/powerpoint/2010/main" val="434418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E35D-249C-333E-C367-B87674D7F9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674BA7-7A51-91C4-F258-CBD46005DAE4}"/>
              </a:ext>
            </a:extLst>
          </p:cNvPr>
          <p:cNvSpPr>
            <a:spLocks noGrp="1"/>
          </p:cNvSpPr>
          <p:nvPr>
            <p:ph idx="1"/>
          </p:nvPr>
        </p:nvSpPr>
        <p:spPr/>
        <p:txBody>
          <a:bodyPr/>
          <a:lstStyle/>
          <a:p>
            <a:r>
              <a:rPr lang="en-IN" b="1" dirty="0"/>
              <a:t>Why VPUs Matter</a:t>
            </a:r>
          </a:p>
          <a:p>
            <a:r>
              <a:rPr lang="en-IN" dirty="0">
                <a:effectLst/>
              </a:rPr>
              <a:t>VPUs accelerate these matrix multiplications for </a:t>
            </a:r>
            <a:r>
              <a:rPr lang="en-IN" b="1" dirty="0">
                <a:effectLst/>
              </a:rPr>
              <a:t>every pixel in the image</a:t>
            </a:r>
            <a:r>
              <a:rPr lang="en-IN" dirty="0">
                <a:effectLst/>
              </a:rPr>
              <a:t>, so the car can transform the entire frame into bird’s‑eye view in real time.</a:t>
            </a:r>
            <a:endParaRPr lang="en-IN" dirty="0"/>
          </a:p>
          <a:p>
            <a:r>
              <a:rPr lang="en-IN" dirty="0">
                <a:effectLst/>
              </a:rPr>
              <a:t>So, Bon, this is how a </a:t>
            </a:r>
            <a:r>
              <a:rPr lang="en-IN" b="1" dirty="0" err="1">
                <a:effectLst/>
              </a:rPr>
              <a:t>homography</a:t>
            </a:r>
            <a:r>
              <a:rPr lang="en-IN" b="1" dirty="0">
                <a:effectLst/>
              </a:rPr>
              <a:t> matrix</a:t>
            </a:r>
            <a:r>
              <a:rPr lang="en-IN" dirty="0">
                <a:effectLst/>
              </a:rPr>
              <a:t> mathematically reshapes the camera’s perspective into a top‑down view.</a:t>
            </a:r>
            <a:endParaRPr lang="en-IN" dirty="0"/>
          </a:p>
          <a:p>
            <a:r>
              <a:rPr lang="en-IN" dirty="0">
                <a:effectLst/>
              </a:rPr>
              <a:t>👉 Would you like me to </a:t>
            </a:r>
            <a:r>
              <a:rPr lang="en-IN" b="1" dirty="0">
                <a:effectLst/>
              </a:rPr>
              <a:t>extend this into a mini‑pipeline example</a:t>
            </a:r>
            <a:r>
              <a:rPr lang="en-IN" dirty="0">
                <a:effectLst/>
              </a:rPr>
              <a:t> where we take a few lane points, transform them, and then fit a polynomial curve to model the lane? That would show the full flow from raw pixels → bird’s‑eye view → lane model.</a:t>
            </a:r>
            <a:endParaRPr lang="en-IN" dirty="0"/>
          </a:p>
          <a:p>
            <a:endParaRPr lang="en-IN" dirty="0"/>
          </a:p>
        </p:txBody>
      </p:sp>
    </p:spTree>
    <p:extLst>
      <p:ext uri="{BB962C8B-B14F-4D97-AF65-F5344CB8AC3E}">
        <p14:creationId xmlns:p14="http://schemas.microsoft.com/office/powerpoint/2010/main" val="3591232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3A89E-898C-7B5B-B740-658D1B0AB5DD}"/>
              </a:ext>
            </a:extLst>
          </p:cNvPr>
          <p:cNvSpPr>
            <a:spLocks noGrp="1"/>
          </p:cNvSpPr>
          <p:nvPr>
            <p:ph type="title"/>
          </p:nvPr>
        </p:nvSpPr>
        <p:spPr>
          <a:xfrm>
            <a:off x="838200" y="0"/>
            <a:ext cx="10515600" cy="2005263"/>
          </a:xfrm>
        </p:spPr>
        <p:txBody>
          <a:bodyPr>
            <a:noAutofit/>
          </a:bodyPr>
          <a:lstStyle/>
          <a:p>
            <a:r>
              <a:rPr lang="en-IN" sz="2800" b="1" dirty="0"/>
              <a:t>can we see some images on what we are doing? in annotation software </a:t>
            </a:r>
            <a:r>
              <a:rPr lang="en-IN" sz="2800" b="1" dirty="0" err="1"/>
              <a:t>i</a:t>
            </a:r>
            <a:r>
              <a:rPr lang="en-IN" sz="2800" b="1" dirty="0"/>
              <a:t> see the pictures of cars and lanes etc. </a:t>
            </a:r>
            <a:r>
              <a:rPr lang="en-IN" sz="2800" b="1" dirty="0" err="1"/>
              <a:t>i</a:t>
            </a:r>
            <a:r>
              <a:rPr lang="en-IN" sz="2800" b="1" dirty="0"/>
              <a:t> </a:t>
            </a:r>
            <a:r>
              <a:rPr lang="en-IN" sz="2800" b="1" dirty="0" err="1"/>
              <a:t>dont</a:t>
            </a:r>
            <a:r>
              <a:rPr lang="en-IN" sz="2800" b="1" dirty="0"/>
              <a:t> see that here? is it the software or the methodology we are following. how to </a:t>
            </a:r>
            <a:r>
              <a:rPr lang="en-IN" sz="2800" b="1" dirty="0" err="1"/>
              <a:t>realate</a:t>
            </a:r>
            <a:r>
              <a:rPr lang="en-IN" sz="2800" b="1" dirty="0"/>
              <a:t> the thing we are dong to the actual car and lanes?</a:t>
            </a:r>
            <a:br>
              <a:rPr lang="en-IN" sz="2800" b="1" dirty="0"/>
            </a:br>
            <a:endParaRPr lang="en-IN" sz="2800" b="1" dirty="0"/>
          </a:p>
        </p:txBody>
      </p:sp>
      <p:sp>
        <p:nvSpPr>
          <p:cNvPr id="3" name="Content Placeholder 2">
            <a:extLst>
              <a:ext uri="{FF2B5EF4-FFF2-40B4-BE49-F238E27FC236}">
                <a16:creationId xmlns:a16="http://schemas.microsoft.com/office/drawing/2014/main" id="{465B289E-21E5-C295-9720-D8DB1919A745}"/>
              </a:ext>
            </a:extLst>
          </p:cNvPr>
          <p:cNvSpPr>
            <a:spLocks noGrp="1"/>
          </p:cNvSpPr>
          <p:nvPr>
            <p:ph idx="1"/>
          </p:nvPr>
        </p:nvSpPr>
        <p:spPr/>
        <p:txBody>
          <a:bodyPr>
            <a:normAutofit lnSpcReduction="10000"/>
          </a:bodyPr>
          <a:lstStyle/>
          <a:p>
            <a:r>
              <a:rPr lang="en-IN" dirty="0"/>
              <a:t>I understand the confusion, Bon. In annotation software you see </a:t>
            </a:r>
            <a:r>
              <a:rPr lang="en-IN" b="1" dirty="0"/>
              <a:t>actual images of cars, lanes, pedestrians, etc.</a:t>
            </a:r>
            <a:r>
              <a:rPr lang="en-IN" dirty="0"/>
              <a:t> because that’s the </a:t>
            </a:r>
            <a:r>
              <a:rPr lang="en-IN" b="1" dirty="0"/>
              <a:t>data being </a:t>
            </a:r>
            <a:r>
              <a:rPr lang="en-IN" b="1" dirty="0" err="1"/>
              <a:t>labeled</a:t>
            </a:r>
            <a:r>
              <a:rPr lang="en-IN" dirty="0"/>
              <a:t>. What we’ve been doing here — talking about matrices, dot products, and transformations — is the </a:t>
            </a:r>
            <a:r>
              <a:rPr lang="en-IN" b="1" dirty="0"/>
              <a:t>mathematical methodology behind the scenes</a:t>
            </a:r>
            <a:r>
              <a:rPr lang="en-IN" dirty="0"/>
              <a:t> that powers those annotations.</a:t>
            </a:r>
          </a:p>
          <a:p>
            <a:r>
              <a:rPr lang="en-IN" b="1" dirty="0"/>
              <a:t>How It Relates to Real Car Images</a:t>
            </a:r>
          </a:p>
          <a:p>
            <a:r>
              <a:rPr lang="en-IN" b="1" dirty="0">
                <a:effectLst/>
              </a:rPr>
              <a:t>Annotation Software (What you see):</a:t>
            </a:r>
            <a:endParaRPr lang="en-IN" dirty="0"/>
          </a:p>
          <a:p>
            <a:pPr lvl="1"/>
            <a:r>
              <a:rPr lang="en-IN" dirty="0">
                <a:effectLst/>
              </a:rPr>
              <a:t>Pictures or video frames from car cameras.</a:t>
            </a:r>
            <a:endParaRPr lang="en-IN" dirty="0"/>
          </a:p>
          <a:p>
            <a:pPr lvl="1"/>
            <a:r>
              <a:rPr lang="en-IN" dirty="0">
                <a:effectLst/>
              </a:rPr>
              <a:t>Human annotators (or semi‑automated tools) draw boxes around cars, mark lane lines, highlight pedestrians.</a:t>
            </a:r>
            <a:endParaRPr lang="en-IN" dirty="0"/>
          </a:p>
          <a:p>
            <a:pPr lvl="1"/>
            <a:r>
              <a:rPr lang="en-IN" dirty="0">
                <a:effectLst/>
              </a:rPr>
              <a:t>These are the </a:t>
            </a:r>
            <a:r>
              <a:rPr lang="en-IN" i="1" dirty="0">
                <a:effectLst/>
              </a:rPr>
              <a:t>visual datasets</a:t>
            </a:r>
            <a:r>
              <a:rPr lang="en-IN" dirty="0">
                <a:effectLst/>
              </a:rPr>
              <a:t>.</a:t>
            </a:r>
            <a:endParaRPr lang="en-IN" dirty="0"/>
          </a:p>
          <a:p>
            <a:endParaRPr lang="en-IN" dirty="0"/>
          </a:p>
        </p:txBody>
      </p:sp>
    </p:spTree>
    <p:extLst>
      <p:ext uri="{BB962C8B-B14F-4D97-AF65-F5344CB8AC3E}">
        <p14:creationId xmlns:p14="http://schemas.microsoft.com/office/powerpoint/2010/main" val="965827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1A268-08C2-DA45-295C-B58233DFBD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6D6661-6A63-1A37-25BB-E119B3ECABED}"/>
              </a:ext>
            </a:extLst>
          </p:cNvPr>
          <p:cNvSpPr>
            <a:spLocks noGrp="1"/>
          </p:cNvSpPr>
          <p:nvPr>
            <p:ph idx="1"/>
          </p:nvPr>
        </p:nvSpPr>
        <p:spPr/>
        <p:txBody>
          <a:bodyPr>
            <a:normAutofit fontScale="85000" lnSpcReduction="20000"/>
          </a:bodyPr>
          <a:lstStyle/>
          <a:p>
            <a:r>
              <a:rPr lang="en-IN" b="1" dirty="0">
                <a:effectLst/>
              </a:rPr>
              <a:t>Matrix Operations (What we’re discussing):</a:t>
            </a:r>
            <a:endParaRPr lang="en-IN" dirty="0"/>
          </a:p>
          <a:p>
            <a:r>
              <a:rPr lang="en-IN" dirty="0">
                <a:effectLst/>
              </a:rPr>
              <a:t>Every image in that software is stored as a </a:t>
            </a:r>
            <a:r>
              <a:rPr lang="en-IN" b="1" dirty="0">
                <a:effectLst/>
              </a:rPr>
              <a:t>matrix of pixel values</a:t>
            </a:r>
            <a:r>
              <a:rPr lang="en-IN" dirty="0">
                <a:effectLst/>
              </a:rPr>
              <a:t>.</a:t>
            </a:r>
            <a:endParaRPr lang="en-IN" dirty="0"/>
          </a:p>
          <a:p>
            <a:r>
              <a:rPr lang="en-IN" dirty="0">
                <a:effectLst/>
              </a:rPr>
              <a:t>When you mark a lane line, the algorithm later uses </a:t>
            </a:r>
            <a:r>
              <a:rPr lang="en-IN" b="1" dirty="0">
                <a:effectLst/>
              </a:rPr>
              <a:t>convolutions, dot products, and transformations</a:t>
            </a:r>
            <a:r>
              <a:rPr lang="en-IN" dirty="0">
                <a:effectLst/>
              </a:rPr>
              <a:t> on those pixel matrices to detect similar patterns automatically.</a:t>
            </a:r>
            <a:endParaRPr lang="en-IN" dirty="0"/>
          </a:p>
          <a:p>
            <a:r>
              <a:rPr lang="en-IN" dirty="0">
                <a:effectLst/>
              </a:rPr>
              <a:t>The math is invisible in the annotation tool, but it’s what makes the software able to learn from those </a:t>
            </a:r>
            <a:r>
              <a:rPr lang="en-IN" dirty="0" err="1">
                <a:effectLst/>
              </a:rPr>
              <a:t>labeled</a:t>
            </a:r>
            <a:r>
              <a:rPr lang="en-IN" dirty="0">
                <a:effectLst/>
              </a:rPr>
              <a:t> images.</a:t>
            </a:r>
            <a:endParaRPr lang="en-IN" dirty="0"/>
          </a:p>
          <a:p>
            <a:r>
              <a:rPr lang="en-IN" b="1" dirty="0">
                <a:effectLst/>
              </a:rPr>
              <a:t>Bird’s‑Eye Transformation:</a:t>
            </a:r>
            <a:endParaRPr lang="en-IN" dirty="0"/>
          </a:p>
          <a:p>
            <a:r>
              <a:rPr lang="en-IN" dirty="0">
                <a:effectLst/>
              </a:rPr>
              <a:t>In annotation software, you might see a raw camera view.</a:t>
            </a:r>
            <a:endParaRPr lang="en-IN" dirty="0"/>
          </a:p>
          <a:p>
            <a:r>
              <a:rPr lang="en-IN" dirty="0">
                <a:effectLst/>
              </a:rPr>
              <a:t>The methodology (matrix transformations) converts that angled view into a flattened top‑down view.</a:t>
            </a:r>
            <a:endParaRPr lang="en-IN" dirty="0"/>
          </a:p>
          <a:p>
            <a:r>
              <a:rPr lang="en-IN" dirty="0">
                <a:effectLst/>
              </a:rPr>
              <a:t>That’s why in research papers or demos you’ll sometimes see both: the raw camera image and the transformed bird’s‑eye image side by side.</a:t>
            </a:r>
            <a:endParaRPr lang="en-IN" dirty="0"/>
          </a:p>
          <a:p>
            <a:endParaRPr lang="en-IN" dirty="0"/>
          </a:p>
        </p:txBody>
      </p:sp>
    </p:spTree>
    <p:extLst>
      <p:ext uri="{BB962C8B-B14F-4D97-AF65-F5344CB8AC3E}">
        <p14:creationId xmlns:p14="http://schemas.microsoft.com/office/powerpoint/2010/main" val="470586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FF65B-681D-E3D5-947D-FFFFAA3FAC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1B3CCA-AC39-1A2B-81A9-0003A3741112}"/>
              </a:ext>
            </a:extLst>
          </p:cNvPr>
          <p:cNvSpPr>
            <a:spLocks noGrp="1"/>
          </p:cNvSpPr>
          <p:nvPr>
            <p:ph idx="1"/>
          </p:nvPr>
        </p:nvSpPr>
        <p:spPr/>
        <p:txBody>
          <a:bodyPr>
            <a:normAutofit lnSpcReduction="10000"/>
          </a:bodyPr>
          <a:lstStyle/>
          <a:p>
            <a:r>
              <a:rPr lang="en-IN" b="1" dirty="0"/>
              <a:t>Connecting to the Actual Car</a:t>
            </a:r>
          </a:p>
          <a:p>
            <a:r>
              <a:rPr lang="en-IN" dirty="0">
                <a:effectLst/>
              </a:rPr>
              <a:t>The car’s cameras capture </a:t>
            </a:r>
            <a:r>
              <a:rPr lang="en-IN" b="1" dirty="0">
                <a:effectLst/>
              </a:rPr>
              <a:t>real road scenes</a:t>
            </a:r>
            <a:r>
              <a:rPr lang="en-IN" dirty="0">
                <a:effectLst/>
              </a:rPr>
              <a:t> → annotation software shows those frames.</a:t>
            </a:r>
            <a:endParaRPr lang="en-IN" dirty="0"/>
          </a:p>
          <a:p>
            <a:r>
              <a:rPr lang="en-IN" dirty="0">
                <a:effectLst/>
              </a:rPr>
              <a:t>Engineers annotate them → labels become </a:t>
            </a:r>
            <a:r>
              <a:rPr lang="en-IN" b="1" dirty="0">
                <a:effectLst/>
              </a:rPr>
              <a:t>training data</a:t>
            </a:r>
            <a:r>
              <a:rPr lang="en-IN" dirty="0">
                <a:effectLst/>
              </a:rPr>
              <a:t>.</a:t>
            </a:r>
            <a:endParaRPr lang="en-IN" dirty="0"/>
          </a:p>
          <a:p>
            <a:r>
              <a:rPr lang="en-IN" dirty="0">
                <a:effectLst/>
              </a:rPr>
              <a:t>VPUs/GPUs then run the </a:t>
            </a:r>
            <a:r>
              <a:rPr lang="en-IN" b="1" dirty="0">
                <a:effectLst/>
              </a:rPr>
              <a:t>matrix math</a:t>
            </a:r>
            <a:r>
              <a:rPr lang="en-IN" dirty="0">
                <a:effectLst/>
              </a:rPr>
              <a:t> we’ve been discussing on new, </a:t>
            </a:r>
            <a:r>
              <a:rPr lang="en-IN" dirty="0" err="1">
                <a:effectLst/>
              </a:rPr>
              <a:t>unlabeled</a:t>
            </a:r>
            <a:r>
              <a:rPr lang="en-IN" dirty="0">
                <a:effectLst/>
              </a:rPr>
              <a:t> frames in real time.</a:t>
            </a:r>
            <a:endParaRPr lang="en-IN" dirty="0"/>
          </a:p>
          <a:p>
            <a:r>
              <a:rPr lang="en-IN" dirty="0">
                <a:effectLst/>
              </a:rPr>
              <a:t>Result: the car can recognize lanes, cars, and pedestrians without human help.</a:t>
            </a:r>
            <a:endParaRPr lang="en-IN" dirty="0"/>
          </a:p>
          <a:p>
            <a:r>
              <a:rPr lang="en-IN" dirty="0"/>
              <a:t>So: </a:t>
            </a:r>
            <a:r>
              <a:rPr lang="en-IN" b="1" dirty="0"/>
              <a:t>software = pictures + labels</a:t>
            </a:r>
            <a:r>
              <a:rPr lang="en-IN" dirty="0"/>
              <a:t>, </a:t>
            </a:r>
            <a:r>
              <a:rPr lang="en-IN" b="1" dirty="0"/>
              <a:t>methodology = math on matrices</a:t>
            </a:r>
            <a:r>
              <a:rPr lang="en-IN" dirty="0"/>
              <a:t>, and together they connect directly to the car’s perception system.</a:t>
            </a:r>
          </a:p>
        </p:txBody>
      </p:sp>
    </p:spTree>
    <p:extLst>
      <p:ext uri="{BB962C8B-B14F-4D97-AF65-F5344CB8AC3E}">
        <p14:creationId xmlns:p14="http://schemas.microsoft.com/office/powerpoint/2010/main" val="1471563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3200</TotalTime>
  <Words>3112</Words>
  <Application>Microsoft Office PowerPoint</Application>
  <PresentationFormat>Widescreen</PresentationFormat>
  <Paragraphs>228</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Cambria Math</vt:lpstr>
      <vt:lpstr>Office Theme</vt:lpstr>
      <vt:lpstr>AUTONOMOUS CARS SOFTWARE</vt:lpstr>
      <vt:lpstr>Role of VPUs in Autonomous Vehicles</vt:lpstr>
      <vt:lpstr>PowerPoint Presentation</vt:lpstr>
      <vt:lpstr>PowerPoint Presentation</vt:lpstr>
      <vt:lpstr>please show you how matrix operations (linear algebra) are the mathematical backbone of what VPUs do</vt:lpstr>
      <vt:lpstr>please show you how matrix operations (linear algebra) are the mathematical backbone of what VPUs do </vt:lpstr>
      <vt:lpstr>please show you how matrix operations (linear algebra) are the mathematical backbone of what VPUs do</vt:lpstr>
      <vt:lpstr>PowerPoint Presentation</vt:lpstr>
      <vt:lpstr>since you’re watching the Essence of Linear Algebra series on YouTube, would you like me to map one of those vector/matrix concepts (like dot product or transformation) directly to a vision task in autonomous cars, so you see the math in action?</vt:lpstr>
      <vt:lpstr>let’s map a linear algebra concept directly to a vision task in autonomous cars so you see the math in action:</vt:lpstr>
      <vt:lpstr>PowerPoint Presentation</vt:lpstr>
      <vt:lpstr>PowerPoint Presentation</vt:lpstr>
      <vt:lpstr>PowerPoint Presentation</vt:lpstr>
      <vt:lpstr>PowerPoint Presentation</vt:lpstr>
      <vt:lpstr>PowerPoint Presentation</vt:lpstr>
      <vt:lpstr>please illustrate this with a simple numeric example (like a 3×3 image patch and a filter matrix) </vt:lpstr>
      <vt:lpstr>PowerPoint Presentation</vt:lpstr>
      <vt:lpstr>PowerPoint Presentation</vt:lpstr>
      <vt:lpstr> please show how you how a dot product specifically helps align detected edges with the road’s forward direction (so the car knows which lines are lanes vs. crosswalks)? </vt:lpstr>
      <vt:lpstr>PowerPoint Presentation</vt:lpstr>
      <vt:lpstr>PowerPoint Presentation</vt:lpstr>
      <vt:lpstr>please sketch how matrix transformations (rotation/scaling) are used to convert the camera’s angled road view into a “bird’s‑eye view,” </vt:lpstr>
      <vt:lpstr>PowerPoint Presentation</vt:lpstr>
      <vt:lpstr>PowerPoint Presentation</vt:lpstr>
      <vt:lpstr>PLEASE illustrate this with a small numeric example (say, a 2D point transformed by a homography matrix) so you can see how coordinates shift from angled view to bird’s‑eye view? </vt:lpstr>
      <vt:lpstr>PowerPoint Presentation</vt:lpstr>
      <vt:lpstr>PowerPoint Presentation</vt:lpstr>
      <vt:lpstr>PowerPoint Presentation</vt:lpstr>
      <vt:lpstr>can we see some images on what we are doing? in annotation software i see the pictures of cars and lanes etc. i dont see that here? is it the software or the methodology we are following. how to realate the thing we are dong to the actual car and lanes?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 Pro</dc:creator>
  <cp:lastModifiedBy>Bon Pro</cp:lastModifiedBy>
  <cp:revision>3</cp:revision>
  <dcterms:created xsi:type="dcterms:W3CDTF">2026-07-14T01:27:15Z</dcterms:created>
  <dcterms:modified xsi:type="dcterms:W3CDTF">2026-07-19T02:18:36Z</dcterms:modified>
</cp:coreProperties>
</file>