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019B-595E-5922-734A-253CFAA7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346A-026D-7368-D7EC-4D6972409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D470-0EE0-1D22-09F4-DD2CC905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E89AB-A054-BDF8-07BA-4C0B5199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947A-916C-C72D-848C-F8FAB316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0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F8E6-1E7F-F017-8B48-8C708DCC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B67F-3E96-7D5D-C866-DE2697194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E9910-68E4-C9DB-919D-790C29EE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B068C-BFCC-BBD2-FDC3-7CC9ECE4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0799-DD1D-8F71-F1FD-A196D2AA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8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3ABE-67B1-45A4-F184-C9C50593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0343-76B5-9ED4-2908-41AD937B9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E4534-D9CC-2602-EBD5-CB240549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DD226-1505-F477-B246-70CF8129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8B655-A1B9-DA20-DAC3-369156E7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8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821C-7273-EFE2-95E0-6800C835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D328-A9CB-AC4C-BF93-DBF23C602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57FB2-3CEB-37BD-A020-F6660AA58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93E8B-890F-C529-038B-2206B662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4669F-0B66-11F4-D4DE-3A8950CB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260AC-328D-788B-7CBB-D086C216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9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6EB8-F006-3708-53BE-417C8832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7D13C-8FE0-D3B0-0441-2B4F7342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2803B-A19D-C38F-B1D2-43CC26DA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0BD22-0F09-F583-2F40-DC2F48B1D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ED358-D925-0286-3E96-CEDA2BB34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6D706-FB3F-D593-65F5-F15AD1B5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8FC7D-0D88-4874-6F1C-8D5D49C1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D3020-7C4F-1D9E-ADEE-CECC8382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88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6A7F-15BF-E17A-2D74-4CB999F1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E4E58-8815-E89E-A2FB-DFCDC0FC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2141-7E30-3C6C-7346-14624A7A0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7F836-F51A-2E5D-2886-A1BD888B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38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F860C-601A-DF31-A22D-328C7FBA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A15A8-2707-0679-0027-FFA2926C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D4BB-F82C-EF30-D5A9-BEEBAB83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8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0E33-FAE5-1072-5E42-A6DBCA48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A55B-72D9-D18E-08E2-FD2FAFED4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D9ADF-3B13-D136-A921-D1111298C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88EB0-662A-EF57-D4A2-4C21E268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87F1C-D41C-7649-7182-B9FEADE5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E14BA-B7D6-FCB0-631B-FBE33811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4874-27B6-3524-6E56-9E6C8574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815CB-8862-B6CE-01E2-54011FDC9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66B33-E3C8-ED43-6E19-2C77277D3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3576D-C175-931B-E24C-08B276D6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EC2FE-604C-00D5-5B51-A89A7F6E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D773E-6A4A-9C5B-07E2-1518BFCF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34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621B-5BF9-D598-A378-2601638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A363-C44E-17DD-A12C-288F16B7E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7EDF-F3A9-B26D-3222-EB5AE558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677BB-8A29-3D0A-10EB-93BC212B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AC27-8C94-45FD-219C-0DF27DDB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0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A23C4-F0BB-034A-4BF3-F3B5759E2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35741-BF55-867B-CFF1-026E254AB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AAF0-8DCD-9797-FCB9-96DA58B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A510-12CC-809F-7D78-02CAF6F65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D6764-62D9-1782-76F7-42AC30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80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A462B-366B-6E07-6213-C9E608E3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61027-EF7E-0A0C-59B6-D498EEEDD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AA30C-E6A1-0FD2-2ACC-E04B5BE72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CD2E2-C836-45D4-9604-E2993B356381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8F2-2DCB-2316-FDF7-FED498167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93AE7-22E8-D65C-9424-80F3A677A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2EA3B-E75A-46E5-919B-B248F31B7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5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76FD-25A6-7705-7C8D-01D1720A2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Circuits in Classical, Quantum and Topological Computers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57821-3A2A-BDAA-58AF-185430188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What are the Differences?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71225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F593-DAD7-2075-7278-F2AB627B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Classical Computer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B0E5-9D40-BDF9-F584-2B856770E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Type:</a:t>
            </a:r>
            <a:r>
              <a:rPr lang="en-US" dirty="0">
                <a:effectLst/>
              </a:rPr>
              <a:t> Electronic circuits made of transistors.</a:t>
            </a:r>
            <a:endParaRPr lang="en-US" dirty="0"/>
          </a:p>
          <a:p>
            <a:r>
              <a:rPr lang="en-US" b="1" dirty="0">
                <a:effectLst/>
              </a:rPr>
              <a:t>Signal:</a:t>
            </a:r>
            <a:r>
              <a:rPr lang="en-US" dirty="0">
                <a:effectLst/>
              </a:rPr>
              <a:t> Carry electrical currents representing bits (0 or 1).</a:t>
            </a:r>
            <a:endParaRPr lang="en-US" dirty="0"/>
          </a:p>
          <a:p>
            <a:r>
              <a:rPr lang="en-US" b="1" dirty="0">
                <a:effectLst/>
              </a:rPr>
              <a:t>Operation:</a:t>
            </a:r>
            <a:r>
              <a:rPr lang="en-US" dirty="0">
                <a:effectLst/>
              </a:rPr>
              <a:t> Logic gates (AND, OR, NOT) combine to perform computations.</a:t>
            </a:r>
            <a:endParaRPr lang="en-US" dirty="0"/>
          </a:p>
          <a:p>
            <a:r>
              <a:rPr lang="en-US" b="1" dirty="0">
                <a:effectLst/>
              </a:rPr>
              <a:t>Environment:</a:t>
            </a:r>
            <a:r>
              <a:rPr lang="en-US" dirty="0">
                <a:effectLst/>
              </a:rPr>
              <a:t> Works at room temperature, highly miniaturized (billions of transistors on a chip).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22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FB8E-9526-9BF9-3850-5C74D9E7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Quantum Computer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B948D-A9C0-C007-BBFF-5444B960F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Type:</a:t>
            </a:r>
            <a:r>
              <a:rPr lang="en-IN" dirty="0">
                <a:effectLst/>
              </a:rPr>
              <a:t> Quantum circuits made of qubits (superconducting loops, trapped ions, photons, etc.).</a:t>
            </a:r>
            <a:endParaRPr lang="en-IN" dirty="0"/>
          </a:p>
          <a:p>
            <a:r>
              <a:rPr lang="en-IN" b="1" dirty="0">
                <a:effectLst/>
              </a:rPr>
              <a:t>Signal:</a:t>
            </a:r>
            <a:r>
              <a:rPr lang="en-IN" dirty="0">
                <a:effectLst/>
              </a:rPr>
              <a:t> Use quantum states (superposition, entanglement).</a:t>
            </a:r>
            <a:endParaRPr lang="en-IN" dirty="0"/>
          </a:p>
          <a:p>
            <a:r>
              <a:rPr lang="en-IN" b="1" dirty="0">
                <a:effectLst/>
              </a:rPr>
              <a:t>Operation:</a:t>
            </a:r>
            <a:r>
              <a:rPr lang="en-IN" dirty="0">
                <a:effectLst/>
              </a:rPr>
              <a:t> Quantum gates manipulate qubits using microwave pulses, lasers, or optical devices.</a:t>
            </a:r>
            <a:endParaRPr lang="en-IN" dirty="0"/>
          </a:p>
          <a:p>
            <a:r>
              <a:rPr lang="en-IN" b="1" dirty="0">
                <a:effectLst/>
              </a:rPr>
              <a:t>Environment:</a:t>
            </a:r>
            <a:r>
              <a:rPr lang="en-IN" dirty="0">
                <a:effectLst/>
              </a:rPr>
              <a:t> Require cryogenic cooling or vacuum chambers to keep qubits stable.</a:t>
            </a:r>
            <a:endParaRPr lang="en-IN" dirty="0"/>
          </a:p>
          <a:p>
            <a:r>
              <a:rPr lang="en-IN" b="1" dirty="0">
                <a:effectLst/>
              </a:rPr>
              <a:t>Difference from classical:</a:t>
            </a:r>
            <a:r>
              <a:rPr lang="en-IN" dirty="0">
                <a:effectLst/>
              </a:rPr>
              <a:t> Instead of deterministic 0/1, qubits can be 0 and 1 simultaneously, enabling parallelism.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0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DCF-1720-EA1A-0091-1700027C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Topological Quantum Computer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FE53-CE4D-4C27-D672-A009B4119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effectLst/>
              </a:rPr>
              <a:t>Type:</a:t>
            </a:r>
            <a:r>
              <a:rPr lang="en-US" dirty="0">
                <a:effectLst/>
              </a:rPr>
              <a:t> Circuits built on </a:t>
            </a:r>
            <a:r>
              <a:rPr lang="en-US" b="1" dirty="0">
                <a:effectLst/>
              </a:rPr>
              <a:t>topologically protected states of matter</a:t>
            </a:r>
            <a:r>
              <a:rPr lang="en-US" dirty="0">
                <a:effectLst/>
              </a:rPr>
              <a:t> (like Majorana fermions or nodal lines in cobalt).</a:t>
            </a:r>
            <a:endParaRPr lang="en-US" dirty="0"/>
          </a:p>
          <a:p>
            <a:r>
              <a:rPr lang="en-US" b="1" dirty="0">
                <a:effectLst/>
              </a:rPr>
              <a:t>Signal:</a:t>
            </a:r>
            <a:r>
              <a:rPr lang="en-US" dirty="0">
                <a:effectLst/>
              </a:rPr>
              <a:t> Information encoded in exotic quantum states that are resistant to noise and errors.</a:t>
            </a:r>
            <a:endParaRPr lang="en-US" dirty="0"/>
          </a:p>
          <a:p>
            <a:r>
              <a:rPr lang="en-US" b="1" dirty="0">
                <a:effectLst/>
              </a:rPr>
              <a:t>Operation:</a:t>
            </a:r>
            <a:r>
              <a:rPr lang="en-US" dirty="0">
                <a:effectLst/>
              </a:rPr>
              <a:t> Braiding of quasiparticles (moving them around each other) acts as quantum gates.</a:t>
            </a:r>
            <a:endParaRPr lang="en-US" dirty="0"/>
          </a:p>
          <a:p>
            <a:r>
              <a:rPr lang="en-US" b="1" dirty="0">
                <a:effectLst/>
              </a:rPr>
              <a:t>Environment:</a:t>
            </a:r>
            <a:r>
              <a:rPr lang="en-US" dirty="0">
                <a:effectLst/>
              </a:rPr>
              <a:t> The dream is to achieve stability at </a:t>
            </a:r>
            <a:r>
              <a:rPr lang="en-US" b="1" dirty="0">
                <a:effectLst/>
              </a:rPr>
              <a:t>room temperature</a:t>
            </a:r>
            <a:r>
              <a:rPr lang="en-US" dirty="0">
                <a:effectLst/>
              </a:rPr>
              <a:t>, unlike superconducting qubits.</a:t>
            </a:r>
            <a:endParaRPr lang="en-US" dirty="0"/>
          </a:p>
          <a:p>
            <a:r>
              <a:rPr lang="en-US" b="1" dirty="0">
                <a:effectLst/>
              </a:rPr>
              <a:t>Difference from other quantum circuits:</a:t>
            </a:r>
            <a:r>
              <a:rPr lang="en-US" dirty="0">
                <a:effectLst/>
              </a:rPr>
              <a:t> Much more robust to errors, potentially eliminating the need for complex error correction.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33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0136-E3D5-136A-E091-A36C136E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9A3635-D8A5-2CD6-54AF-CF362C9B18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135557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29112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01748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8530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Classical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Quantum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Topological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36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unit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Bits (0/1)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Qubits (superposition)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Topological qubits (protected states)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898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Material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Silicon transistors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Superconductors, ions, photons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Exotic materials (cobalt, topological insulators)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03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Environment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Cryogenic/vacuum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Potentially room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43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Error handling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Minimal (stable)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error correction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Naturally error-resistant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1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 gates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Quantum gates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Braiding of quasiparticles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57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35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B96B-92B9-C21C-E9E7-1036A1CC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short: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A1A31-4BD8-D53C-E980-C742E677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Classical circuits</a:t>
            </a:r>
            <a:r>
              <a:rPr lang="en-IN" dirty="0">
                <a:effectLst/>
              </a:rPr>
              <a:t> = silicon transistors at room temp.</a:t>
            </a:r>
            <a:endParaRPr lang="en-IN" dirty="0"/>
          </a:p>
          <a:p>
            <a:r>
              <a:rPr lang="en-IN" b="1" dirty="0">
                <a:effectLst/>
              </a:rPr>
              <a:t>Quantum circuits</a:t>
            </a:r>
            <a:r>
              <a:rPr lang="en-IN" dirty="0">
                <a:effectLst/>
              </a:rPr>
              <a:t> = fragile qubits needing extreme environments.</a:t>
            </a:r>
            <a:endParaRPr lang="en-IN" dirty="0"/>
          </a:p>
          <a:p>
            <a:r>
              <a:rPr lang="en-IN" b="1" dirty="0">
                <a:effectLst/>
              </a:rPr>
              <a:t>Topological circuits</a:t>
            </a:r>
            <a:r>
              <a:rPr lang="en-IN" dirty="0">
                <a:effectLst/>
              </a:rPr>
              <a:t> = exotic states aiming for robust, room-temp quantum computing.</a:t>
            </a:r>
            <a:endParaRPr lang="en-IN" dirty="0"/>
          </a:p>
          <a:p>
            <a:r>
              <a:rPr lang="en-US"/>
              <a:t>“Chapter 10: Circuits Across Computing Paradigms”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8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356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Circuits in Classical, Quantum and Topological Computers</vt:lpstr>
      <vt:lpstr>Classical Computer Circuits</vt:lpstr>
      <vt:lpstr>Quantum Computer Circuits</vt:lpstr>
      <vt:lpstr>Topological Quantum Computer Circuits</vt:lpstr>
      <vt:lpstr>Key Differences</vt:lpstr>
      <vt:lpstr>In short: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2</cp:revision>
  <dcterms:created xsi:type="dcterms:W3CDTF">2026-05-23T01:37:44Z</dcterms:created>
  <dcterms:modified xsi:type="dcterms:W3CDTF">2026-05-23T01:45:17Z</dcterms:modified>
</cp:coreProperties>
</file>