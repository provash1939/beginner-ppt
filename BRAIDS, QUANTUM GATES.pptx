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45" d="100"/>
          <a:sy n="45" d="100"/>
        </p:scale>
        <p:origin x="42" y="5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6347D-5615-2381-16F8-304C6B1C4E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0F3D98-1D52-FBD3-90D7-457F6171F1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7042650-BCA6-3511-4919-26D6B421DB1D}"/>
              </a:ext>
            </a:extLst>
          </p:cNvPr>
          <p:cNvSpPr>
            <a:spLocks noGrp="1"/>
          </p:cNvSpPr>
          <p:nvPr>
            <p:ph type="dt" sz="half" idx="10"/>
          </p:nvPr>
        </p:nvSpPr>
        <p:spPr/>
        <p:txBody>
          <a:bodyPr/>
          <a:lstStyle/>
          <a:p>
            <a:fld id="{5A43C59C-D348-4E35-935E-795B80037308}" type="datetimeFigureOut">
              <a:rPr lang="en-IN" smtClean="0"/>
              <a:t>31-07-2026</a:t>
            </a:fld>
            <a:endParaRPr lang="en-IN"/>
          </a:p>
        </p:txBody>
      </p:sp>
      <p:sp>
        <p:nvSpPr>
          <p:cNvPr id="5" name="Footer Placeholder 4">
            <a:extLst>
              <a:ext uri="{FF2B5EF4-FFF2-40B4-BE49-F238E27FC236}">
                <a16:creationId xmlns:a16="http://schemas.microsoft.com/office/drawing/2014/main" id="{67DBB89E-5BF1-304E-239E-CA992EC5CB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12DA37-D97A-2FC2-E41F-6E8E18217D80}"/>
              </a:ext>
            </a:extLst>
          </p:cNvPr>
          <p:cNvSpPr>
            <a:spLocks noGrp="1"/>
          </p:cNvSpPr>
          <p:nvPr>
            <p:ph type="sldNum" sz="quarter" idx="12"/>
          </p:nvPr>
        </p:nvSpPr>
        <p:spPr/>
        <p:txBody>
          <a:bodyPr/>
          <a:lstStyle/>
          <a:p>
            <a:fld id="{9451C74D-7F79-443D-8D9C-9C0E1688932C}" type="slidenum">
              <a:rPr lang="en-IN" smtClean="0"/>
              <a:t>‹#›</a:t>
            </a:fld>
            <a:endParaRPr lang="en-IN"/>
          </a:p>
        </p:txBody>
      </p:sp>
    </p:spTree>
    <p:extLst>
      <p:ext uri="{BB962C8B-B14F-4D97-AF65-F5344CB8AC3E}">
        <p14:creationId xmlns:p14="http://schemas.microsoft.com/office/powerpoint/2010/main" val="698008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363E1-ADD1-CC84-CFE6-48258A6DF95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57469A6-0D80-D316-7CE9-252E21C7A9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DF503A-B7FA-3DCE-0F84-0419CBA9E138}"/>
              </a:ext>
            </a:extLst>
          </p:cNvPr>
          <p:cNvSpPr>
            <a:spLocks noGrp="1"/>
          </p:cNvSpPr>
          <p:nvPr>
            <p:ph type="dt" sz="half" idx="10"/>
          </p:nvPr>
        </p:nvSpPr>
        <p:spPr/>
        <p:txBody>
          <a:bodyPr/>
          <a:lstStyle/>
          <a:p>
            <a:fld id="{5A43C59C-D348-4E35-935E-795B80037308}" type="datetimeFigureOut">
              <a:rPr lang="en-IN" smtClean="0"/>
              <a:t>31-07-2026</a:t>
            </a:fld>
            <a:endParaRPr lang="en-IN"/>
          </a:p>
        </p:txBody>
      </p:sp>
      <p:sp>
        <p:nvSpPr>
          <p:cNvPr id="5" name="Footer Placeholder 4">
            <a:extLst>
              <a:ext uri="{FF2B5EF4-FFF2-40B4-BE49-F238E27FC236}">
                <a16:creationId xmlns:a16="http://schemas.microsoft.com/office/drawing/2014/main" id="{F69F9A32-1CFA-198F-576C-7F3B4F7A8B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F02CAB-28CC-AE21-843C-235346741F04}"/>
              </a:ext>
            </a:extLst>
          </p:cNvPr>
          <p:cNvSpPr>
            <a:spLocks noGrp="1"/>
          </p:cNvSpPr>
          <p:nvPr>
            <p:ph type="sldNum" sz="quarter" idx="12"/>
          </p:nvPr>
        </p:nvSpPr>
        <p:spPr/>
        <p:txBody>
          <a:bodyPr/>
          <a:lstStyle/>
          <a:p>
            <a:fld id="{9451C74D-7F79-443D-8D9C-9C0E1688932C}" type="slidenum">
              <a:rPr lang="en-IN" smtClean="0"/>
              <a:t>‹#›</a:t>
            </a:fld>
            <a:endParaRPr lang="en-IN"/>
          </a:p>
        </p:txBody>
      </p:sp>
    </p:spTree>
    <p:extLst>
      <p:ext uri="{BB962C8B-B14F-4D97-AF65-F5344CB8AC3E}">
        <p14:creationId xmlns:p14="http://schemas.microsoft.com/office/powerpoint/2010/main" val="3183712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EB859-D942-2A30-AAC5-A438889595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B6A4313-0E91-E0CC-ADFE-6D93042E8C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8FE6D1-1A35-B535-F480-BA09B2472C94}"/>
              </a:ext>
            </a:extLst>
          </p:cNvPr>
          <p:cNvSpPr>
            <a:spLocks noGrp="1"/>
          </p:cNvSpPr>
          <p:nvPr>
            <p:ph type="dt" sz="half" idx="10"/>
          </p:nvPr>
        </p:nvSpPr>
        <p:spPr/>
        <p:txBody>
          <a:bodyPr/>
          <a:lstStyle/>
          <a:p>
            <a:fld id="{5A43C59C-D348-4E35-935E-795B80037308}" type="datetimeFigureOut">
              <a:rPr lang="en-IN" smtClean="0"/>
              <a:t>31-07-2026</a:t>
            </a:fld>
            <a:endParaRPr lang="en-IN"/>
          </a:p>
        </p:txBody>
      </p:sp>
      <p:sp>
        <p:nvSpPr>
          <p:cNvPr id="5" name="Footer Placeholder 4">
            <a:extLst>
              <a:ext uri="{FF2B5EF4-FFF2-40B4-BE49-F238E27FC236}">
                <a16:creationId xmlns:a16="http://schemas.microsoft.com/office/drawing/2014/main" id="{ABBF5CAC-67B9-A09A-3224-D20F2B6EB7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DC4D99-16F0-69EE-9A62-9700A1B6C56A}"/>
              </a:ext>
            </a:extLst>
          </p:cNvPr>
          <p:cNvSpPr>
            <a:spLocks noGrp="1"/>
          </p:cNvSpPr>
          <p:nvPr>
            <p:ph type="sldNum" sz="quarter" idx="12"/>
          </p:nvPr>
        </p:nvSpPr>
        <p:spPr/>
        <p:txBody>
          <a:bodyPr/>
          <a:lstStyle/>
          <a:p>
            <a:fld id="{9451C74D-7F79-443D-8D9C-9C0E1688932C}" type="slidenum">
              <a:rPr lang="en-IN" smtClean="0"/>
              <a:t>‹#›</a:t>
            </a:fld>
            <a:endParaRPr lang="en-IN"/>
          </a:p>
        </p:txBody>
      </p:sp>
    </p:spTree>
    <p:extLst>
      <p:ext uri="{BB962C8B-B14F-4D97-AF65-F5344CB8AC3E}">
        <p14:creationId xmlns:p14="http://schemas.microsoft.com/office/powerpoint/2010/main" val="1175599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E26C3-E81C-A9E6-F27E-3F052FC2630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6ECD0DF-2CEA-60D4-D5A6-6EC182CD9A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9BD2946-2758-C880-45E6-E1ED7724AD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7DD6640-5663-DA0C-B7C2-1C5325E66848}"/>
              </a:ext>
            </a:extLst>
          </p:cNvPr>
          <p:cNvSpPr>
            <a:spLocks noGrp="1"/>
          </p:cNvSpPr>
          <p:nvPr>
            <p:ph type="dt" sz="half" idx="10"/>
          </p:nvPr>
        </p:nvSpPr>
        <p:spPr/>
        <p:txBody>
          <a:bodyPr/>
          <a:lstStyle/>
          <a:p>
            <a:fld id="{5A43C59C-D348-4E35-935E-795B80037308}" type="datetimeFigureOut">
              <a:rPr lang="en-IN" smtClean="0"/>
              <a:t>31-07-2026</a:t>
            </a:fld>
            <a:endParaRPr lang="en-IN"/>
          </a:p>
        </p:txBody>
      </p:sp>
      <p:sp>
        <p:nvSpPr>
          <p:cNvPr id="6" name="Footer Placeholder 5">
            <a:extLst>
              <a:ext uri="{FF2B5EF4-FFF2-40B4-BE49-F238E27FC236}">
                <a16:creationId xmlns:a16="http://schemas.microsoft.com/office/drawing/2014/main" id="{315F1B01-CCEA-07B8-846A-31136F16A1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9E5971E-48B5-7FAE-4D1B-714CF6555687}"/>
              </a:ext>
            </a:extLst>
          </p:cNvPr>
          <p:cNvSpPr>
            <a:spLocks noGrp="1"/>
          </p:cNvSpPr>
          <p:nvPr>
            <p:ph type="sldNum" sz="quarter" idx="12"/>
          </p:nvPr>
        </p:nvSpPr>
        <p:spPr/>
        <p:txBody>
          <a:bodyPr/>
          <a:lstStyle/>
          <a:p>
            <a:fld id="{9451C74D-7F79-443D-8D9C-9C0E1688932C}" type="slidenum">
              <a:rPr lang="en-IN" smtClean="0"/>
              <a:t>‹#›</a:t>
            </a:fld>
            <a:endParaRPr lang="en-IN"/>
          </a:p>
        </p:txBody>
      </p:sp>
    </p:spTree>
    <p:extLst>
      <p:ext uri="{BB962C8B-B14F-4D97-AF65-F5344CB8AC3E}">
        <p14:creationId xmlns:p14="http://schemas.microsoft.com/office/powerpoint/2010/main" val="235143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4CD88-198B-1D7F-218F-80F21D184C8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A0E511-2755-2EF2-65A6-EEFADDC55A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B34FAF-C128-789E-8493-D87A2CE2A5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04BE4EA-11A9-6CC2-BBC6-792F865071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587FF7-0219-9993-7BBD-40AD5AF705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8BCABB9-5E79-5935-B73D-7E713A010AB0}"/>
              </a:ext>
            </a:extLst>
          </p:cNvPr>
          <p:cNvSpPr>
            <a:spLocks noGrp="1"/>
          </p:cNvSpPr>
          <p:nvPr>
            <p:ph type="dt" sz="half" idx="10"/>
          </p:nvPr>
        </p:nvSpPr>
        <p:spPr/>
        <p:txBody>
          <a:bodyPr/>
          <a:lstStyle/>
          <a:p>
            <a:fld id="{5A43C59C-D348-4E35-935E-795B80037308}" type="datetimeFigureOut">
              <a:rPr lang="en-IN" smtClean="0"/>
              <a:t>31-07-2026</a:t>
            </a:fld>
            <a:endParaRPr lang="en-IN"/>
          </a:p>
        </p:txBody>
      </p:sp>
      <p:sp>
        <p:nvSpPr>
          <p:cNvPr id="8" name="Footer Placeholder 7">
            <a:extLst>
              <a:ext uri="{FF2B5EF4-FFF2-40B4-BE49-F238E27FC236}">
                <a16:creationId xmlns:a16="http://schemas.microsoft.com/office/drawing/2014/main" id="{EA2A2079-A875-2F38-52E7-91294332F16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D8555B2-29D9-B7F8-7165-EF16241F34BE}"/>
              </a:ext>
            </a:extLst>
          </p:cNvPr>
          <p:cNvSpPr>
            <a:spLocks noGrp="1"/>
          </p:cNvSpPr>
          <p:nvPr>
            <p:ph type="sldNum" sz="quarter" idx="12"/>
          </p:nvPr>
        </p:nvSpPr>
        <p:spPr/>
        <p:txBody>
          <a:bodyPr/>
          <a:lstStyle/>
          <a:p>
            <a:fld id="{9451C74D-7F79-443D-8D9C-9C0E1688932C}" type="slidenum">
              <a:rPr lang="en-IN" smtClean="0"/>
              <a:t>‹#›</a:t>
            </a:fld>
            <a:endParaRPr lang="en-IN"/>
          </a:p>
        </p:txBody>
      </p:sp>
    </p:spTree>
    <p:extLst>
      <p:ext uri="{BB962C8B-B14F-4D97-AF65-F5344CB8AC3E}">
        <p14:creationId xmlns:p14="http://schemas.microsoft.com/office/powerpoint/2010/main" val="1821422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3C615-C355-F1AC-2426-93ACECF7DCD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8110B8A-81ED-5AB7-7BCC-8BEB8FBBCBFF}"/>
              </a:ext>
            </a:extLst>
          </p:cNvPr>
          <p:cNvSpPr>
            <a:spLocks noGrp="1"/>
          </p:cNvSpPr>
          <p:nvPr>
            <p:ph type="dt" sz="half" idx="10"/>
          </p:nvPr>
        </p:nvSpPr>
        <p:spPr/>
        <p:txBody>
          <a:bodyPr/>
          <a:lstStyle/>
          <a:p>
            <a:fld id="{5A43C59C-D348-4E35-935E-795B80037308}" type="datetimeFigureOut">
              <a:rPr lang="en-IN" smtClean="0"/>
              <a:t>31-07-2026</a:t>
            </a:fld>
            <a:endParaRPr lang="en-IN"/>
          </a:p>
        </p:txBody>
      </p:sp>
      <p:sp>
        <p:nvSpPr>
          <p:cNvPr id="4" name="Footer Placeholder 3">
            <a:extLst>
              <a:ext uri="{FF2B5EF4-FFF2-40B4-BE49-F238E27FC236}">
                <a16:creationId xmlns:a16="http://schemas.microsoft.com/office/drawing/2014/main" id="{8E785343-C9DC-BB3C-0998-7E33471789A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438B055-A0BD-2FBA-B28B-3159E8705B24}"/>
              </a:ext>
            </a:extLst>
          </p:cNvPr>
          <p:cNvSpPr>
            <a:spLocks noGrp="1"/>
          </p:cNvSpPr>
          <p:nvPr>
            <p:ph type="sldNum" sz="quarter" idx="12"/>
          </p:nvPr>
        </p:nvSpPr>
        <p:spPr/>
        <p:txBody>
          <a:bodyPr/>
          <a:lstStyle/>
          <a:p>
            <a:fld id="{9451C74D-7F79-443D-8D9C-9C0E1688932C}" type="slidenum">
              <a:rPr lang="en-IN" smtClean="0"/>
              <a:t>‹#›</a:t>
            </a:fld>
            <a:endParaRPr lang="en-IN"/>
          </a:p>
        </p:txBody>
      </p:sp>
    </p:spTree>
    <p:extLst>
      <p:ext uri="{BB962C8B-B14F-4D97-AF65-F5344CB8AC3E}">
        <p14:creationId xmlns:p14="http://schemas.microsoft.com/office/powerpoint/2010/main" val="907143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7E7B5D-81BF-B91C-FF04-561A059D8B34}"/>
              </a:ext>
            </a:extLst>
          </p:cNvPr>
          <p:cNvSpPr>
            <a:spLocks noGrp="1"/>
          </p:cNvSpPr>
          <p:nvPr>
            <p:ph type="dt" sz="half" idx="10"/>
          </p:nvPr>
        </p:nvSpPr>
        <p:spPr/>
        <p:txBody>
          <a:bodyPr/>
          <a:lstStyle/>
          <a:p>
            <a:fld id="{5A43C59C-D348-4E35-935E-795B80037308}" type="datetimeFigureOut">
              <a:rPr lang="en-IN" smtClean="0"/>
              <a:t>31-07-2026</a:t>
            </a:fld>
            <a:endParaRPr lang="en-IN"/>
          </a:p>
        </p:txBody>
      </p:sp>
      <p:sp>
        <p:nvSpPr>
          <p:cNvPr id="3" name="Footer Placeholder 2">
            <a:extLst>
              <a:ext uri="{FF2B5EF4-FFF2-40B4-BE49-F238E27FC236}">
                <a16:creationId xmlns:a16="http://schemas.microsoft.com/office/drawing/2014/main" id="{3C12119F-71AB-AF9B-012D-C68887B0AEB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F690908-3023-77E4-FC60-F2D9F11C1460}"/>
              </a:ext>
            </a:extLst>
          </p:cNvPr>
          <p:cNvSpPr>
            <a:spLocks noGrp="1"/>
          </p:cNvSpPr>
          <p:nvPr>
            <p:ph type="sldNum" sz="quarter" idx="12"/>
          </p:nvPr>
        </p:nvSpPr>
        <p:spPr/>
        <p:txBody>
          <a:bodyPr/>
          <a:lstStyle/>
          <a:p>
            <a:fld id="{9451C74D-7F79-443D-8D9C-9C0E1688932C}" type="slidenum">
              <a:rPr lang="en-IN" smtClean="0"/>
              <a:t>‹#›</a:t>
            </a:fld>
            <a:endParaRPr lang="en-IN"/>
          </a:p>
        </p:txBody>
      </p:sp>
    </p:spTree>
    <p:extLst>
      <p:ext uri="{BB962C8B-B14F-4D97-AF65-F5344CB8AC3E}">
        <p14:creationId xmlns:p14="http://schemas.microsoft.com/office/powerpoint/2010/main" val="1029189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B7185-A8BD-D7FC-B3A2-D9BAF563FE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D1FF951-629F-CBAD-F283-E63B595775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7F90F6C-AC09-5DC3-C6E4-F18DE5FCDC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2E369D-4A7B-F48B-3226-86E6945661A6}"/>
              </a:ext>
            </a:extLst>
          </p:cNvPr>
          <p:cNvSpPr>
            <a:spLocks noGrp="1"/>
          </p:cNvSpPr>
          <p:nvPr>
            <p:ph type="dt" sz="half" idx="10"/>
          </p:nvPr>
        </p:nvSpPr>
        <p:spPr/>
        <p:txBody>
          <a:bodyPr/>
          <a:lstStyle/>
          <a:p>
            <a:fld id="{5A43C59C-D348-4E35-935E-795B80037308}" type="datetimeFigureOut">
              <a:rPr lang="en-IN" smtClean="0"/>
              <a:t>31-07-2026</a:t>
            </a:fld>
            <a:endParaRPr lang="en-IN"/>
          </a:p>
        </p:txBody>
      </p:sp>
      <p:sp>
        <p:nvSpPr>
          <p:cNvPr id="6" name="Footer Placeholder 5">
            <a:extLst>
              <a:ext uri="{FF2B5EF4-FFF2-40B4-BE49-F238E27FC236}">
                <a16:creationId xmlns:a16="http://schemas.microsoft.com/office/drawing/2014/main" id="{01542664-64CB-C35E-BFDC-B6CA24B30E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0B1687-66A3-5D9B-01BD-58ADC8368BD5}"/>
              </a:ext>
            </a:extLst>
          </p:cNvPr>
          <p:cNvSpPr>
            <a:spLocks noGrp="1"/>
          </p:cNvSpPr>
          <p:nvPr>
            <p:ph type="sldNum" sz="quarter" idx="12"/>
          </p:nvPr>
        </p:nvSpPr>
        <p:spPr/>
        <p:txBody>
          <a:bodyPr/>
          <a:lstStyle/>
          <a:p>
            <a:fld id="{9451C74D-7F79-443D-8D9C-9C0E1688932C}" type="slidenum">
              <a:rPr lang="en-IN" smtClean="0"/>
              <a:t>‹#›</a:t>
            </a:fld>
            <a:endParaRPr lang="en-IN"/>
          </a:p>
        </p:txBody>
      </p:sp>
    </p:spTree>
    <p:extLst>
      <p:ext uri="{BB962C8B-B14F-4D97-AF65-F5344CB8AC3E}">
        <p14:creationId xmlns:p14="http://schemas.microsoft.com/office/powerpoint/2010/main" val="2991093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6A891-1212-FC17-F46F-96515C088B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F5DC89-A525-2AC6-D488-ECE60A69FB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9CEA8A2-935D-EB09-C4FE-3FE0FCC6A2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D531F0-9762-878E-77B8-14FECAB7B109}"/>
              </a:ext>
            </a:extLst>
          </p:cNvPr>
          <p:cNvSpPr>
            <a:spLocks noGrp="1"/>
          </p:cNvSpPr>
          <p:nvPr>
            <p:ph type="dt" sz="half" idx="10"/>
          </p:nvPr>
        </p:nvSpPr>
        <p:spPr/>
        <p:txBody>
          <a:bodyPr/>
          <a:lstStyle/>
          <a:p>
            <a:fld id="{5A43C59C-D348-4E35-935E-795B80037308}" type="datetimeFigureOut">
              <a:rPr lang="en-IN" smtClean="0"/>
              <a:t>31-07-2026</a:t>
            </a:fld>
            <a:endParaRPr lang="en-IN"/>
          </a:p>
        </p:txBody>
      </p:sp>
      <p:sp>
        <p:nvSpPr>
          <p:cNvPr id="6" name="Footer Placeholder 5">
            <a:extLst>
              <a:ext uri="{FF2B5EF4-FFF2-40B4-BE49-F238E27FC236}">
                <a16:creationId xmlns:a16="http://schemas.microsoft.com/office/drawing/2014/main" id="{F8C59E73-D56C-7C42-CA52-D87D08702F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9C4CCF-A095-0073-9FC3-3F89C67D2C0D}"/>
              </a:ext>
            </a:extLst>
          </p:cNvPr>
          <p:cNvSpPr>
            <a:spLocks noGrp="1"/>
          </p:cNvSpPr>
          <p:nvPr>
            <p:ph type="sldNum" sz="quarter" idx="12"/>
          </p:nvPr>
        </p:nvSpPr>
        <p:spPr/>
        <p:txBody>
          <a:bodyPr/>
          <a:lstStyle/>
          <a:p>
            <a:fld id="{9451C74D-7F79-443D-8D9C-9C0E1688932C}" type="slidenum">
              <a:rPr lang="en-IN" smtClean="0"/>
              <a:t>‹#›</a:t>
            </a:fld>
            <a:endParaRPr lang="en-IN"/>
          </a:p>
        </p:txBody>
      </p:sp>
    </p:spTree>
    <p:extLst>
      <p:ext uri="{BB962C8B-B14F-4D97-AF65-F5344CB8AC3E}">
        <p14:creationId xmlns:p14="http://schemas.microsoft.com/office/powerpoint/2010/main" val="873547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82590-7595-1F6F-5B28-AF742E58B9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6B3C24-FC67-8F17-F52B-D59C9414C3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AD6E17-1530-F472-5AE1-00BB564B47E7}"/>
              </a:ext>
            </a:extLst>
          </p:cNvPr>
          <p:cNvSpPr>
            <a:spLocks noGrp="1"/>
          </p:cNvSpPr>
          <p:nvPr>
            <p:ph type="dt" sz="half" idx="10"/>
          </p:nvPr>
        </p:nvSpPr>
        <p:spPr/>
        <p:txBody>
          <a:bodyPr/>
          <a:lstStyle/>
          <a:p>
            <a:fld id="{5A43C59C-D348-4E35-935E-795B80037308}" type="datetimeFigureOut">
              <a:rPr lang="en-IN" smtClean="0"/>
              <a:t>31-07-2026</a:t>
            </a:fld>
            <a:endParaRPr lang="en-IN"/>
          </a:p>
        </p:txBody>
      </p:sp>
      <p:sp>
        <p:nvSpPr>
          <p:cNvPr id="5" name="Footer Placeholder 4">
            <a:extLst>
              <a:ext uri="{FF2B5EF4-FFF2-40B4-BE49-F238E27FC236}">
                <a16:creationId xmlns:a16="http://schemas.microsoft.com/office/drawing/2014/main" id="{0DA23BE7-18D5-19F6-A9C3-016AAF68F2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1704CF-4A1F-3E6A-2C84-5FC7F0C47167}"/>
              </a:ext>
            </a:extLst>
          </p:cNvPr>
          <p:cNvSpPr>
            <a:spLocks noGrp="1"/>
          </p:cNvSpPr>
          <p:nvPr>
            <p:ph type="sldNum" sz="quarter" idx="12"/>
          </p:nvPr>
        </p:nvSpPr>
        <p:spPr/>
        <p:txBody>
          <a:bodyPr/>
          <a:lstStyle/>
          <a:p>
            <a:fld id="{9451C74D-7F79-443D-8D9C-9C0E1688932C}" type="slidenum">
              <a:rPr lang="en-IN" smtClean="0"/>
              <a:t>‹#›</a:t>
            </a:fld>
            <a:endParaRPr lang="en-IN"/>
          </a:p>
        </p:txBody>
      </p:sp>
    </p:spTree>
    <p:extLst>
      <p:ext uri="{BB962C8B-B14F-4D97-AF65-F5344CB8AC3E}">
        <p14:creationId xmlns:p14="http://schemas.microsoft.com/office/powerpoint/2010/main" val="2590130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8C55F5-778A-2106-E59B-24C8217C550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D5BE9F-852B-8D5C-890A-3C6AD83387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9C9444-44EC-9F5C-20CA-71C09E2CEEEE}"/>
              </a:ext>
            </a:extLst>
          </p:cNvPr>
          <p:cNvSpPr>
            <a:spLocks noGrp="1"/>
          </p:cNvSpPr>
          <p:nvPr>
            <p:ph type="dt" sz="half" idx="10"/>
          </p:nvPr>
        </p:nvSpPr>
        <p:spPr/>
        <p:txBody>
          <a:bodyPr/>
          <a:lstStyle/>
          <a:p>
            <a:fld id="{5A43C59C-D348-4E35-935E-795B80037308}" type="datetimeFigureOut">
              <a:rPr lang="en-IN" smtClean="0"/>
              <a:t>31-07-2026</a:t>
            </a:fld>
            <a:endParaRPr lang="en-IN"/>
          </a:p>
        </p:txBody>
      </p:sp>
      <p:sp>
        <p:nvSpPr>
          <p:cNvPr id="5" name="Footer Placeholder 4">
            <a:extLst>
              <a:ext uri="{FF2B5EF4-FFF2-40B4-BE49-F238E27FC236}">
                <a16:creationId xmlns:a16="http://schemas.microsoft.com/office/drawing/2014/main" id="{98C146D5-A919-4F3F-AE86-4A9EB9BF7E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2A890A-5808-A632-93C4-C4585FE15E40}"/>
              </a:ext>
            </a:extLst>
          </p:cNvPr>
          <p:cNvSpPr>
            <a:spLocks noGrp="1"/>
          </p:cNvSpPr>
          <p:nvPr>
            <p:ph type="sldNum" sz="quarter" idx="12"/>
          </p:nvPr>
        </p:nvSpPr>
        <p:spPr/>
        <p:txBody>
          <a:bodyPr/>
          <a:lstStyle/>
          <a:p>
            <a:fld id="{9451C74D-7F79-443D-8D9C-9C0E1688932C}" type="slidenum">
              <a:rPr lang="en-IN" smtClean="0"/>
              <a:t>‹#›</a:t>
            </a:fld>
            <a:endParaRPr lang="en-IN"/>
          </a:p>
        </p:txBody>
      </p:sp>
    </p:spTree>
    <p:extLst>
      <p:ext uri="{BB962C8B-B14F-4D97-AF65-F5344CB8AC3E}">
        <p14:creationId xmlns:p14="http://schemas.microsoft.com/office/powerpoint/2010/main" val="895969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9F82DC-183E-33E2-E362-CFFC165C3D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2E9546-99DA-27CB-3AD1-9F5C15ED1C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06FB5F-D028-3A49-9043-B3B236ED1D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43C59C-D348-4E35-935E-795B80037308}" type="datetimeFigureOut">
              <a:rPr lang="en-IN" smtClean="0"/>
              <a:t>31-07-2026</a:t>
            </a:fld>
            <a:endParaRPr lang="en-IN"/>
          </a:p>
        </p:txBody>
      </p:sp>
      <p:sp>
        <p:nvSpPr>
          <p:cNvPr id="5" name="Footer Placeholder 4">
            <a:extLst>
              <a:ext uri="{FF2B5EF4-FFF2-40B4-BE49-F238E27FC236}">
                <a16:creationId xmlns:a16="http://schemas.microsoft.com/office/drawing/2014/main" id="{DF953C4C-1F91-9C1F-7E07-2F393BE6C5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95DC19A-174E-E8CE-3282-82E5794982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51C74D-7F79-443D-8D9C-9C0E1688932C}" type="slidenum">
              <a:rPr lang="en-IN" smtClean="0"/>
              <a:t>‹#›</a:t>
            </a:fld>
            <a:endParaRPr lang="en-IN"/>
          </a:p>
        </p:txBody>
      </p:sp>
    </p:spTree>
    <p:extLst>
      <p:ext uri="{BB962C8B-B14F-4D97-AF65-F5344CB8AC3E}">
        <p14:creationId xmlns:p14="http://schemas.microsoft.com/office/powerpoint/2010/main" val="24323988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D998C-0993-B9BD-2BE9-640E9B694A15}"/>
              </a:ext>
            </a:extLst>
          </p:cNvPr>
          <p:cNvSpPr>
            <a:spLocks noGrp="1"/>
          </p:cNvSpPr>
          <p:nvPr>
            <p:ph type="ctrTitle"/>
          </p:nvPr>
        </p:nvSpPr>
        <p:spPr/>
        <p:txBody>
          <a:bodyPr/>
          <a:lstStyle/>
          <a:p>
            <a:r>
              <a:rPr lang="en-US" dirty="0"/>
              <a:t>BRAIDS AND QUANTUM COMPUTING</a:t>
            </a:r>
            <a:endParaRPr lang="en-IN" dirty="0"/>
          </a:p>
        </p:txBody>
      </p:sp>
      <p:sp>
        <p:nvSpPr>
          <p:cNvPr id="3" name="Subtitle 2">
            <a:extLst>
              <a:ext uri="{FF2B5EF4-FFF2-40B4-BE49-F238E27FC236}">
                <a16:creationId xmlns:a16="http://schemas.microsoft.com/office/drawing/2014/main" id="{ACB23676-FCD9-9964-2135-D3BD1829D173}"/>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103833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F3EEB-AF64-055E-F6F5-44C64DADCA63}"/>
              </a:ext>
            </a:extLst>
          </p:cNvPr>
          <p:cNvSpPr>
            <a:spLocks noGrp="1"/>
          </p:cNvSpPr>
          <p:nvPr>
            <p:ph type="title"/>
          </p:nvPr>
        </p:nvSpPr>
        <p:spPr>
          <a:xfrm>
            <a:off x="625549" y="500062"/>
            <a:ext cx="10515600" cy="1325563"/>
          </a:xfrm>
        </p:spPr>
        <p:txBody>
          <a:bodyPr>
            <a:normAutofit fontScale="90000"/>
          </a:bodyPr>
          <a:lstStyle/>
          <a:p>
            <a:r>
              <a:rPr lang="en-IN" b="1" dirty="0"/>
              <a:t>how are the braids made in 3D transported to 2D processing? Is it by </a:t>
            </a:r>
            <a:r>
              <a:rPr lang="en-IN" b="1" dirty="0" err="1"/>
              <a:t>bloch</a:t>
            </a:r>
            <a:r>
              <a:rPr lang="en-IN" b="1" dirty="0"/>
              <a:t> sphere?</a:t>
            </a:r>
            <a:br>
              <a:rPr lang="en-IN" b="1" dirty="0"/>
            </a:br>
            <a:endParaRPr lang="en-IN" b="1" dirty="0"/>
          </a:p>
        </p:txBody>
      </p:sp>
      <p:sp>
        <p:nvSpPr>
          <p:cNvPr id="3" name="Content Placeholder 2">
            <a:extLst>
              <a:ext uri="{FF2B5EF4-FFF2-40B4-BE49-F238E27FC236}">
                <a16:creationId xmlns:a16="http://schemas.microsoft.com/office/drawing/2014/main" id="{0719E890-F661-F988-8564-781FBEF1CB17}"/>
              </a:ext>
            </a:extLst>
          </p:cNvPr>
          <p:cNvSpPr>
            <a:spLocks noGrp="1"/>
          </p:cNvSpPr>
          <p:nvPr>
            <p:ph idx="1"/>
          </p:nvPr>
        </p:nvSpPr>
        <p:spPr/>
        <p:txBody>
          <a:bodyPr/>
          <a:lstStyle/>
          <a:p>
            <a:r>
              <a:rPr lang="en-IN" b="1" dirty="0"/>
              <a:t>Braids in 3D vs 2D</a:t>
            </a:r>
          </a:p>
          <a:p>
            <a:pPr lvl="0"/>
            <a:r>
              <a:rPr lang="en-IN" dirty="0">
                <a:effectLst/>
              </a:rPr>
              <a:t>In </a:t>
            </a:r>
            <a:r>
              <a:rPr lang="en-IN" b="1" dirty="0">
                <a:effectLst/>
              </a:rPr>
              <a:t>3D space</a:t>
            </a:r>
            <a:r>
              <a:rPr lang="en-IN" dirty="0">
                <a:effectLst/>
              </a:rPr>
              <a:t>, when you exchange two particles, their paths can be continuously deformed back to a simple swap. That’s why only bosons (+1 phase) and fermions (−1 phase) exist.</a:t>
            </a:r>
            <a:endParaRPr lang="en-IN" dirty="0"/>
          </a:p>
          <a:p>
            <a:pPr lvl="0"/>
            <a:r>
              <a:rPr lang="en-IN" dirty="0">
                <a:effectLst/>
              </a:rPr>
              <a:t>In </a:t>
            </a:r>
            <a:r>
              <a:rPr lang="en-IN" b="1" dirty="0">
                <a:effectLst/>
              </a:rPr>
              <a:t>2D space</a:t>
            </a:r>
            <a:r>
              <a:rPr lang="en-IN" dirty="0">
                <a:effectLst/>
              </a:rPr>
              <a:t>, paths of particles can’t always be deformed into each other without crossing. The history of how particles loop around each other matters — this is the </a:t>
            </a:r>
            <a:r>
              <a:rPr lang="en-IN" b="1" dirty="0">
                <a:effectLst/>
              </a:rPr>
              <a:t>braid group</a:t>
            </a:r>
            <a:r>
              <a:rPr lang="en-IN" dirty="0">
                <a:effectLst/>
              </a:rPr>
              <a:t>.</a:t>
            </a:r>
            <a:endParaRPr lang="en-IN" dirty="0"/>
          </a:p>
          <a:p>
            <a:pPr lvl="1"/>
            <a:r>
              <a:rPr lang="en-IN" dirty="0">
                <a:effectLst/>
              </a:rPr>
              <a:t>Each braid corresponds to a distinct transformation of the system’s quantum state.</a:t>
            </a:r>
            <a:endParaRPr lang="en-IN" dirty="0"/>
          </a:p>
          <a:p>
            <a:pPr lvl="1"/>
            <a:r>
              <a:rPr lang="en-IN" dirty="0">
                <a:effectLst/>
              </a:rPr>
              <a:t>That’s what gives rise to </a:t>
            </a:r>
            <a:r>
              <a:rPr lang="en-IN" b="1" dirty="0" err="1">
                <a:effectLst/>
              </a:rPr>
              <a:t>anyons</a:t>
            </a:r>
            <a:r>
              <a:rPr lang="en-IN" dirty="0">
                <a:effectLst/>
              </a:rPr>
              <a:t>.</a:t>
            </a:r>
            <a:endParaRPr lang="en-IN" dirty="0"/>
          </a:p>
          <a:p>
            <a:endParaRPr lang="en-IN" dirty="0"/>
          </a:p>
        </p:txBody>
      </p:sp>
    </p:spTree>
    <p:extLst>
      <p:ext uri="{BB962C8B-B14F-4D97-AF65-F5344CB8AC3E}">
        <p14:creationId xmlns:p14="http://schemas.microsoft.com/office/powerpoint/2010/main" val="2474403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790BC-DD81-2E62-57FB-37E0DEFCA7E4}"/>
              </a:ext>
            </a:extLst>
          </p:cNvPr>
          <p:cNvSpPr>
            <a:spLocks noGrp="1"/>
          </p:cNvSpPr>
          <p:nvPr>
            <p:ph type="title"/>
          </p:nvPr>
        </p:nvSpPr>
        <p:spPr/>
        <p:txBody>
          <a:bodyPr/>
          <a:lstStyle/>
          <a:p>
            <a:r>
              <a:rPr lang="en-IN" b="1" dirty="0"/>
              <a:t>Transporting Braids into 2D Processing</a:t>
            </a:r>
            <a:br>
              <a:rPr lang="en-IN" b="1" dirty="0"/>
            </a:br>
            <a:endParaRPr lang="en-IN" dirty="0"/>
          </a:p>
        </p:txBody>
      </p:sp>
      <p:sp>
        <p:nvSpPr>
          <p:cNvPr id="3" name="Content Placeholder 2">
            <a:extLst>
              <a:ext uri="{FF2B5EF4-FFF2-40B4-BE49-F238E27FC236}">
                <a16:creationId xmlns:a16="http://schemas.microsoft.com/office/drawing/2014/main" id="{F511C264-4A0A-E5AB-D1C3-1F8146D809EF}"/>
              </a:ext>
            </a:extLst>
          </p:cNvPr>
          <p:cNvSpPr>
            <a:spLocks noGrp="1"/>
          </p:cNvSpPr>
          <p:nvPr>
            <p:ph idx="1"/>
          </p:nvPr>
        </p:nvSpPr>
        <p:spPr/>
        <p:txBody>
          <a:bodyPr/>
          <a:lstStyle/>
          <a:p>
            <a:r>
              <a:rPr lang="en-IN" b="1" dirty="0"/>
              <a:t>Transporting Braids into 2D Processing</a:t>
            </a:r>
          </a:p>
          <a:p>
            <a:pPr lvl="0"/>
            <a:r>
              <a:rPr lang="en-IN" dirty="0">
                <a:effectLst/>
              </a:rPr>
              <a:t>The “transport” is not literal motion from 3D to 2D, but rather a </a:t>
            </a:r>
            <a:r>
              <a:rPr lang="en-IN" b="1" dirty="0">
                <a:effectLst/>
              </a:rPr>
              <a:t>mathematical projection</a:t>
            </a:r>
            <a:r>
              <a:rPr lang="en-IN" dirty="0">
                <a:effectLst/>
              </a:rPr>
              <a:t>:</a:t>
            </a:r>
            <a:endParaRPr lang="en-IN" dirty="0"/>
          </a:p>
          <a:p>
            <a:pPr lvl="1"/>
            <a:r>
              <a:rPr lang="en-IN" dirty="0">
                <a:effectLst/>
              </a:rPr>
              <a:t>In 3D, particle exchanges are trivial (permutation group).</a:t>
            </a:r>
            <a:endParaRPr lang="en-IN" dirty="0"/>
          </a:p>
          <a:p>
            <a:pPr lvl="1"/>
            <a:r>
              <a:rPr lang="en-IN" dirty="0">
                <a:effectLst/>
              </a:rPr>
              <a:t>In 2D, exchanges are nontrivial (braid group).</a:t>
            </a:r>
            <a:endParaRPr lang="en-IN" dirty="0"/>
          </a:p>
          <a:p>
            <a:pPr lvl="0"/>
            <a:r>
              <a:rPr lang="en-IN" dirty="0">
                <a:effectLst/>
              </a:rPr>
              <a:t>So when physicists talk about “braiding in 2D,” they mean encoding particle exchanges as </a:t>
            </a:r>
            <a:r>
              <a:rPr lang="en-IN" b="1" dirty="0">
                <a:effectLst/>
              </a:rPr>
              <a:t>braid operations</a:t>
            </a:r>
            <a:r>
              <a:rPr lang="en-IN" dirty="0">
                <a:effectLst/>
              </a:rPr>
              <a:t> that act on the Hilbert space of </a:t>
            </a:r>
            <a:r>
              <a:rPr lang="en-IN" dirty="0" err="1">
                <a:effectLst/>
              </a:rPr>
              <a:t>anyons</a:t>
            </a:r>
            <a:r>
              <a:rPr lang="en-IN" dirty="0">
                <a:effectLst/>
              </a:rPr>
              <a:t>.</a:t>
            </a:r>
            <a:endParaRPr lang="en-IN" dirty="0"/>
          </a:p>
          <a:p>
            <a:endParaRPr lang="en-IN" dirty="0"/>
          </a:p>
        </p:txBody>
      </p:sp>
    </p:spTree>
    <p:extLst>
      <p:ext uri="{BB962C8B-B14F-4D97-AF65-F5344CB8AC3E}">
        <p14:creationId xmlns:p14="http://schemas.microsoft.com/office/powerpoint/2010/main" val="2013614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2F6F3-4E93-1468-40A3-7A884E5A662B}"/>
              </a:ext>
            </a:extLst>
          </p:cNvPr>
          <p:cNvSpPr>
            <a:spLocks noGrp="1"/>
          </p:cNvSpPr>
          <p:nvPr>
            <p:ph type="title"/>
          </p:nvPr>
        </p:nvSpPr>
        <p:spPr/>
        <p:txBody>
          <a:bodyPr/>
          <a:lstStyle/>
          <a:p>
            <a:r>
              <a:rPr lang="en-IN" b="1" dirty="0"/>
              <a:t>Bloch Sphere vs Braid Group</a:t>
            </a:r>
            <a:br>
              <a:rPr lang="en-IN" b="1" dirty="0"/>
            </a:br>
            <a:endParaRPr lang="en-IN" dirty="0"/>
          </a:p>
        </p:txBody>
      </p:sp>
      <p:sp>
        <p:nvSpPr>
          <p:cNvPr id="3" name="Content Placeholder 2">
            <a:extLst>
              <a:ext uri="{FF2B5EF4-FFF2-40B4-BE49-F238E27FC236}">
                <a16:creationId xmlns:a16="http://schemas.microsoft.com/office/drawing/2014/main" id="{C03437BA-5A51-453E-9BB6-6D763EB9B505}"/>
              </a:ext>
            </a:extLst>
          </p:cNvPr>
          <p:cNvSpPr>
            <a:spLocks noGrp="1"/>
          </p:cNvSpPr>
          <p:nvPr>
            <p:ph idx="1"/>
          </p:nvPr>
        </p:nvSpPr>
        <p:spPr/>
        <p:txBody>
          <a:bodyPr>
            <a:normAutofit fontScale="92500" lnSpcReduction="20000"/>
          </a:bodyPr>
          <a:lstStyle/>
          <a:p>
            <a:r>
              <a:rPr lang="en-IN" b="1" dirty="0"/>
              <a:t>Bloch Sphere vs Braid Group</a:t>
            </a:r>
          </a:p>
          <a:p>
            <a:pPr lvl="0"/>
            <a:r>
              <a:rPr lang="en-IN" dirty="0">
                <a:effectLst/>
              </a:rPr>
              <a:t>The </a:t>
            </a:r>
            <a:r>
              <a:rPr lang="en-IN" b="1" dirty="0">
                <a:effectLst/>
              </a:rPr>
              <a:t>Bloch sphere</a:t>
            </a:r>
            <a:r>
              <a:rPr lang="en-IN" dirty="0">
                <a:effectLst/>
              </a:rPr>
              <a:t> is a geometric representation of a single qubit’s state (superposition of |0⟩ and |1⟩). It’s a tool for visualizing quantum states in 3D space.</a:t>
            </a:r>
            <a:endParaRPr lang="en-IN" dirty="0"/>
          </a:p>
          <a:p>
            <a:pPr lvl="0"/>
            <a:r>
              <a:rPr lang="en-IN" dirty="0">
                <a:effectLst/>
              </a:rPr>
              <a:t>The </a:t>
            </a:r>
            <a:r>
              <a:rPr lang="en-IN" b="1" dirty="0">
                <a:effectLst/>
              </a:rPr>
              <a:t>braid group</a:t>
            </a:r>
            <a:r>
              <a:rPr lang="en-IN" dirty="0">
                <a:effectLst/>
              </a:rPr>
              <a:t> is a topological structure describing how particle paths intertwine in 2D.</a:t>
            </a:r>
            <a:endParaRPr lang="en-IN" dirty="0"/>
          </a:p>
          <a:p>
            <a:pPr lvl="0"/>
            <a:r>
              <a:rPr lang="en-IN" dirty="0">
                <a:effectLst/>
              </a:rPr>
              <a:t>They are related but not the same:</a:t>
            </a:r>
            <a:endParaRPr lang="en-IN" dirty="0"/>
          </a:p>
          <a:p>
            <a:pPr lvl="1"/>
            <a:r>
              <a:rPr lang="en-IN" dirty="0">
                <a:effectLst/>
              </a:rPr>
              <a:t>Bloch sphere → visualization of quantum states.</a:t>
            </a:r>
            <a:endParaRPr lang="en-IN" dirty="0"/>
          </a:p>
          <a:p>
            <a:pPr lvl="1"/>
            <a:r>
              <a:rPr lang="en-IN" dirty="0">
                <a:effectLst/>
              </a:rPr>
              <a:t>Braids → operations (unitary transformations) on multi-</a:t>
            </a:r>
            <a:r>
              <a:rPr lang="en-IN" dirty="0" err="1">
                <a:effectLst/>
              </a:rPr>
              <a:t>anyon</a:t>
            </a:r>
            <a:r>
              <a:rPr lang="en-IN" dirty="0">
                <a:effectLst/>
              </a:rPr>
              <a:t> states.</a:t>
            </a:r>
            <a:endParaRPr lang="en-IN" dirty="0"/>
          </a:p>
          <a:p>
            <a:r>
              <a:rPr lang="en-IN" dirty="0">
                <a:effectLst/>
              </a:rPr>
              <a:t>In </a:t>
            </a:r>
            <a:r>
              <a:rPr lang="en-IN" b="1" dirty="0">
                <a:effectLst/>
              </a:rPr>
              <a:t>topological quantum computing</a:t>
            </a:r>
            <a:r>
              <a:rPr lang="en-IN" dirty="0">
                <a:effectLst/>
              </a:rPr>
              <a:t>, braiding </a:t>
            </a:r>
            <a:r>
              <a:rPr lang="en-IN" dirty="0" err="1">
                <a:effectLst/>
              </a:rPr>
              <a:t>anyons</a:t>
            </a:r>
            <a:r>
              <a:rPr lang="en-IN" dirty="0">
                <a:effectLst/>
              </a:rPr>
              <a:t> implements quantum gates. The effect of a braid is mathematically equivalent to applying a unitary transformation — which can be visualized on the Bloch sphere if you’re tracking a qubit.</a:t>
            </a:r>
            <a:endParaRPr lang="en-IN" dirty="0"/>
          </a:p>
          <a:p>
            <a:endParaRPr lang="en-IN" dirty="0"/>
          </a:p>
        </p:txBody>
      </p:sp>
    </p:spTree>
    <p:extLst>
      <p:ext uri="{BB962C8B-B14F-4D97-AF65-F5344CB8AC3E}">
        <p14:creationId xmlns:p14="http://schemas.microsoft.com/office/powerpoint/2010/main" val="3863781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58FE4-D8DF-3CA4-4710-0D4B19E49B2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E3BBDC4-BE58-ACBB-31BA-9E36B9BC5D9E}"/>
              </a:ext>
            </a:extLst>
          </p:cNvPr>
          <p:cNvSpPr>
            <a:spLocks noGrp="1"/>
          </p:cNvSpPr>
          <p:nvPr>
            <p:ph idx="1"/>
          </p:nvPr>
        </p:nvSpPr>
        <p:spPr>
          <a:xfrm>
            <a:off x="838200" y="1825625"/>
            <a:ext cx="10515600" cy="4667250"/>
          </a:xfrm>
        </p:spPr>
        <p:txBody>
          <a:bodyPr>
            <a:normAutofit lnSpcReduction="10000"/>
          </a:bodyPr>
          <a:lstStyle/>
          <a:p>
            <a:r>
              <a:rPr lang="en-IN" b="1" dirty="0"/>
              <a:t>Putting It Together</a:t>
            </a:r>
          </a:p>
          <a:p>
            <a:pPr lvl="0"/>
            <a:r>
              <a:rPr lang="en-IN" b="1" dirty="0">
                <a:effectLst/>
              </a:rPr>
              <a:t>3D particle exchange</a:t>
            </a:r>
            <a:r>
              <a:rPr lang="en-IN" dirty="0">
                <a:effectLst/>
              </a:rPr>
              <a:t> → trivial, only bosons/fermions.</a:t>
            </a:r>
            <a:endParaRPr lang="en-IN" dirty="0"/>
          </a:p>
          <a:p>
            <a:pPr lvl="0"/>
            <a:r>
              <a:rPr lang="en-IN" b="1" dirty="0">
                <a:effectLst/>
              </a:rPr>
              <a:t>2D braiding</a:t>
            </a:r>
            <a:r>
              <a:rPr lang="en-IN" dirty="0">
                <a:effectLst/>
              </a:rPr>
              <a:t> → nontrivial, gives rise to </a:t>
            </a:r>
            <a:r>
              <a:rPr lang="en-IN" dirty="0" err="1">
                <a:effectLst/>
              </a:rPr>
              <a:t>anyons</a:t>
            </a:r>
            <a:r>
              <a:rPr lang="en-IN" dirty="0">
                <a:effectLst/>
              </a:rPr>
              <a:t>.</a:t>
            </a:r>
            <a:endParaRPr lang="en-IN" dirty="0"/>
          </a:p>
          <a:p>
            <a:pPr lvl="0"/>
            <a:r>
              <a:rPr lang="en-IN" b="1" dirty="0">
                <a:effectLst/>
              </a:rPr>
              <a:t>Bloch sphere</a:t>
            </a:r>
            <a:r>
              <a:rPr lang="en-IN" dirty="0">
                <a:effectLst/>
              </a:rPr>
              <a:t> → a visualization tool for qubits, not the mechanism of braiding.</a:t>
            </a:r>
            <a:endParaRPr lang="en-IN" dirty="0"/>
          </a:p>
          <a:p>
            <a:pPr lvl="0"/>
            <a:r>
              <a:rPr lang="en-IN" dirty="0">
                <a:effectLst/>
              </a:rPr>
              <a:t>The connection: braiding in 2D produces unitary operations, which can be mapped to rotations on the Bloch sphere when encoding qubits.</a:t>
            </a:r>
            <a:endParaRPr lang="en-IN" dirty="0"/>
          </a:p>
          <a:p>
            <a:r>
              <a:rPr lang="en-IN" dirty="0"/>
              <a:t>So: braids in 2D aren’t “transported” via the Bloch sphere — instead, braiding defines the </a:t>
            </a:r>
            <a:r>
              <a:rPr lang="en-IN" b="1" dirty="0"/>
              <a:t>quantum gates</a:t>
            </a:r>
            <a:r>
              <a:rPr lang="en-IN" dirty="0"/>
              <a:t>, and the Bloch sphere is one way to visualize the resulting qubit transformations.</a:t>
            </a:r>
          </a:p>
        </p:txBody>
      </p:sp>
    </p:spTree>
    <p:extLst>
      <p:ext uri="{BB962C8B-B14F-4D97-AF65-F5344CB8AC3E}">
        <p14:creationId xmlns:p14="http://schemas.microsoft.com/office/powerpoint/2010/main" val="729749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C48AC-90C6-6FD2-57B3-047EAC1BB38E}"/>
              </a:ext>
            </a:extLst>
          </p:cNvPr>
          <p:cNvSpPr>
            <a:spLocks noGrp="1"/>
          </p:cNvSpPr>
          <p:nvPr>
            <p:ph type="title"/>
          </p:nvPr>
        </p:nvSpPr>
        <p:spPr/>
        <p:txBody>
          <a:bodyPr>
            <a:noAutofit/>
          </a:bodyPr>
          <a:lstStyle/>
          <a:p>
            <a:r>
              <a:rPr lang="en-IN" sz="2800" b="1" dirty="0"/>
              <a:t>are you saying that after the braiding in 3D the values are derived by </a:t>
            </a:r>
            <a:r>
              <a:rPr lang="en-IN" sz="2800" b="1" dirty="0" err="1"/>
              <a:t>braidgroup</a:t>
            </a:r>
            <a:r>
              <a:rPr lang="en-IN" sz="2800" b="1" dirty="0"/>
              <a:t> </a:t>
            </a:r>
            <a:r>
              <a:rPr lang="en-IN" sz="2800" b="1" dirty="0" err="1"/>
              <a:t>whiich</a:t>
            </a:r>
            <a:r>
              <a:rPr lang="en-IN" sz="2800" b="1" dirty="0"/>
              <a:t> acting as a gate delivers the values of amplitudes and phases? the </a:t>
            </a:r>
            <a:r>
              <a:rPr lang="en-IN" sz="2800" b="1" dirty="0" err="1"/>
              <a:t>the</a:t>
            </a:r>
            <a:r>
              <a:rPr lang="en-IN" sz="2800" b="1" dirty="0"/>
              <a:t> </a:t>
            </a:r>
            <a:r>
              <a:rPr lang="en-IN" sz="2800" b="1" dirty="0" err="1"/>
              <a:t>bloch</a:t>
            </a:r>
            <a:r>
              <a:rPr lang="en-IN" sz="2800" b="1" dirty="0"/>
              <a:t> sphere does not come into the picture?</a:t>
            </a:r>
            <a:br>
              <a:rPr lang="en-IN" sz="2800" b="1" dirty="0"/>
            </a:br>
            <a:endParaRPr lang="en-IN" sz="2800" b="1" dirty="0"/>
          </a:p>
        </p:txBody>
      </p:sp>
      <p:sp>
        <p:nvSpPr>
          <p:cNvPr id="3" name="Content Placeholder 2">
            <a:extLst>
              <a:ext uri="{FF2B5EF4-FFF2-40B4-BE49-F238E27FC236}">
                <a16:creationId xmlns:a16="http://schemas.microsoft.com/office/drawing/2014/main" id="{2F9CAAE5-5123-002A-A085-E42C919A1AA2}"/>
              </a:ext>
            </a:extLst>
          </p:cNvPr>
          <p:cNvSpPr>
            <a:spLocks noGrp="1"/>
          </p:cNvSpPr>
          <p:nvPr>
            <p:ph idx="1"/>
          </p:nvPr>
        </p:nvSpPr>
        <p:spPr/>
        <p:txBody>
          <a:bodyPr/>
          <a:lstStyle/>
          <a:p>
            <a:r>
              <a:rPr lang="en-IN" b="1" dirty="0"/>
              <a:t>Braiding and the Braid Group</a:t>
            </a:r>
          </a:p>
          <a:p>
            <a:pPr lvl="0"/>
            <a:r>
              <a:rPr lang="en-IN" dirty="0">
                <a:effectLst/>
              </a:rPr>
              <a:t>In </a:t>
            </a:r>
            <a:r>
              <a:rPr lang="en-IN" b="1" dirty="0">
                <a:effectLst/>
              </a:rPr>
              <a:t>2D systems</a:t>
            </a:r>
            <a:r>
              <a:rPr lang="en-IN" dirty="0">
                <a:effectLst/>
              </a:rPr>
              <a:t>, exchanging </a:t>
            </a:r>
            <a:r>
              <a:rPr lang="en-IN" dirty="0" err="1">
                <a:effectLst/>
              </a:rPr>
              <a:t>anyons</a:t>
            </a:r>
            <a:r>
              <a:rPr lang="en-IN" dirty="0">
                <a:effectLst/>
              </a:rPr>
              <a:t> is described by the </a:t>
            </a:r>
            <a:r>
              <a:rPr lang="en-IN" b="1" dirty="0">
                <a:effectLst/>
              </a:rPr>
              <a:t>braid group</a:t>
            </a:r>
            <a:r>
              <a:rPr lang="en-IN" dirty="0">
                <a:effectLst/>
              </a:rPr>
              <a:t>.</a:t>
            </a:r>
            <a:endParaRPr lang="en-IN" dirty="0"/>
          </a:p>
          <a:p>
            <a:pPr lvl="0"/>
            <a:r>
              <a:rPr lang="en-IN" dirty="0">
                <a:effectLst/>
              </a:rPr>
              <a:t>Each braid corresponds to a </a:t>
            </a:r>
            <a:r>
              <a:rPr lang="en-IN" b="1" dirty="0">
                <a:effectLst/>
              </a:rPr>
              <a:t>unitary operator</a:t>
            </a:r>
            <a:r>
              <a:rPr lang="en-IN" dirty="0">
                <a:effectLst/>
              </a:rPr>
              <a:t> acting on the Hilbert space of the system.</a:t>
            </a:r>
            <a:endParaRPr lang="en-IN" dirty="0"/>
          </a:p>
          <a:p>
            <a:pPr lvl="0"/>
            <a:r>
              <a:rPr lang="en-IN" dirty="0">
                <a:effectLst/>
              </a:rPr>
              <a:t>These operators encode both </a:t>
            </a:r>
            <a:r>
              <a:rPr lang="en-IN" b="1" dirty="0">
                <a:effectLst/>
              </a:rPr>
              <a:t>amplitudes</a:t>
            </a:r>
            <a:r>
              <a:rPr lang="en-IN" dirty="0">
                <a:effectLst/>
              </a:rPr>
              <a:t> (probabilities) and </a:t>
            </a:r>
            <a:r>
              <a:rPr lang="en-IN" b="1" dirty="0">
                <a:effectLst/>
              </a:rPr>
              <a:t>phases</a:t>
            </a:r>
            <a:r>
              <a:rPr lang="en-IN" dirty="0">
                <a:effectLst/>
              </a:rPr>
              <a:t> (quantum interference effects).</a:t>
            </a:r>
            <a:endParaRPr lang="en-IN" dirty="0"/>
          </a:p>
          <a:p>
            <a:pPr lvl="0"/>
            <a:r>
              <a:rPr lang="en-IN" dirty="0">
                <a:effectLst/>
              </a:rPr>
              <a:t>So yes: the braid group acts like a set of </a:t>
            </a:r>
            <a:r>
              <a:rPr lang="en-IN" b="1" dirty="0">
                <a:effectLst/>
              </a:rPr>
              <a:t>quantum gates</a:t>
            </a:r>
            <a:r>
              <a:rPr lang="en-IN" dirty="0">
                <a:effectLst/>
              </a:rPr>
              <a:t>, delivering transformations that define the system’s evolution.</a:t>
            </a:r>
            <a:endParaRPr lang="en-IN" dirty="0"/>
          </a:p>
          <a:p>
            <a:endParaRPr lang="en-IN" dirty="0"/>
          </a:p>
        </p:txBody>
      </p:sp>
    </p:spTree>
    <p:extLst>
      <p:ext uri="{BB962C8B-B14F-4D97-AF65-F5344CB8AC3E}">
        <p14:creationId xmlns:p14="http://schemas.microsoft.com/office/powerpoint/2010/main" val="566790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C2EB3-69DB-ADA1-715B-9B8FFF9284B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E0D63ED-7CF1-A2B3-4E59-9A4E25595179}"/>
              </a:ext>
            </a:extLst>
          </p:cNvPr>
          <p:cNvSpPr>
            <a:spLocks noGrp="1"/>
          </p:cNvSpPr>
          <p:nvPr>
            <p:ph idx="1"/>
          </p:nvPr>
        </p:nvSpPr>
        <p:spPr/>
        <p:txBody>
          <a:bodyPr/>
          <a:lstStyle/>
          <a:p>
            <a:r>
              <a:rPr lang="en-IN" b="1" dirty="0"/>
              <a:t>Bloch Sphere’s Role</a:t>
            </a:r>
          </a:p>
          <a:p>
            <a:pPr lvl="0"/>
            <a:r>
              <a:rPr lang="en-IN" dirty="0">
                <a:effectLst/>
              </a:rPr>
              <a:t>The </a:t>
            </a:r>
            <a:r>
              <a:rPr lang="en-IN" b="1" dirty="0">
                <a:effectLst/>
              </a:rPr>
              <a:t>Bloch sphere</a:t>
            </a:r>
            <a:r>
              <a:rPr lang="en-IN" dirty="0">
                <a:effectLst/>
              </a:rPr>
              <a:t> is a visualization tool for a </a:t>
            </a:r>
            <a:r>
              <a:rPr lang="en-IN" b="1" dirty="0">
                <a:effectLst/>
              </a:rPr>
              <a:t>single qubit</a:t>
            </a:r>
            <a:r>
              <a:rPr lang="en-IN" dirty="0">
                <a:effectLst/>
              </a:rPr>
              <a:t>. It shows how unitary operations rotate a qubit’s state vector.</a:t>
            </a:r>
            <a:endParaRPr lang="en-IN" dirty="0"/>
          </a:p>
          <a:p>
            <a:pPr lvl="0"/>
            <a:r>
              <a:rPr lang="en-IN" dirty="0">
                <a:effectLst/>
              </a:rPr>
              <a:t>Braiding </a:t>
            </a:r>
            <a:r>
              <a:rPr lang="en-IN" dirty="0" err="1">
                <a:effectLst/>
              </a:rPr>
              <a:t>anyons</a:t>
            </a:r>
            <a:r>
              <a:rPr lang="en-IN" dirty="0">
                <a:effectLst/>
              </a:rPr>
              <a:t> can implement such unitary operations, but the Bloch sphere itself is not the mechanism — it’s just a way to picture the result if you encode the </a:t>
            </a:r>
            <a:r>
              <a:rPr lang="en-IN" dirty="0" err="1">
                <a:effectLst/>
              </a:rPr>
              <a:t>anyonic</a:t>
            </a:r>
            <a:r>
              <a:rPr lang="en-IN" dirty="0">
                <a:effectLst/>
              </a:rPr>
              <a:t> Hilbert space into qubits.</a:t>
            </a:r>
            <a:endParaRPr lang="en-IN" dirty="0"/>
          </a:p>
          <a:p>
            <a:pPr lvl="0"/>
            <a:r>
              <a:rPr lang="en-IN" dirty="0">
                <a:effectLst/>
              </a:rPr>
              <a:t>In other words:</a:t>
            </a:r>
            <a:endParaRPr lang="en-IN" dirty="0"/>
          </a:p>
          <a:p>
            <a:pPr lvl="1"/>
            <a:r>
              <a:rPr lang="en-IN" b="1" dirty="0">
                <a:effectLst/>
              </a:rPr>
              <a:t>Braid group</a:t>
            </a:r>
            <a:r>
              <a:rPr lang="en-IN" dirty="0">
                <a:effectLst/>
              </a:rPr>
              <a:t> = the algebra/topology that defines the gate.</a:t>
            </a:r>
            <a:endParaRPr lang="en-IN" dirty="0"/>
          </a:p>
          <a:p>
            <a:pPr lvl="1"/>
            <a:r>
              <a:rPr lang="en-IN" b="1" dirty="0">
                <a:effectLst/>
              </a:rPr>
              <a:t>Bloch sphere</a:t>
            </a:r>
            <a:r>
              <a:rPr lang="en-IN" dirty="0">
                <a:effectLst/>
              </a:rPr>
              <a:t> = a geometric picture of what that gate does to a qubit.</a:t>
            </a:r>
            <a:endParaRPr lang="en-IN" dirty="0"/>
          </a:p>
          <a:p>
            <a:endParaRPr lang="en-IN" dirty="0"/>
          </a:p>
        </p:txBody>
      </p:sp>
    </p:spTree>
    <p:extLst>
      <p:ext uri="{BB962C8B-B14F-4D97-AF65-F5344CB8AC3E}">
        <p14:creationId xmlns:p14="http://schemas.microsoft.com/office/powerpoint/2010/main" val="2188178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35AF9-509A-4B3C-8BB9-28BCF10B355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D9E026B-EFA4-6245-1114-E1279747D0CB}"/>
              </a:ext>
            </a:extLst>
          </p:cNvPr>
          <p:cNvSpPr>
            <a:spLocks noGrp="1"/>
          </p:cNvSpPr>
          <p:nvPr>
            <p:ph idx="1"/>
          </p:nvPr>
        </p:nvSpPr>
        <p:spPr/>
        <p:txBody>
          <a:bodyPr>
            <a:normAutofit fontScale="92500" lnSpcReduction="10000"/>
          </a:bodyPr>
          <a:lstStyle/>
          <a:p>
            <a:r>
              <a:rPr lang="en-IN" b="1" dirty="0"/>
              <a:t>Putting It Together</a:t>
            </a:r>
          </a:p>
          <a:p>
            <a:pPr lvl="0"/>
            <a:r>
              <a:rPr lang="en-IN" dirty="0">
                <a:effectLst/>
              </a:rPr>
              <a:t>After braiding in 2D, the </a:t>
            </a:r>
            <a:r>
              <a:rPr lang="en-IN" b="1" dirty="0">
                <a:effectLst/>
              </a:rPr>
              <a:t>braid group</a:t>
            </a:r>
            <a:r>
              <a:rPr lang="en-IN" dirty="0">
                <a:effectLst/>
              </a:rPr>
              <a:t> gives you the transformation (unitary matrix).</a:t>
            </a:r>
            <a:endParaRPr lang="en-IN" dirty="0"/>
          </a:p>
          <a:p>
            <a:pPr lvl="0"/>
            <a:r>
              <a:rPr lang="en-IN" dirty="0">
                <a:effectLst/>
              </a:rPr>
              <a:t>That matrix contains the amplitudes and phases.</a:t>
            </a:r>
            <a:endParaRPr lang="en-IN" dirty="0"/>
          </a:p>
          <a:p>
            <a:pPr lvl="0"/>
            <a:r>
              <a:rPr lang="en-IN" dirty="0">
                <a:effectLst/>
              </a:rPr>
              <a:t>If you’re working in a qubit encoding, you can then </a:t>
            </a:r>
            <a:r>
              <a:rPr lang="en-IN" b="1" dirty="0">
                <a:effectLst/>
              </a:rPr>
              <a:t>visualize</a:t>
            </a:r>
            <a:r>
              <a:rPr lang="en-IN" dirty="0">
                <a:effectLst/>
              </a:rPr>
              <a:t> the effect of that matrix as a rotation on the Bloch sphere.</a:t>
            </a:r>
            <a:endParaRPr lang="en-IN" dirty="0"/>
          </a:p>
          <a:p>
            <a:pPr lvl="0"/>
            <a:r>
              <a:rPr lang="en-IN" dirty="0">
                <a:effectLst/>
              </a:rPr>
              <a:t>But the Bloch sphere is not part of the braiding process itself — it’s a visualization layer for quantum information scientists.</a:t>
            </a:r>
            <a:endParaRPr lang="en-IN" dirty="0"/>
          </a:p>
          <a:p>
            <a:r>
              <a:rPr lang="en-IN" dirty="0">
                <a:effectLst/>
              </a:rPr>
              <a:t>So: </a:t>
            </a:r>
            <a:r>
              <a:rPr lang="en-IN" b="1" dirty="0">
                <a:effectLst/>
              </a:rPr>
              <a:t>braiding → braid group → unitary gate → amplitudes &amp; phases.</a:t>
            </a:r>
            <a:r>
              <a:rPr lang="en-IN" dirty="0">
                <a:effectLst/>
              </a:rPr>
              <a:t> The </a:t>
            </a:r>
            <a:r>
              <a:rPr lang="en-IN" b="1" dirty="0">
                <a:effectLst/>
              </a:rPr>
              <a:t>Bloch sphere</a:t>
            </a:r>
            <a:r>
              <a:rPr lang="en-IN" dirty="0">
                <a:effectLst/>
              </a:rPr>
              <a:t> comes in only if you want to picture how those gates act on qubits.</a:t>
            </a:r>
            <a:endParaRPr lang="en-IN" dirty="0"/>
          </a:p>
          <a:p>
            <a:endParaRPr lang="en-IN" dirty="0"/>
          </a:p>
        </p:txBody>
      </p:sp>
    </p:spTree>
    <p:extLst>
      <p:ext uri="{BB962C8B-B14F-4D97-AF65-F5344CB8AC3E}">
        <p14:creationId xmlns:p14="http://schemas.microsoft.com/office/powerpoint/2010/main" val="893395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DA959-36AB-169C-1EAF-C516174B5B45}"/>
              </a:ext>
            </a:extLst>
          </p:cNvPr>
          <p:cNvSpPr>
            <a:spLocks noGrp="1"/>
          </p:cNvSpPr>
          <p:nvPr>
            <p:ph type="title"/>
          </p:nvPr>
        </p:nvSpPr>
        <p:spPr>
          <a:xfrm>
            <a:off x="838200" y="365125"/>
            <a:ext cx="10515600" cy="1144699"/>
          </a:xfrm>
        </p:spPr>
        <p:txBody>
          <a:bodyPr>
            <a:normAutofit fontScale="90000"/>
          </a:bodyPr>
          <a:lstStyle/>
          <a:p>
            <a:r>
              <a:rPr lang="en-IN" b="1" dirty="0"/>
              <a:t>how does quantum computing get the values?</a:t>
            </a:r>
            <a:br>
              <a:rPr lang="en-IN" b="1" dirty="0"/>
            </a:br>
            <a:endParaRPr lang="en-IN" b="1"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E6F04E8-00EC-3F18-F73D-CDF541C359D2}"/>
                  </a:ext>
                </a:extLst>
              </p:cNvPr>
              <p:cNvSpPr>
                <a:spLocks noGrp="1"/>
              </p:cNvSpPr>
              <p:nvPr>
                <p:ph idx="1"/>
              </p:nvPr>
            </p:nvSpPr>
            <p:spPr>
              <a:xfrm>
                <a:off x="838200" y="1509824"/>
                <a:ext cx="10515600" cy="5348176"/>
              </a:xfrm>
            </p:spPr>
            <p:txBody>
              <a:bodyPr>
                <a:normAutofit fontScale="92500" lnSpcReduction="20000"/>
              </a:bodyPr>
              <a:lstStyle/>
              <a:p>
                <a:r>
                  <a:rPr lang="en-IN" dirty="0"/>
                  <a:t>Quantum computing gets its “values” — meaning the measurable outcomes of a computation — through a process that combines </a:t>
                </a:r>
                <a:r>
                  <a:rPr lang="en-IN" b="1" dirty="0"/>
                  <a:t>quantum state evolution</a:t>
                </a:r>
                <a:r>
                  <a:rPr lang="en-IN" dirty="0"/>
                  <a:t> and </a:t>
                </a:r>
                <a:r>
                  <a:rPr lang="en-IN" b="1" dirty="0"/>
                  <a:t>measurement</a:t>
                </a:r>
                <a:r>
                  <a:rPr lang="en-IN" dirty="0"/>
                  <a:t>. Let me break it down clearly:</a:t>
                </a:r>
              </a:p>
              <a:p>
                <a:r>
                  <a:rPr lang="en-IN" b="1" dirty="0"/>
                  <a:t>1. Encoding Information</a:t>
                </a:r>
              </a:p>
              <a:p>
                <a:pPr lvl="0"/>
                <a:r>
                  <a:rPr lang="en-IN" dirty="0">
                    <a:effectLst/>
                  </a:rPr>
                  <a:t>Information is stored in </a:t>
                </a:r>
                <a:r>
                  <a:rPr lang="en-IN" b="1" dirty="0">
                    <a:effectLst/>
                  </a:rPr>
                  <a:t>qubits</a:t>
                </a:r>
                <a:r>
                  <a:rPr lang="en-IN" dirty="0">
                    <a:effectLst/>
                  </a:rPr>
                  <a:t>, which can exist in superpositions of </a:t>
                </a:r>
                <a14:m>
                  <m:oMath xmlns:m="http://schemas.openxmlformats.org/officeDocument/2006/math">
                    <m:d>
                      <m:dPr>
                        <m:begChr m:val=""/>
                        <m:endChr m:val="⟩"/>
                        <m:ctrlPr>
                          <a:rPr lang="en-IN"/>
                        </m:ctrlPr>
                      </m:dPr>
                      <m:e>
                        <m:r>
                          <a:rPr lang="en-IN"/>
                          <m:t>∣</m:t>
                        </m:r>
                        <m:r>
                          <a:rPr lang="en-IN"/>
                          <m:t>0</m:t>
                        </m:r>
                      </m:e>
                    </m:d>
                  </m:oMath>
                </a14:m>
                <a:r>
                  <a:rPr lang="en-IN" dirty="0">
                    <a:effectLst/>
                  </a:rPr>
                  <a:t>and </a:t>
                </a:r>
                <a14:m>
                  <m:oMath xmlns:m="http://schemas.openxmlformats.org/officeDocument/2006/math">
                    <m:d>
                      <m:dPr>
                        <m:begChr m:val=""/>
                        <m:endChr m:val="⟩"/>
                        <m:ctrlPr>
                          <a:rPr lang="en-IN"/>
                        </m:ctrlPr>
                      </m:dPr>
                      <m:e>
                        <m:r>
                          <a:rPr lang="en-IN"/>
                          <m:t>∣</m:t>
                        </m:r>
                        <m:r>
                          <a:rPr lang="en-IN"/>
                          <m:t>1</m:t>
                        </m:r>
                      </m:e>
                    </m:d>
                  </m:oMath>
                </a14:m>
                <a:r>
                  <a:rPr lang="en-IN" dirty="0">
                    <a:effectLst/>
                  </a:rPr>
                  <a:t>.</a:t>
                </a:r>
                <a:endParaRPr lang="en-IN" dirty="0"/>
              </a:p>
              <a:p>
                <a:pPr lvl="0"/>
                <a:r>
                  <a:rPr lang="en-IN" dirty="0">
                    <a:effectLst/>
                  </a:rPr>
                  <a:t>A qubit’s state is described by a complex vector with </a:t>
                </a:r>
                <a:r>
                  <a:rPr lang="en-IN" b="1" dirty="0">
                    <a:effectLst/>
                  </a:rPr>
                  <a:t>amplitudes</a:t>
                </a:r>
                <a:r>
                  <a:rPr lang="en-IN" dirty="0">
                    <a:effectLst/>
                  </a:rPr>
                  <a:t> (probability weights) and </a:t>
                </a:r>
                <a:r>
                  <a:rPr lang="en-IN" b="1" dirty="0">
                    <a:effectLst/>
                  </a:rPr>
                  <a:t>phases</a:t>
                </a:r>
                <a:r>
                  <a:rPr lang="en-IN" dirty="0">
                    <a:effectLst/>
                  </a:rPr>
                  <a:t>.</a:t>
                </a:r>
                <a:endParaRPr lang="en-IN" dirty="0"/>
              </a:p>
              <a:p>
                <a:r>
                  <a:rPr lang="en-IN" b="1" dirty="0"/>
                  <a:t>🔹 2. Applying Quantum Gates</a:t>
                </a:r>
              </a:p>
              <a:p>
                <a:pPr lvl="0"/>
                <a:r>
                  <a:rPr lang="en-IN" dirty="0">
                    <a:effectLst/>
                  </a:rPr>
                  <a:t>Quantum gates (unitary matrices) act on qubits, changing their amplitudes and phases.</a:t>
                </a:r>
                <a:endParaRPr lang="en-IN" dirty="0"/>
              </a:p>
              <a:p>
                <a:pPr lvl="0"/>
                <a:r>
                  <a:rPr lang="en-IN" dirty="0">
                    <a:effectLst/>
                  </a:rPr>
                  <a:t>In some systems (like topological quantum computing), </a:t>
                </a:r>
                <a:r>
                  <a:rPr lang="en-IN" b="1" dirty="0">
                    <a:effectLst/>
                  </a:rPr>
                  <a:t>braiding </a:t>
                </a:r>
                <a:r>
                  <a:rPr lang="en-IN" b="1" dirty="0" err="1">
                    <a:effectLst/>
                  </a:rPr>
                  <a:t>anyons</a:t>
                </a:r>
                <a:r>
                  <a:rPr lang="en-IN" dirty="0">
                    <a:effectLst/>
                  </a:rPr>
                  <a:t> implements these gates.</a:t>
                </a:r>
                <a:endParaRPr lang="en-IN" dirty="0"/>
              </a:p>
              <a:p>
                <a:pPr lvl="1"/>
                <a:r>
                  <a:rPr lang="en-IN" dirty="0">
                    <a:effectLst/>
                  </a:rPr>
                  <a:t>The braid group defines the transformation.</a:t>
                </a:r>
                <a:endParaRPr lang="en-IN" dirty="0"/>
              </a:p>
              <a:p>
                <a:pPr lvl="1"/>
                <a:r>
                  <a:rPr lang="en-IN" dirty="0">
                    <a:effectLst/>
                  </a:rPr>
                  <a:t>This transformation is mathematically a unitary matrix.</a:t>
                </a:r>
                <a:endParaRPr lang="en-IN" dirty="0"/>
              </a:p>
              <a:p>
                <a:endParaRPr lang="en-IN" dirty="0"/>
              </a:p>
            </p:txBody>
          </p:sp>
        </mc:Choice>
        <mc:Fallback>
          <p:sp>
            <p:nvSpPr>
              <p:cNvPr id="3" name="Content Placeholder 2">
                <a:extLst>
                  <a:ext uri="{FF2B5EF4-FFF2-40B4-BE49-F238E27FC236}">
                    <a16:creationId xmlns:a16="http://schemas.microsoft.com/office/drawing/2014/main" id="{3E6F04E8-00EC-3F18-F73D-CDF541C359D2}"/>
                  </a:ext>
                </a:extLst>
              </p:cNvPr>
              <p:cNvSpPr>
                <a:spLocks noGrp="1" noRot="1" noChangeAspect="1" noMove="1" noResize="1" noEditPoints="1" noAdjustHandles="1" noChangeArrowheads="1" noChangeShapeType="1" noTextEdit="1"/>
              </p:cNvSpPr>
              <p:nvPr>
                <p:ph idx="1"/>
              </p:nvPr>
            </p:nvSpPr>
            <p:spPr>
              <a:xfrm>
                <a:off x="838200" y="1509824"/>
                <a:ext cx="10515600" cy="5348176"/>
              </a:xfrm>
              <a:blipFill>
                <a:blip r:embed="rId2"/>
                <a:stretch>
                  <a:fillRect l="-928" t="-2965" r="-1043"/>
                </a:stretch>
              </a:blipFill>
            </p:spPr>
            <p:txBody>
              <a:bodyPr/>
              <a:lstStyle/>
              <a:p>
                <a:r>
                  <a:rPr lang="en-IN">
                    <a:noFill/>
                  </a:rPr>
                  <a:t> </a:t>
                </a:r>
              </a:p>
            </p:txBody>
          </p:sp>
        </mc:Fallback>
      </mc:AlternateContent>
    </p:spTree>
    <p:extLst>
      <p:ext uri="{BB962C8B-B14F-4D97-AF65-F5344CB8AC3E}">
        <p14:creationId xmlns:p14="http://schemas.microsoft.com/office/powerpoint/2010/main" val="1446026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7B7E1-8EC7-0EFF-D1B3-D22C075EFEB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117F020-064C-5A6D-2B3C-4CB00C515805}"/>
              </a:ext>
            </a:extLst>
          </p:cNvPr>
          <p:cNvSpPr>
            <a:spLocks noGrp="1"/>
          </p:cNvSpPr>
          <p:nvPr>
            <p:ph idx="1"/>
          </p:nvPr>
        </p:nvSpPr>
        <p:spPr/>
        <p:txBody>
          <a:bodyPr>
            <a:normAutofit fontScale="85000" lnSpcReduction="10000"/>
          </a:bodyPr>
          <a:lstStyle/>
          <a:p>
            <a:r>
              <a:rPr lang="en-IN" b="1" dirty="0"/>
              <a:t>3. Evolution of the State</a:t>
            </a:r>
          </a:p>
          <a:p>
            <a:pPr lvl="0"/>
            <a:r>
              <a:rPr lang="en-IN" dirty="0">
                <a:effectLst/>
              </a:rPr>
              <a:t>As gates are applied, the qubit state evolves.</a:t>
            </a:r>
            <a:endParaRPr lang="en-IN" dirty="0"/>
          </a:p>
          <a:p>
            <a:pPr lvl="0"/>
            <a:r>
              <a:rPr lang="en-IN" dirty="0">
                <a:effectLst/>
              </a:rPr>
              <a:t>The amplitudes and phases encode the “values” of the computation.</a:t>
            </a:r>
            <a:endParaRPr lang="en-IN" dirty="0"/>
          </a:p>
          <a:p>
            <a:pPr lvl="0"/>
            <a:r>
              <a:rPr lang="en-IN" dirty="0">
                <a:effectLst/>
              </a:rPr>
              <a:t>These values are not directly visible — they live in the quantum wavefunction.</a:t>
            </a:r>
            <a:endParaRPr lang="en-IN" dirty="0"/>
          </a:p>
          <a:p>
            <a:r>
              <a:rPr lang="en-IN" b="1" dirty="0"/>
              <a:t>🔹 4. Measurement</a:t>
            </a:r>
          </a:p>
          <a:p>
            <a:pPr lvl="0"/>
            <a:r>
              <a:rPr lang="en-IN" dirty="0">
                <a:effectLst/>
              </a:rPr>
              <a:t>At the end, the qubits are </a:t>
            </a:r>
            <a:r>
              <a:rPr lang="en-IN" b="1" dirty="0">
                <a:effectLst/>
              </a:rPr>
              <a:t>measured</a:t>
            </a:r>
            <a:r>
              <a:rPr lang="en-IN" dirty="0">
                <a:effectLst/>
              </a:rPr>
              <a:t>.</a:t>
            </a:r>
            <a:endParaRPr lang="en-IN" dirty="0"/>
          </a:p>
          <a:p>
            <a:pPr lvl="0"/>
            <a:r>
              <a:rPr lang="en-IN" dirty="0">
                <a:effectLst/>
              </a:rPr>
              <a:t>Measurement collapses the superposition into classical outcomes (0s and 1s).</a:t>
            </a:r>
            <a:endParaRPr lang="en-IN" dirty="0"/>
          </a:p>
          <a:p>
            <a:pPr lvl="0"/>
            <a:r>
              <a:rPr lang="en-IN" dirty="0">
                <a:effectLst/>
              </a:rPr>
              <a:t>The probability of each outcome is given by the </a:t>
            </a:r>
            <a:r>
              <a:rPr lang="en-IN" b="1" dirty="0">
                <a:effectLst/>
              </a:rPr>
              <a:t>square of the amplitude</a:t>
            </a:r>
            <a:r>
              <a:rPr lang="en-IN" dirty="0">
                <a:effectLst/>
              </a:rPr>
              <a:t>.</a:t>
            </a:r>
            <a:endParaRPr lang="en-IN" dirty="0"/>
          </a:p>
          <a:p>
            <a:pPr lvl="0"/>
            <a:r>
              <a:rPr lang="en-IN" dirty="0">
                <a:effectLst/>
              </a:rPr>
              <a:t>By repeating the computation many times, you build up statistics that reveal the encoded values.</a:t>
            </a:r>
            <a:endParaRPr lang="en-IN" dirty="0"/>
          </a:p>
          <a:p>
            <a:endParaRPr lang="en-IN" dirty="0"/>
          </a:p>
        </p:txBody>
      </p:sp>
    </p:spTree>
    <p:extLst>
      <p:ext uri="{BB962C8B-B14F-4D97-AF65-F5344CB8AC3E}">
        <p14:creationId xmlns:p14="http://schemas.microsoft.com/office/powerpoint/2010/main" val="1649084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9539E-5371-8EB8-C854-6FD969B2150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CBD429A-9FFF-0C66-BE0E-83589243BF57}"/>
              </a:ext>
            </a:extLst>
          </p:cNvPr>
          <p:cNvSpPr>
            <a:spLocks noGrp="1"/>
          </p:cNvSpPr>
          <p:nvPr>
            <p:ph idx="1"/>
          </p:nvPr>
        </p:nvSpPr>
        <p:spPr/>
        <p:txBody>
          <a:bodyPr>
            <a:normAutofit fontScale="85000" lnSpcReduction="20000"/>
          </a:bodyPr>
          <a:lstStyle/>
          <a:p>
            <a:r>
              <a:rPr lang="en-IN" b="1" dirty="0"/>
              <a:t>5. Bloch Sphere vs Braid Group</a:t>
            </a:r>
          </a:p>
          <a:p>
            <a:pPr lvl="0"/>
            <a:r>
              <a:rPr lang="en-IN" dirty="0">
                <a:effectLst/>
              </a:rPr>
              <a:t>The </a:t>
            </a:r>
            <a:r>
              <a:rPr lang="en-IN" b="1" dirty="0">
                <a:effectLst/>
              </a:rPr>
              <a:t>braid group</a:t>
            </a:r>
            <a:r>
              <a:rPr lang="en-IN" dirty="0">
                <a:effectLst/>
              </a:rPr>
              <a:t> (in 2D </a:t>
            </a:r>
            <a:r>
              <a:rPr lang="en-IN" dirty="0" err="1">
                <a:effectLst/>
              </a:rPr>
              <a:t>anyon</a:t>
            </a:r>
            <a:r>
              <a:rPr lang="en-IN" dirty="0">
                <a:effectLst/>
              </a:rPr>
              <a:t> systems) defines the actual quantum gates.</a:t>
            </a:r>
            <a:endParaRPr lang="en-IN" dirty="0"/>
          </a:p>
          <a:p>
            <a:pPr lvl="0"/>
            <a:r>
              <a:rPr lang="en-IN" dirty="0">
                <a:effectLst/>
              </a:rPr>
              <a:t>The </a:t>
            </a:r>
            <a:r>
              <a:rPr lang="en-IN" b="1" dirty="0">
                <a:effectLst/>
              </a:rPr>
              <a:t>Bloch sphere</a:t>
            </a:r>
            <a:r>
              <a:rPr lang="en-IN" dirty="0">
                <a:effectLst/>
              </a:rPr>
              <a:t> is just a visualization tool for single-qubit states — it helps us picture rotations and phases, but it’s not how values are derived.</a:t>
            </a:r>
            <a:endParaRPr lang="en-IN" dirty="0"/>
          </a:p>
          <a:p>
            <a:pPr lvl="0"/>
            <a:r>
              <a:rPr lang="en-IN" dirty="0">
                <a:effectLst/>
              </a:rPr>
              <a:t>The values come from the </a:t>
            </a:r>
            <a:r>
              <a:rPr lang="en-IN" b="1" dirty="0">
                <a:effectLst/>
              </a:rPr>
              <a:t>unitary transformations (gates)</a:t>
            </a:r>
            <a:r>
              <a:rPr lang="en-IN" dirty="0">
                <a:effectLst/>
              </a:rPr>
              <a:t> and the </a:t>
            </a:r>
            <a:r>
              <a:rPr lang="en-IN" b="1" dirty="0">
                <a:effectLst/>
              </a:rPr>
              <a:t>measurement process</a:t>
            </a:r>
            <a:r>
              <a:rPr lang="en-IN" dirty="0">
                <a:effectLst/>
              </a:rPr>
              <a:t>.</a:t>
            </a:r>
            <a:endParaRPr lang="en-IN" dirty="0"/>
          </a:p>
          <a:p>
            <a:r>
              <a:rPr lang="en-IN" b="1" dirty="0"/>
              <a:t>✨ In short</a:t>
            </a:r>
          </a:p>
          <a:p>
            <a:pPr lvl="0"/>
            <a:r>
              <a:rPr lang="en-IN" b="1" dirty="0">
                <a:effectLst/>
              </a:rPr>
              <a:t>Values in quantum computing</a:t>
            </a:r>
            <a:r>
              <a:rPr lang="en-IN" dirty="0">
                <a:effectLst/>
              </a:rPr>
              <a:t> = probabilities and phases encoded in qubit states.</a:t>
            </a:r>
            <a:endParaRPr lang="en-IN" dirty="0"/>
          </a:p>
          <a:p>
            <a:pPr lvl="0"/>
            <a:r>
              <a:rPr lang="en-IN" dirty="0">
                <a:effectLst/>
              </a:rPr>
              <a:t>They are derived by applying gates (sometimes via braiding </a:t>
            </a:r>
            <a:r>
              <a:rPr lang="en-IN" dirty="0" err="1">
                <a:effectLst/>
              </a:rPr>
              <a:t>anyons</a:t>
            </a:r>
            <a:r>
              <a:rPr lang="en-IN" dirty="0">
                <a:effectLst/>
              </a:rPr>
              <a:t>), then measuring.</a:t>
            </a:r>
            <a:endParaRPr lang="en-IN" dirty="0"/>
          </a:p>
          <a:p>
            <a:pPr lvl="0"/>
            <a:r>
              <a:rPr lang="en-IN" dirty="0">
                <a:effectLst/>
              </a:rPr>
              <a:t>The Bloch sphere is a picture of what happens to a qubit, not the mechanism for extracting values</a:t>
            </a:r>
            <a:endParaRPr lang="en-IN" dirty="0"/>
          </a:p>
          <a:p>
            <a:endParaRPr lang="en-IN" dirty="0"/>
          </a:p>
        </p:txBody>
      </p:sp>
    </p:spTree>
    <p:extLst>
      <p:ext uri="{BB962C8B-B14F-4D97-AF65-F5344CB8AC3E}">
        <p14:creationId xmlns:p14="http://schemas.microsoft.com/office/powerpoint/2010/main" val="1293103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472F9-BDA0-02DA-AEB8-24720212F190}"/>
              </a:ext>
            </a:extLst>
          </p:cNvPr>
          <p:cNvSpPr>
            <a:spLocks noGrp="1"/>
          </p:cNvSpPr>
          <p:nvPr>
            <p:ph type="title"/>
          </p:nvPr>
        </p:nvSpPr>
        <p:spPr/>
        <p:txBody>
          <a:bodyPr/>
          <a:lstStyle/>
          <a:p>
            <a:r>
              <a:rPr lang="en-IN" dirty="0"/>
              <a:t>is </a:t>
            </a:r>
            <a:r>
              <a:rPr lang="en-IN" dirty="0" err="1"/>
              <a:t>bloch</a:t>
            </a:r>
            <a:r>
              <a:rPr lang="en-IN" dirty="0"/>
              <a:t> sphere not much in normal use?</a:t>
            </a:r>
            <a:br>
              <a:rPr lang="en-IN" dirty="0"/>
            </a:br>
            <a:endParaRPr lang="en-IN" dirty="0"/>
          </a:p>
        </p:txBody>
      </p:sp>
      <p:sp>
        <p:nvSpPr>
          <p:cNvPr id="3" name="Content Placeholder 2">
            <a:extLst>
              <a:ext uri="{FF2B5EF4-FFF2-40B4-BE49-F238E27FC236}">
                <a16:creationId xmlns:a16="http://schemas.microsoft.com/office/drawing/2014/main" id="{02E6DDFD-0F0F-FFF7-0D78-9570B08616F5}"/>
              </a:ext>
            </a:extLst>
          </p:cNvPr>
          <p:cNvSpPr>
            <a:spLocks noGrp="1"/>
          </p:cNvSpPr>
          <p:nvPr>
            <p:ph idx="1"/>
          </p:nvPr>
        </p:nvSpPr>
        <p:spPr>
          <a:xfrm>
            <a:off x="838200" y="1233377"/>
            <a:ext cx="10515600" cy="5422604"/>
          </a:xfrm>
        </p:spPr>
        <p:txBody>
          <a:bodyPr>
            <a:normAutofit fontScale="92500" lnSpcReduction="20000"/>
          </a:bodyPr>
          <a:lstStyle/>
          <a:p>
            <a:r>
              <a:rPr lang="en-IN" b="1" dirty="0"/>
              <a:t>Bloch Sphere in Theory</a:t>
            </a:r>
          </a:p>
          <a:p>
            <a:pPr lvl="0"/>
            <a:r>
              <a:rPr lang="en-IN" dirty="0">
                <a:effectLst/>
              </a:rPr>
              <a:t>It’s a </a:t>
            </a:r>
            <a:r>
              <a:rPr lang="en-IN" b="1" dirty="0">
                <a:effectLst/>
              </a:rPr>
              <a:t>visualization tool</a:t>
            </a:r>
            <a:r>
              <a:rPr lang="en-IN" dirty="0">
                <a:effectLst/>
              </a:rPr>
              <a:t> for a single qubit’s state.</a:t>
            </a:r>
            <a:endParaRPr lang="en-IN" dirty="0"/>
          </a:p>
          <a:p>
            <a:pPr lvl="0"/>
            <a:r>
              <a:rPr lang="en-IN" dirty="0">
                <a:effectLst/>
              </a:rPr>
              <a:t>Any pure qubit state can be represented as a point on the sphere, with latitude/longitude corresponding to amplitude and phase.</a:t>
            </a:r>
            <a:endParaRPr lang="en-IN" dirty="0"/>
          </a:p>
          <a:p>
            <a:pPr lvl="0"/>
            <a:r>
              <a:rPr lang="en-IN" dirty="0">
                <a:effectLst/>
              </a:rPr>
              <a:t>It’s very useful for teaching, intuition, and visualizing rotations (quantum gates).</a:t>
            </a:r>
            <a:endParaRPr lang="en-IN" dirty="0"/>
          </a:p>
          <a:p>
            <a:r>
              <a:rPr lang="en-IN" b="1" dirty="0"/>
              <a:t>🔹 In Normal Quantum Computing Use</a:t>
            </a:r>
          </a:p>
          <a:p>
            <a:pPr lvl="0"/>
            <a:r>
              <a:rPr lang="en-IN" dirty="0">
                <a:effectLst/>
              </a:rPr>
              <a:t>Actual quantum computers don’t “use” the Bloch sphere internally.</a:t>
            </a:r>
            <a:endParaRPr lang="en-IN" dirty="0"/>
          </a:p>
          <a:p>
            <a:pPr lvl="0"/>
            <a:r>
              <a:rPr lang="en-IN" dirty="0">
                <a:effectLst/>
              </a:rPr>
              <a:t>They manipulate qubits through </a:t>
            </a:r>
            <a:r>
              <a:rPr lang="en-IN" b="1" dirty="0">
                <a:effectLst/>
              </a:rPr>
              <a:t>unitary matrices</a:t>
            </a:r>
            <a:r>
              <a:rPr lang="en-IN" dirty="0">
                <a:effectLst/>
              </a:rPr>
              <a:t> (gates) and then measure outcomes.</a:t>
            </a:r>
            <a:endParaRPr lang="en-IN" dirty="0"/>
          </a:p>
          <a:p>
            <a:pPr lvl="0"/>
            <a:r>
              <a:rPr lang="en-IN" dirty="0">
                <a:effectLst/>
              </a:rPr>
              <a:t>The Bloch sphere is more like a </a:t>
            </a:r>
            <a:r>
              <a:rPr lang="en-IN" b="1" dirty="0">
                <a:effectLst/>
              </a:rPr>
              <a:t>chalkboard diagram</a:t>
            </a:r>
            <a:r>
              <a:rPr lang="en-IN" dirty="0">
                <a:effectLst/>
              </a:rPr>
              <a:t> for humans, not a computational mechanism.</a:t>
            </a:r>
            <a:endParaRPr lang="en-IN" dirty="0"/>
          </a:p>
          <a:p>
            <a:pPr lvl="0"/>
            <a:r>
              <a:rPr lang="en-IN" dirty="0">
                <a:effectLst/>
              </a:rPr>
              <a:t>In practice, engineers and physicists work with matrices, circuits, and measurement statistics — not spheres.</a:t>
            </a:r>
            <a:endParaRPr lang="en-IN" dirty="0"/>
          </a:p>
          <a:p>
            <a:endParaRPr lang="en-IN" dirty="0"/>
          </a:p>
        </p:txBody>
      </p:sp>
    </p:spTree>
    <p:extLst>
      <p:ext uri="{BB962C8B-B14F-4D97-AF65-F5344CB8AC3E}">
        <p14:creationId xmlns:p14="http://schemas.microsoft.com/office/powerpoint/2010/main" val="4001000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29BDB-3D7D-A3F1-240A-BAA8AE82AB7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05B8A10-324D-7626-B449-13EED1526B4A}"/>
              </a:ext>
            </a:extLst>
          </p:cNvPr>
          <p:cNvSpPr>
            <a:spLocks noGrp="1"/>
          </p:cNvSpPr>
          <p:nvPr>
            <p:ph idx="1"/>
          </p:nvPr>
        </p:nvSpPr>
        <p:spPr/>
        <p:txBody>
          <a:bodyPr>
            <a:normAutofit fontScale="92500" lnSpcReduction="10000"/>
          </a:bodyPr>
          <a:lstStyle/>
          <a:p>
            <a:r>
              <a:rPr lang="en-IN" b="1" dirty="0"/>
              <a:t>Where It </a:t>
            </a:r>
            <a:r>
              <a:rPr lang="en-IN" b="1" i="1" dirty="0"/>
              <a:t>Is</a:t>
            </a:r>
            <a:r>
              <a:rPr lang="en-IN" b="1" dirty="0"/>
              <a:t> Useful</a:t>
            </a:r>
          </a:p>
          <a:p>
            <a:pPr lvl="0"/>
            <a:r>
              <a:rPr lang="en-IN" b="1" dirty="0">
                <a:effectLst/>
              </a:rPr>
              <a:t>Education &amp; intuition</a:t>
            </a:r>
            <a:r>
              <a:rPr lang="en-IN" dirty="0">
                <a:effectLst/>
              </a:rPr>
              <a:t>: Helps visualize superposition and phase.</a:t>
            </a:r>
            <a:endParaRPr lang="en-IN" dirty="0"/>
          </a:p>
          <a:p>
            <a:pPr lvl="0"/>
            <a:r>
              <a:rPr lang="en-IN" b="1" dirty="0">
                <a:effectLst/>
              </a:rPr>
              <a:t>Single-qubit analysis</a:t>
            </a:r>
            <a:r>
              <a:rPr lang="en-IN" dirty="0">
                <a:effectLst/>
              </a:rPr>
              <a:t>: Good for understanding how gates like Hadamard, Pauli-X, or rotations act.</a:t>
            </a:r>
            <a:endParaRPr lang="en-IN" dirty="0"/>
          </a:p>
          <a:p>
            <a:pPr lvl="0"/>
            <a:r>
              <a:rPr lang="en-IN" b="1" dirty="0">
                <a:effectLst/>
              </a:rPr>
              <a:t>Quantum algorithms</a:t>
            </a:r>
            <a:r>
              <a:rPr lang="en-IN" dirty="0">
                <a:effectLst/>
              </a:rPr>
              <a:t>: Sometimes used to illustrate how a qubit evolves step by step.</a:t>
            </a:r>
            <a:endParaRPr lang="en-IN" dirty="0"/>
          </a:p>
          <a:p>
            <a:r>
              <a:rPr lang="en-IN" b="1" dirty="0"/>
              <a:t>✨ Bottom Line</a:t>
            </a:r>
          </a:p>
          <a:p>
            <a:r>
              <a:rPr lang="en-IN" dirty="0">
                <a:effectLst/>
              </a:rPr>
              <a:t>The Bloch sphere is </a:t>
            </a:r>
            <a:r>
              <a:rPr lang="en-IN" b="1" dirty="0">
                <a:effectLst/>
              </a:rPr>
              <a:t>not much in normal use</a:t>
            </a:r>
            <a:r>
              <a:rPr lang="en-IN" dirty="0">
                <a:effectLst/>
              </a:rPr>
              <a:t> for actual computation — it’s a visualization tool. The real work is done by </a:t>
            </a:r>
            <a:r>
              <a:rPr lang="en-IN" b="1" dirty="0">
                <a:effectLst/>
              </a:rPr>
              <a:t>unitary transformations (gates)</a:t>
            </a:r>
            <a:r>
              <a:rPr lang="en-IN" dirty="0">
                <a:effectLst/>
              </a:rPr>
              <a:t> and </a:t>
            </a:r>
            <a:r>
              <a:rPr lang="en-IN" b="1" dirty="0">
                <a:effectLst/>
              </a:rPr>
              <a:t>measurements</a:t>
            </a:r>
            <a:r>
              <a:rPr lang="en-IN" dirty="0">
                <a:effectLst/>
              </a:rPr>
              <a:t>, whether those gates come from superconducting circuits, trapped ions, or braiding </a:t>
            </a:r>
            <a:r>
              <a:rPr lang="en-IN" dirty="0" err="1">
                <a:effectLst/>
              </a:rPr>
              <a:t>anyons</a:t>
            </a:r>
            <a:r>
              <a:rPr lang="en-IN" dirty="0">
                <a:effectLst/>
              </a:rPr>
              <a:t>.</a:t>
            </a:r>
            <a:endParaRPr lang="en-IN" dirty="0"/>
          </a:p>
          <a:p>
            <a:endParaRPr lang="en-IN" dirty="0"/>
          </a:p>
        </p:txBody>
      </p:sp>
    </p:spTree>
    <p:extLst>
      <p:ext uri="{BB962C8B-B14F-4D97-AF65-F5344CB8AC3E}">
        <p14:creationId xmlns:p14="http://schemas.microsoft.com/office/powerpoint/2010/main" val="264051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615A8-F5F8-32D6-B9AD-58A98E6761FF}"/>
              </a:ext>
            </a:extLst>
          </p:cNvPr>
          <p:cNvSpPr>
            <a:spLocks noGrp="1"/>
          </p:cNvSpPr>
          <p:nvPr>
            <p:ph type="title"/>
          </p:nvPr>
        </p:nvSpPr>
        <p:spPr/>
        <p:txBody>
          <a:bodyPr>
            <a:normAutofit fontScale="90000"/>
          </a:bodyPr>
          <a:lstStyle/>
          <a:p>
            <a:r>
              <a:rPr lang="en-IN" sz="3100" b="1" dirty="0"/>
              <a:t>when do we require only phase and where both phase and amplitude is required? what is the utility of phase and amplitude in every day computing? where does azimuth fit into phase, azimuth , amplitude</a:t>
            </a:r>
            <a:r>
              <a:rPr lang="en-IN" dirty="0"/>
              <a:t>?</a:t>
            </a:r>
            <a:br>
              <a:rPr lang="en-IN" dirty="0"/>
            </a:br>
            <a:endParaRPr lang="en-IN" dirty="0"/>
          </a:p>
        </p:txBody>
      </p:sp>
      <p:sp>
        <p:nvSpPr>
          <p:cNvPr id="3" name="Content Placeholder 2">
            <a:extLst>
              <a:ext uri="{FF2B5EF4-FFF2-40B4-BE49-F238E27FC236}">
                <a16:creationId xmlns:a16="http://schemas.microsoft.com/office/drawing/2014/main" id="{9607C8B6-B6D6-FD1A-2878-C2B8AB17042A}"/>
              </a:ext>
            </a:extLst>
          </p:cNvPr>
          <p:cNvSpPr>
            <a:spLocks noGrp="1"/>
          </p:cNvSpPr>
          <p:nvPr>
            <p:ph idx="1"/>
          </p:nvPr>
        </p:nvSpPr>
        <p:spPr/>
        <p:txBody>
          <a:bodyPr/>
          <a:lstStyle/>
          <a:p>
            <a:r>
              <a:rPr lang="en-IN" b="1" dirty="0"/>
              <a:t>When Only Phase Matters</a:t>
            </a:r>
          </a:p>
          <a:p>
            <a:pPr lvl="0"/>
            <a:r>
              <a:rPr lang="en-IN" dirty="0">
                <a:effectLst/>
              </a:rPr>
              <a:t>In quantum mechanics and wave physics, sometimes the </a:t>
            </a:r>
            <a:r>
              <a:rPr lang="en-IN" b="1" dirty="0">
                <a:effectLst/>
              </a:rPr>
              <a:t>amplitude is fixed</a:t>
            </a:r>
            <a:r>
              <a:rPr lang="en-IN" dirty="0">
                <a:effectLst/>
              </a:rPr>
              <a:t> (e.g., normalized probability = 1), and only the </a:t>
            </a:r>
            <a:r>
              <a:rPr lang="en-IN" b="1" dirty="0">
                <a:effectLst/>
              </a:rPr>
              <a:t>relative phase</a:t>
            </a:r>
            <a:r>
              <a:rPr lang="en-IN" dirty="0">
                <a:effectLst/>
              </a:rPr>
              <a:t> between states matters.</a:t>
            </a:r>
            <a:endParaRPr lang="en-IN" dirty="0"/>
          </a:p>
          <a:p>
            <a:pPr lvl="0"/>
            <a:r>
              <a:rPr lang="en-IN" dirty="0">
                <a:effectLst/>
              </a:rPr>
              <a:t>Example:</a:t>
            </a:r>
            <a:endParaRPr lang="en-IN" dirty="0"/>
          </a:p>
          <a:p>
            <a:pPr lvl="1"/>
            <a:r>
              <a:rPr lang="en-IN" dirty="0">
                <a:effectLst/>
              </a:rPr>
              <a:t>In interference experiments, two waves of equal amplitude but different phases can produce constructive or destructive interference.</a:t>
            </a:r>
            <a:endParaRPr lang="en-IN" dirty="0"/>
          </a:p>
          <a:p>
            <a:pPr lvl="1"/>
            <a:r>
              <a:rPr lang="en-IN" dirty="0">
                <a:effectLst/>
              </a:rPr>
              <a:t>In quantum computing, global phase (same for all states) doesn’t matter, but </a:t>
            </a:r>
            <a:r>
              <a:rPr lang="en-IN" b="1" dirty="0">
                <a:effectLst/>
              </a:rPr>
              <a:t>relative phase</a:t>
            </a:r>
            <a:r>
              <a:rPr lang="en-IN" dirty="0">
                <a:effectLst/>
              </a:rPr>
              <a:t> between basis states encodes information.</a:t>
            </a:r>
            <a:endParaRPr lang="en-IN" dirty="0"/>
          </a:p>
          <a:p>
            <a:endParaRPr lang="en-IN" dirty="0"/>
          </a:p>
        </p:txBody>
      </p:sp>
    </p:spTree>
    <p:extLst>
      <p:ext uri="{BB962C8B-B14F-4D97-AF65-F5344CB8AC3E}">
        <p14:creationId xmlns:p14="http://schemas.microsoft.com/office/powerpoint/2010/main" val="37775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E7604-AA6B-E390-F488-AEF025558EF5}"/>
              </a:ext>
            </a:extLst>
          </p:cNvPr>
          <p:cNvSpPr>
            <a:spLocks noGrp="1"/>
          </p:cNvSpPr>
          <p:nvPr>
            <p:ph type="title"/>
          </p:nvPr>
        </p:nvSpPr>
        <p:spPr/>
        <p:txBody>
          <a:bodyPr/>
          <a:lstStyle/>
          <a:p>
            <a:endParaRPr lang="en-IN"/>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2143795-C0F9-262C-76E1-0B0849D6A0E7}"/>
                  </a:ext>
                </a:extLst>
              </p:cNvPr>
              <p:cNvSpPr>
                <a:spLocks noGrp="1"/>
              </p:cNvSpPr>
              <p:nvPr>
                <p:ph idx="1"/>
              </p:nvPr>
            </p:nvSpPr>
            <p:spPr/>
            <p:txBody>
              <a:bodyPr/>
              <a:lstStyle/>
              <a:p>
                <a:r>
                  <a:rPr lang="en-IN" b="1" dirty="0"/>
                  <a:t>When Both Phase and Amplitude Matter</a:t>
                </a:r>
              </a:p>
              <a:p>
                <a:pPr lvl="0"/>
                <a:r>
                  <a:rPr lang="en-IN" dirty="0">
                    <a:effectLst/>
                  </a:rPr>
                  <a:t>In most practical computations, both are needed:</a:t>
                </a:r>
                <a:endParaRPr lang="en-IN" dirty="0"/>
              </a:p>
              <a:p>
                <a:pPr lvl="1"/>
                <a:r>
                  <a:rPr lang="en-IN" b="1" dirty="0">
                    <a:effectLst/>
                  </a:rPr>
                  <a:t>Amplitude</a:t>
                </a:r>
                <a:r>
                  <a:rPr lang="en-IN" dirty="0">
                    <a:effectLst/>
                  </a:rPr>
                  <a:t> → determines the probability of measuring a particular outcome.</a:t>
                </a:r>
                <a:endParaRPr lang="en-IN" dirty="0"/>
              </a:p>
              <a:p>
                <a:pPr lvl="1"/>
                <a:r>
                  <a:rPr lang="en-IN" b="1" dirty="0">
                    <a:effectLst/>
                  </a:rPr>
                  <a:t>Phase</a:t>
                </a:r>
                <a:r>
                  <a:rPr lang="en-IN" dirty="0">
                    <a:effectLst/>
                  </a:rPr>
                  <a:t> → determines how states interfere and evolve under gates.</a:t>
                </a:r>
                <a:endParaRPr lang="en-IN" dirty="0"/>
              </a:p>
              <a:p>
                <a:pPr lvl="0"/>
                <a:r>
                  <a:rPr lang="en-IN" dirty="0">
                    <a:effectLst/>
                  </a:rPr>
                  <a:t>Example:</a:t>
                </a:r>
                <a:endParaRPr lang="en-IN" dirty="0"/>
              </a:p>
              <a:p>
                <a:pPr lvl="1"/>
                <a:r>
                  <a:rPr lang="en-IN" dirty="0">
                    <a:effectLst/>
                  </a:rPr>
                  <a:t>A qubit in state </a:t>
                </a:r>
                <a14:m>
                  <m:oMath xmlns:m="http://schemas.openxmlformats.org/officeDocument/2006/math">
                    <m:d>
                      <m:dPr>
                        <m:begChr m:val=""/>
                        <m:ctrlPr>
                          <a:rPr lang="en-IN"/>
                        </m:ctrlPr>
                      </m:dPr>
                      <m:e>
                        <m:d>
                          <m:dPr>
                            <m:begChr m:val=""/>
                            <m:endChr m:val="⟩"/>
                            <m:ctrlPr>
                              <a:rPr lang="en-IN"/>
                            </m:ctrlPr>
                          </m:dPr>
                          <m:e>
                            <m:f>
                              <m:fPr>
                                <m:ctrlPr>
                                  <a:rPr lang="en-IN"/>
                                </m:ctrlPr>
                              </m:fPr>
                              <m:num>
                                <m:r>
                                  <a:rPr lang="en-IN"/>
                                  <m:t>1</m:t>
                                </m:r>
                              </m:num>
                              <m:den>
                                <m:rad>
                                  <m:radPr>
                                    <m:degHide m:val="on"/>
                                    <m:ctrlPr>
                                      <a:rPr lang="en-IN" i="1"/>
                                    </m:ctrlPr>
                                  </m:radPr>
                                  <m:deg/>
                                  <m:e>
                                    <m:r>
                                      <a:rPr lang="en-IN"/>
                                      <m:t>2</m:t>
                                    </m:r>
                                  </m:e>
                                </m:rad>
                              </m:den>
                            </m:f>
                            <m:d>
                              <m:dPr>
                                <m:endChr m:val="⟩"/>
                                <m:ctrlPr>
                                  <a:rPr lang="en-IN" i="1"/>
                                </m:ctrlPr>
                              </m:dPr>
                              <m:e>
                                <m:r>
                                  <a:rPr lang="en-IN"/>
                                  <m:t>∣</m:t>
                                </m:r>
                                <m:r>
                                  <a:rPr lang="en-IN"/>
                                  <m:t>0</m:t>
                                </m:r>
                              </m:e>
                            </m:d>
                            <m:r>
                              <a:rPr lang="en-IN"/>
                              <m:t>+∣</m:t>
                            </m:r>
                            <m:r>
                              <a:rPr lang="en-IN"/>
                              <m:t>1</m:t>
                            </m:r>
                          </m:e>
                        </m:d>
                      </m:e>
                    </m:d>
                  </m:oMath>
                </a14:m>
                <a:r>
                  <a:rPr lang="en-IN" dirty="0">
                    <a:effectLst/>
                  </a:rPr>
                  <a:t>has equal amplitudes, but if you change the phase of </a:t>
                </a:r>
                <a14:m>
                  <m:oMath xmlns:m="http://schemas.openxmlformats.org/officeDocument/2006/math">
                    <m:d>
                      <m:dPr>
                        <m:begChr m:val=""/>
                        <m:endChr m:val="⟩"/>
                        <m:ctrlPr>
                          <a:rPr lang="en-IN"/>
                        </m:ctrlPr>
                      </m:dPr>
                      <m:e>
                        <m:r>
                          <a:rPr lang="en-IN"/>
                          <m:t>∣</m:t>
                        </m:r>
                        <m:r>
                          <a:rPr lang="en-IN"/>
                          <m:t>1</m:t>
                        </m:r>
                      </m:e>
                    </m:d>
                  </m:oMath>
                </a14:m>
                <a:r>
                  <a:rPr lang="en-IN" dirty="0">
                    <a:effectLst/>
                  </a:rPr>
                  <a:t>to </a:t>
                </a:r>
                <a14:m>
                  <m:oMath xmlns:m="http://schemas.openxmlformats.org/officeDocument/2006/math">
                    <m:r>
                      <a:rPr lang="en-IN"/>
                      <m:t>−</m:t>
                    </m:r>
                    <m:r>
                      <a:rPr lang="en-IN"/>
                      <m:t>1</m:t>
                    </m:r>
                  </m:oMath>
                </a14:m>
                <a:r>
                  <a:rPr lang="en-IN" dirty="0">
                    <a:effectLst/>
                  </a:rPr>
                  <a:t>, you get </a:t>
                </a:r>
                <a14:m>
                  <m:oMath xmlns:m="http://schemas.openxmlformats.org/officeDocument/2006/math">
                    <m:d>
                      <m:dPr>
                        <m:begChr m:val=""/>
                        <m:ctrlPr>
                          <a:rPr lang="en-IN"/>
                        </m:ctrlPr>
                      </m:dPr>
                      <m:e>
                        <m:d>
                          <m:dPr>
                            <m:begChr m:val=""/>
                            <m:endChr m:val="⟩"/>
                            <m:ctrlPr>
                              <a:rPr lang="en-IN"/>
                            </m:ctrlPr>
                          </m:dPr>
                          <m:e>
                            <m:f>
                              <m:fPr>
                                <m:ctrlPr>
                                  <a:rPr lang="en-IN"/>
                                </m:ctrlPr>
                              </m:fPr>
                              <m:num>
                                <m:r>
                                  <a:rPr lang="en-IN"/>
                                  <m:t>1</m:t>
                                </m:r>
                              </m:num>
                              <m:den>
                                <m:rad>
                                  <m:radPr>
                                    <m:degHide m:val="on"/>
                                    <m:ctrlPr>
                                      <a:rPr lang="en-IN" i="1"/>
                                    </m:ctrlPr>
                                  </m:radPr>
                                  <m:deg/>
                                  <m:e>
                                    <m:r>
                                      <a:rPr lang="en-IN"/>
                                      <m:t>2</m:t>
                                    </m:r>
                                  </m:e>
                                </m:rad>
                              </m:den>
                            </m:f>
                            <m:d>
                              <m:dPr>
                                <m:endChr m:val="⟩"/>
                                <m:ctrlPr>
                                  <a:rPr lang="en-IN" i="1"/>
                                </m:ctrlPr>
                              </m:dPr>
                              <m:e>
                                <m:r>
                                  <a:rPr lang="en-IN"/>
                                  <m:t>∣</m:t>
                                </m:r>
                                <m:r>
                                  <a:rPr lang="en-IN"/>
                                  <m:t>0</m:t>
                                </m:r>
                              </m:e>
                            </m:d>
                            <m:r>
                              <a:rPr lang="en-IN"/>
                              <m:t>−∣</m:t>
                            </m:r>
                            <m:r>
                              <a:rPr lang="en-IN"/>
                              <m:t>1</m:t>
                            </m:r>
                          </m:e>
                        </m:d>
                      </m:e>
                    </m:d>
                  </m:oMath>
                </a14:m>
                <a:r>
                  <a:rPr lang="en-IN" dirty="0">
                    <a:effectLst/>
                  </a:rPr>
                  <a:t>.</a:t>
                </a:r>
                <a:endParaRPr lang="en-IN" dirty="0"/>
              </a:p>
              <a:p>
                <a:pPr lvl="1"/>
                <a:r>
                  <a:rPr lang="en-IN" dirty="0">
                    <a:effectLst/>
                  </a:rPr>
                  <a:t>This tiny phase change completely alters interference patterns in later steps.</a:t>
                </a:r>
                <a:endParaRPr lang="en-IN" dirty="0"/>
              </a:p>
              <a:p>
                <a:endParaRPr lang="en-IN" dirty="0"/>
              </a:p>
            </p:txBody>
          </p:sp>
        </mc:Choice>
        <mc:Fallback>
          <p:sp>
            <p:nvSpPr>
              <p:cNvPr id="3" name="Content Placeholder 2">
                <a:extLst>
                  <a:ext uri="{FF2B5EF4-FFF2-40B4-BE49-F238E27FC236}">
                    <a16:creationId xmlns:a16="http://schemas.microsoft.com/office/drawing/2014/main" id="{D2143795-C0F9-262C-76E1-0B0849D6A0E7}"/>
                  </a:ext>
                </a:extLst>
              </p:cNvPr>
              <p:cNvSpPr>
                <a:spLocks noGrp="1" noRot="1" noChangeAspect="1" noMove="1" noResize="1" noEditPoints="1" noAdjustHandles="1" noChangeArrowheads="1" noChangeShapeType="1" noTextEdit="1"/>
              </p:cNvSpPr>
              <p:nvPr>
                <p:ph idx="1"/>
              </p:nvPr>
            </p:nvSpPr>
            <p:spPr>
              <a:blipFill>
                <a:blip r:embed="rId2"/>
                <a:stretch>
                  <a:fillRect l="-1043" t="-2241" b="-140"/>
                </a:stretch>
              </a:blipFill>
            </p:spPr>
            <p:txBody>
              <a:bodyPr/>
              <a:lstStyle/>
              <a:p>
                <a:r>
                  <a:rPr lang="en-IN">
                    <a:noFill/>
                  </a:rPr>
                  <a:t> </a:t>
                </a:r>
              </a:p>
            </p:txBody>
          </p:sp>
        </mc:Fallback>
      </mc:AlternateContent>
    </p:spTree>
    <p:extLst>
      <p:ext uri="{BB962C8B-B14F-4D97-AF65-F5344CB8AC3E}">
        <p14:creationId xmlns:p14="http://schemas.microsoft.com/office/powerpoint/2010/main" val="14055932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15175-CEC1-4055-6349-36435B4A2BE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D9F0DFD-2D16-0CAF-6C5E-1B5EAE529E7F}"/>
              </a:ext>
            </a:extLst>
          </p:cNvPr>
          <p:cNvSpPr>
            <a:spLocks noGrp="1"/>
          </p:cNvSpPr>
          <p:nvPr>
            <p:ph idx="1"/>
          </p:nvPr>
        </p:nvSpPr>
        <p:spPr/>
        <p:txBody>
          <a:bodyPr>
            <a:normAutofit lnSpcReduction="10000"/>
          </a:bodyPr>
          <a:lstStyle/>
          <a:p>
            <a:r>
              <a:rPr lang="en-IN" b="1" dirty="0"/>
              <a:t>Everyday Utility of Phase and Amplitude</a:t>
            </a:r>
          </a:p>
          <a:p>
            <a:pPr lvl="0"/>
            <a:r>
              <a:rPr lang="en-IN" b="1" dirty="0">
                <a:effectLst/>
              </a:rPr>
              <a:t>Amplitude</a:t>
            </a:r>
            <a:r>
              <a:rPr lang="en-IN" dirty="0">
                <a:effectLst/>
              </a:rPr>
              <a:t>: Think of it as the “volume knob” — how strong a signal is, or how likely an outcome is.</a:t>
            </a:r>
            <a:endParaRPr lang="en-IN" dirty="0"/>
          </a:p>
          <a:p>
            <a:pPr lvl="1"/>
            <a:r>
              <a:rPr lang="en-IN" dirty="0">
                <a:effectLst/>
              </a:rPr>
              <a:t>Everyday analogy: brightness of light, loudness of sound, probability of rolling a dice number.</a:t>
            </a:r>
            <a:endParaRPr lang="en-IN" dirty="0"/>
          </a:p>
          <a:p>
            <a:pPr lvl="0"/>
            <a:r>
              <a:rPr lang="en-IN" b="1" dirty="0">
                <a:effectLst/>
              </a:rPr>
              <a:t>Phase</a:t>
            </a:r>
            <a:r>
              <a:rPr lang="en-IN" dirty="0">
                <a:effectLst/>
              </a:rPr>
              <a:t>: Think of it as the “timing” or “alignment” — when the peaks and troughs of waves line up.</a:t>
            </a:r>
            <a:endParaRPr lang="en-IN" dirty="0"/>
          </a:p>
          <a:p>
            <a:pPr lvl="1"/>
            <a:r>
              <a:rPr lang="en-IN" dirty="0">
                <a:effectLst/>
              </a:rPr>
              <a:t>Everyday analogy: two speakers playing the same song — if they’re in phase, the sound is louder; if out of phase, they cancel.</a:t>
            </a:r>
            <a:endParaRPr lang="en-IN" dirty="0"/>
          </a:p>
          <a:p>
            <a:r>
              <a:rPr lang="en-IN" dirty="0">
                <a:effectLst/>
              </a:rPr>
              <a:t>Together, they allow systems (classical or quantum) to encode rich information beyond just yes/no.</a:t>
            </a:r>
            <a:endParaRPr lang="en-IN" dirty="0"/>
          </a:p>
          <a:p>
            <a:endParaRPr lang="en-IN" dirty="0"/>
          </a:p>
        </p:txBody>
      </p:sp>
    </p:spTree>
    <p:extLst>
      <p:ext uri="{BB962C8B-B14F-4D97-AF65-F5344CB8AC3E}">
        <p14:creationId xmlns:p14="http://schemas.microsoft.com/office/powerpoint/2010/main" val="286886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1E258-043D-B2B1-0598-B00F7FAA794D}"/>
              </a:ext>
            </a:extLst>
          </p:cNvPr>
          <p:cNvSpPr>
            <a:spLocks noGrp="1"/>
          </p:cNvSpPr>
          <p:nvPr>
            <p:ph type="title"/>
          </p:nvPr>
        </p:nvSpPr>
        <p:spPr/>
        <p:txBody>
          <a:bodyPr/>
          <a:lstStyle/>
          <a:p>
            <a:endParaRPr lang="en-IN"/>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112CCD7-6B41-70C7-D63C-956094354867}"/>
                  </a:ext>
                </a:extLst>
              </p:cNvPr>
              <p:cNvSpPr>
                <a:spLocks noGrp="1"/>
              </p:cNvSpPr>
              <p:nvPr>
                <p:ph idx="1"/>
              </p:nvPr>
            </p:nvSpPr>
            <p:spPr>
              <a:xfrm>
                <a:off x="838200" y="1825624"/>
                <a:ext cx="10515600" cy="5032375"/>
              </a:xfrm>
            </p:spPr>
            <p:txBody>
              <a:bodyPr>
                <a:normAutofit fontScale="92500" lnSpcReduction="20000"/>
              </a:bodyPr>
              <a:lstStyle/>
              <a:p>
                <a:r>
                  <a:rPr lang="en-IN" b="1" dirty="0"/>
                  <a:t>Where Azimuth Fits In</a:t>
                </a:r>
              </a:p>
              <a:p>
                <a:pPr lvl="0"/>
                <a:r>
                  <a:rPr lang="en-IN" dirty="0">
                    <a:effectLst/>
                  </a:rPr>
                  <a:t>On the </a:t>
                </a:r>
                <a:r>
                  <a:rPr lang="en-IN" b="1" dirty="0">
                    <a:effectLst/>
                  </a:rPr>
                  <a:t>Bloch sphere</a:t>
                </a:r>
                <a:r>
                  <a:rPr lang="en-IN" dirty="0">
                    <a:effectLst/>
                  </a:rPr>
                  <a:t>, a qubit’s state is described by two angles:</a:t>
                </a:r>
                <a:endParaRPr lang="en-IN" dirty="0"/>
              </a:p>
              <a:p>
                <a:pPr lvl="1"/>
                <a:r>
                  <a:rPr lang="en-IN" b="1" dirty="0">
                    <a:effectLst/>
                  </a:rPr>
                  <a:t>Polar angle (θ)</a:t>
                </a:r>
                <a:r>
                  <a:rPr lang="en-IN" dirty="0">
                    <a:effectLst/>
                  </a:rPr>
                  <a:t> → controls the balance of amplitudes between </a:t>
                </a:r>
                <a14:m>
                  <m:oMath xmlns:m="http://schemas.openxmlformats.org/officeDocument/2006/math">
                    <m:d>
                      <m:dPr>
                        <m:begChr m:val=""/>
                        <m:endChr m:val="⟩"/>
                        <m:ctrlPr>
                          <a:rPr lang="en-IN"/>
                        </m:ctrlPr>
                      </m:dPr>
                      <m:e>
                        <m:r>
                          <a:rPr lang="en-IN"/>
                          <m:t>∣</m:t>
                        </m:r>
                        <m:r>
                          <a:rPr lang="en-IN"/>
                          <m:t>0</m:t>
                        </m:r>
                      </m:e>
                    </m:d>
                  </m:oMath>
                </a14:m>
                <a:r>
                  <a:rPr lang="en-IN" dirty="0">
                    <a:effectLst/>
                  </a:rPr>
                  <a:t>and </a:t>
                </a:r>
                <a14:m>
                  <m:oMath xmlns:m="http://schemas.openxmlformats.org/officeDocument/2006/math">
                    <m:d>
                      <m:dPr>
                        <m:begChr m:val=""/>
                        <m:endChr m:val="⟩"/>
                        <m:ctrlPr>
                          <a:rPr lang="en-IN"/>
                        </m:ctrlPr>
                      </m:dPr>
                      <m:e>
                        <m:r>
                          <a:rPr lang="en-IN"/>
                          <m:t>∣</m:t>
                        </m:r>
                        <m:r>
                          <a:rPr lang="en-IN"/>
                          <m:t>1</m:t>
                        </m:r>
                      </m:e>
                    </m:d>
                  </m:oMath>
                </a14:m>
                <a:r>
                  <a:rPr lang="en-IN" dirty="0">
                    <a:effectLst/>
                  </a:rPr>
                  <a:t>.</a:t>
                </a:r>
                <a:endParaRPr lang="en-IN" dirty="0"/>
              </a:p>
              <a:p>
                <a:pPr lvl="1"/>
                <a:r>
                  <a:rPr lang="en-IN" b="1" dirty="0">
                    <a:effectLst/>
                  </a:rPr>
                  <a:t>Azimuthal angle (φ)</a:t>
                </a:r>
                <a:r>
                  <a:rPr lang="en-IN" dirty="0">
                    <a:effectLst/>
                  </a:rPr>
                  <a:t> → controls the relative </a:t>
                </a:r>
                <a:r>
                  <a:rPr lang="en-IN" b="1" dirty="0">
                    <a:effectLst/>
                  </a:rPr>
                  <a:t>phase</a:t>
                </a:r>
                <a:r>
                  <a:rPr lang="en-IN" dirty="0">
                    <a:effectLst/>
                  </a:rPr>
                  <a:t> between them.</a:t>
                </a:r>
                <a:endParaRPr lang="en-IN" dirty="0"/>
              </a:p>
              <a:p>
                <a:pPr lvl="0"/>
                <a:r>
                  <a:rPr lang="en-IN" dirty="0">
                    <a:effectLst/>
                  </a:rPr>
                  <a:t>So:</a:t>
                </a:r>
                <a:endParaRPr lang="en-IN" dirty="0"/>
              </a:p>
              <a:p>
                <a:pPr lvl="1"/>
                <a:r>
                  <a:rPr lang="en-IN" b="1" dirty="0">
                    <a:effectLst/>
                  </a:rPr>
                  <a:t>Amplitude</a:t>
                </a:r>
                <a:r>
                  <a:rPr lang="en-IN" dirty="0">
                    <a:effectLst/>
                  </a:rPr>
                  <a:t> ↔ polar angle (latitude).</a:t>
                </a:r>
                <a:endParaRPr lang="en-IN" dirty="0"/>
              </a:p>
              <a:p>
                <a:pPr lvl="1"/>
                <a:r>
                  <a:rPr lang="en-IN" b="1" dirty="0">
                    <a:effectLst/>
                  </a:rPr>
                  <a:t>Phase</a:t>
                </a:r>
                <a:r>
                  <a:rPr lang="en-IN" dirty="0">
                    <a:effectLst/>
                  </a:rPr>
                  <a:t> ↔ azimuth angle (longitude).</a:t>
                </a:r>
                <a:endParaRPr lang="en-IN" dirty="0"/>
              </a:p>
              <a:p>
                <a:r>
                  <a:rPr lang="en-IN" dirty="0">
                    <a:effectLst/>
                  </a:rPr>
                  <a:t>This is why azimuth is directly tied to </a:t>
                </a:r>
                <a:r>
                  <a:rPr lang="en-IN" b="1" dirty="0">
                    <a:effectLst/>
                  </a:rPr>
                  <a:t>phase</a:t>
                </a:r>
                <a:r>
                  <a:rPr lang="en-IN" dirty="0">
                    <a:effectLst/>
                  </a:rPr>
                  <a:t> in the Bloch sphere representation.</a:t>
                </a:r>
                <a:endParaRPr lang="en-IN" dirty="0"/>
              </a:p>
              <a:p>
                <a:r>
                  <a:rPr lang="en-IN" dirty="0">
                    <a:effectLst/>
                  </a:rPr>
                  <a:t>✨ In short:</a:t>
                </a:r>
                <a:endParaRPr lang="en-IN" dirty="0"/>
              </a:p>
              <a:p>
                <a:pPr lvl="0"/>
                <a:r>
                  <a:rPr lang="en-IN" b="1" dirty="0">
                    <a:effectLst/>
                  </a:rPr>
                  <a:t>Phase only</a:t>
                </a:r>
                <a:r>
                  <a:rPr lang="en-IN" dirty="0">
                    <a:effectLst/>
                  </a:rPr>
                  <a:t> matters when amplitudes are fixed but interference is key.</a:t>
                </a:r>
                <a:endParaRPr lang="en-IN" dirty="0"/>
              </a:p>
              <a:p>
                <a:pPr lvl="0"/>
                <a:r>
                  <a:rPr lang="en-IN" b="1" dirty="0">
                    <a:effectLst/>
                  </a:rPr>
                  <a:t>Amplitude + phase</a:t>
                </a:r>
                <a:r>
                  <a:rPr lang="en-IN" dirty="0">
                    <a:effectLst/>
                  </a:rPr>
                  <a:t> matter when probabilities and interference both play roles.</a:t>
                </a:r>
                <a:endParaRPr lang="en-IN" dirty="0"/>
              </a:p>
              <a:p>
                <a:pPr lvl="0"/>
                <a:r>
                  <a:rPr lang="en-IN" b="1" dirty="0">
                    <a:effectLst/>
                  </a:rPr>
                  <a:t>Azimuth</a:t>
                </a:r>
                <a:r>
                  <a:rPr lang="en-IN" dirty="0">
                    <a:effectLst/>
                  </a:rPr>
                  <a:t> is the geometric representation of phase on the Bloch sphere.</a:t>
                </a:r>
                <a:endParaRPr lang="en-IN" dirty="0"/>
              </a:p>
              <a:p>
                <a:endParaRPr lang="en-IN" dirty="0"/>
              </a:p>
            </p:txBody>
          </p:sp>
        </mc:Choice>
        <mc:Fallback>
          <p:sp>
            <p:nvSpPr>
              <p:cNvPr id="3" name="Content Placeholder 2">
                <a:extLst>
                  <a:ext uri="{FF2B5EF4-FFF2-40B4-BE49-F238E27FC236}">
                    <a16:creationId xmlns:a16="http://schemas.microsoft.com/office/drawing/2014/main" id="{1112CCD7-6B41-70C7-D63C-956094354867}"/>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928" t="-3027" b="-1816"/>
                </a:stretch>
              </a:blipFill>
            </p:spPr>
            <p:txBody>
              <a:bodyPr/>
              <a:lstStyle/>
              <a:p>
                <a:r>
                  <a:rPr lang="en-IN">
                    <a:noFill/>
                  </a:rPr>
                  <a:t> </a:t>
                </a:r>
              </a:p>
            </p:txBody>
          </p:sp>
        </mc:Fallback>
      </mc:AlternateContent>
    </p:spTree>
    <p:extLst>
      <p:ext uri="{BB962C8B-B14F-4D97-AF65-F5344CB8AC3E}">
        <p14:creationId xmlns:p14="http://schemas.microsoft.com/office/powerpoint/2010/main" val="39455903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2907</TotalTime>
  <Words>1743</Words>
  <Application>Microsoft Office PowerPoint</Application>
  <PresentationFormat>Widescreen</PresentationFormat>
  <Paragraphs>119</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BRAIDS AND QUANTUM COMPUTING</vt:lpstr>
      <vt:lpstr>how are the braids made in 3D transported to 2D processing? Is it by bloch sphere? </vt:lpstr>
      <vt:lpstr>Transporting Braids into 2D Processing </vt:lpstr>
      <vt:lpstr>Bloch Sphere vs Braid Group </vt:lpstr>
      <vt:lpstr>PowerPoint Presentation</vt:lpstr>
      <vt:lpstr>are you saying that after the braiding in 3D the values are derived by braidgroup whiich acting as a gate delivers the values of amplitudes and phases? the the bloch sphere does not come into the picture? </vt:lpstr>
      <vt:lpstr>PowerPoint Presentation</vt:lpstr>
      <vt:lpstr>PowerPoint Presentation</vt:lpstr>
      <vt:lpstr>how does quantum computing get the values? </vt:lpstr>
      <vt:lpstr>PowerPoint Presentation</vt:lpstr>
      <vt:lpstr>PowerPoint Presentation</vt:lpstr>
      <vt:lpstr>is bloch sphere not much in normal use? </vt:lpstr>
      <vt:lpstr>PowerPoint Presentation</vt:lpstr>
      <vt:lpstr>when do we require only phase and where both phase and amplitude is required? what is the utility of phase and amplitude in every day computing? where does azimuth fit into phase, azimuth , amplitude?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Bon Pro</dc:creator>
  <cp:lastModifiedBy>Bon Pro</cp:lastModifiedBy>
  <cp:revision>3</cp:revision>
  <dcterms:created xsi:type="dcterms:W3CDTF">2026-07-31T06:20:05Z</dcterms:created>
  <dcterms:modified xsi:type="dcterms:W3CDTF">2026-08-02T06:47:29Z</dcterms:modified>
</cp:coreProperties>
</file>