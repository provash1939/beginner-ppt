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69" d="100"/>
          <a:sy n="69" d="100"/>
        </p:scale>
        <p:origin x="9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25995-19AA-5081-6C21-5A2EC7D5B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B4AF3-B962-E4B6-D33A-E424EA24E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CA0A1-1F93-E9E5-3323-CF2D61039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23A3-D2FB-4EC0-9E92-EB06FD8F4D2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BC2EF-9B6E-4DC8-A37C-6DB2DB903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AF4B0-A643-4AA8-1C8F-26F1B379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DDB07-255B-48C0-96A2-A2B7DF5BA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239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31ECA-1058-857D-AC8F-2DFCD99C2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5A89F-6B9E-ED3B-11FD-382B69E39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917AD-FBDE-70D2-A4C7-9F86E2403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23A3-D2FB-4EC0-9E92-EB06FD8F4D2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230AB-000C-F5CB-20ED-4E1323165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C906F-EE2F-9EB1-6ECC-12E20B8DB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DDB07-255B-48C0-96A2-A2B7DF5BA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17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38C96-B568-A412-D221-0E8C0D3C8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E435E-CD57-FB90-3172-F54C87865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13E15-46A9-7604-4509-9F69AD14C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23A3-D2FB-4EC0-9E92-EB06FD8F4D2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47B04-5231-00D5-DFF2-C2F24A0BF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CE095-DE06-99BA-AE3B-45FA2842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DDB07-255B-48C0-96A2-A2B7DF5BA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187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B6263-D419-8F39-15B3-F8F240FAB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0D3F0-D5C8-500A-AB86-44E4289850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334D3-9D69-744E-4046-553E98980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3125E-0BA6-B951-ED7F-FADC296DE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23A3-D2FB-4EC0-9E92-EB06FD8F4D2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62B1A-B6A3-3875-C70D-F25E0F2EB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81A559-D3A7-F643-3434-A153322C4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DDB07-255B-48C0-96A2-A2B7DF5BA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26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829B4-95EB-FF26-32D7-BFE791724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F7B3F-D4A0-7AD8-8676-40FEAE5C5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B8E59-F863-E954-D70E-CD3441CED4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203C0E-C06C-25D0-7F02-905F57F30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4980B4-5E18-3AEA-7E55-6483DA2097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EC38F0-36A3-E77D-46EA-41D91DD87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23A3-D2FB-4EC0-9E92-EB06FD8F4D2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5398AC-96D5-8EC1-E2BE-BE0FBDE91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5B0024-9BDB-6924-8579-A96B60636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DDB07-255B-48C0-96A2-A2B7DF5BA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611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21697-4F8B-1C7D-F43B-46BBDC870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38FCE1-B496-AA84-E1E6-7834F5E72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23A3-D2FB-4EC0-9E92-EB06FD8F4D2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4DC574-4B5B-67B0-E47D-C840C8754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D85A36-7932-E285-24B2-F1E328E81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DDB07-255B-48C0-96A2-A2B7DF5BA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784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D0C70F-F02C-469B-63F7-CCF0500CE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23A3-D2FB-4EC0-9E92-EB06FD8F4D2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E63EC6-D60C-E35B-10B3-9F4509992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A18BB-3E16-9771-21A2-2145BC414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DDB07-255B-48C0-96A2-A2B7DF5BA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44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6882-31D6-5795-8F13-D2D77ECD5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BADC7-4FAC-5494-5EF8-FD19B8E52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4702B6-BEE7-1E93-0ED8-8463E99CF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F7740-A653-7D55-7D12-689C7C453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23A3-D2FB-4EC0-9E92-EB06FD8F4D2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EBA5D-E572-E250-E52D-79F11A32F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B4A88-324E-B6EE-C9F4-BD696488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DDB07-255B-48C0-96A2-A2B7DF5BA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80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7DC0-540B-C3AB-EDB5-5DAA107E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FE678-3ED3-6E6E-AB00-02FEA35042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DCE11E-8D44-344B-ED31-694570E2B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FFE3F-D3AE-68F4-1493-447FC2F29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23A3-D2FB-4EC0-9E92-EB06FD8F4D2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B7E4-BE88-4106-8BC0-AF245BA66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5E7DB-FB50-8C5C-A1BE-C4785AE6F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DDB07-255B-48C0-96A2-A2B7DF5BA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552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AFA67-341B-AB06-5FA6-FF178EB30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460E7-FE7F-6F56-3890-BD9979DD7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2F83F-66DF-89EF-28B0-EFE6EBF9C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23A3-D2FB-4EC0-9E92-EB06FD8F4D2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3537A-5DCF-CEAA-FD9F-32DA246BE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D2714-4F87-02B9-7CC4-E648A2DEB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DDB07-255B-48C0-96A2-A2B7DF5BA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557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0F4F75-511D-C976-6810-E2A2D071C3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229EA-2DB1-3B78-D713-E9D19CC33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23D87-A367-79D5-759A-A60198F98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23A3-D2FB-4EC0-9E92-EB06FD8F4D2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E1409-F912-81F0-C68E-BF68A6B5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096AF-9E74-5C81-4B70-ECA4D453D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DDB07-255B-48C0-96A2-A2B7DF5BA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653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8CC897-32B9-07D8-74DD-ADBBB1B8B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8AD24-1024-E3C6-26FB-798530EEB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FC9D0-D16E-A2B2-3CE0-F1465BACBA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A23A3-D2FB-4EC0-9E92-EB06FD8F4D2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0C80B-9856-9D3C-D34A-454065348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B9C29-F553-76C0-257A-23E534B80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DDB07-255B-48C0-96A2-A2B7DF5BA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197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B2608-2C48-51A6-3EC1-C412E02F3E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Berry phase</a:t>
            </a:r>
            <a:r>
              <a:rPr lang="en-US" dirty="0"/>
              <a:t> differentiates </a:t>
            </a:r>
            <a:r>
              <a:rPr lang="en-US" i="1" dirty="0"/>
              <a:t>fragile</a:t>
            </a:r>
            <a:r>
              <a:rPr lang="en-US" dirty="0"/>
              <a:t> from </a:t>
            </a:r>
            <a:r>
              <a:rPr lang="en-US" i="1" dirty="0"/>
              <a:t>steady</a:t>
            </a:r>
            <a:r>
              <a:rPr lang="en-US" dirty="0"/>
              <a:t> quantum states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9FCEC-F0C2-95EE-1182-1D873AB2B7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Standard and Topological qubits 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54990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A094C-1067-B7DE-584C-256822ED1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 Standard Qubits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1F5A1-AC50-1E75-4DA5-DFF4BB3E5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</a:t>
            </a:r>
            <a:r>
              <a:rPr lang="en-US" dirty="0">
                <a:effectLst/>
              </a:rPr>
              <a:t>he </a:t>
            </a:r>
            <a:r>
              <a:rPr lang="en-US" b="1" dirty="0">
                <a:effectLst/>
              </a:rPr>
              <a:t>Berry phase</a:t>
            </a:r>
            <a:r>
              <a:rPr lang="en-US" dirty="0">
                <a:effectLst/>
              </a:rPr>
              <a:t> arises from the </a:t>
            </a:r>
            <a:r>
              <a:rPr lang="en-US" b="1" dirty="0">
                <a:effectLst/>
              </a:rPr>
              <a:t>geometric path</a:t>
            </a:r>
            <a:r>
              <a:rPr lang="en-US" dirty="0">
                <a:effectLst/>
              </a:rPr>
              <a:t> traced by the qubit’s state on the </a:t>
            </a:r>
            <a:r>
              <a:rPr lang="en-US" b="1" dirty="0">
                <a:effectLst/>
              </a:rPr>
              <a:t>Bloch sphere</a:t>
            </a:r>
            <a:r>
              <a:rPr lang="en-US" dirty="0">
                <a:effectLst/>
              </a:rPr>
              <a:t>.</a:t>
            </a:r>
            <a:endParaRPr lang="en-US" dirty="0"/>
          </a:p>
          <a:p>
            <a:r>
              <a:rPr lang="en-US" dirty="0">
                <a:effectLst/>
              </a:rPr>
              <a:t>It depends on </a:t>
            </a:r>
            <a:r>
              <a:rPr lang="en-US" b="1" dirty="0">
                <a:effectLst/>
              </a:rPr>
              <a:t>local parameters</a:t>
            </a:r>
            <a:r>
              <a:rPr lang="en-US" dirty="0">
                <a:effectLst/>
              </a:rPr>
              <a:t> — magnetic field orientation, control pulse precision, and timing.</a:t>
            </a:r>
            <a:endParaRPr lang="en-US" dirty="0"/>
          </a:p>
          <a:p>
            <a:r>
              <a:rPr lang="en-US" dirty="0">
                <a:effectLst/>
              </a:rPr>
              <a:t>Because these are sensitive to noise and imperfections, the resulting phase can fluctuate.</a:t>
            </a:r>
            <a:endParaRPr lang="en-US" dirty="0"/>
          </a:p>
          <a:p>
            <a:r>
              <a:rPr lang="en-US" dirty="0">
                <a:effectLst/>
              </a:rPr>
              <a:t>Hence, the Berry phase here contributes to a </a:t>
            </a:r>
            <a:r>
              <a:rPr lang="en-US" b="1" dirty="0">
                <a:effectLst/>
              </a:rPr>
              <a:t>fragile state</a:t>
            </a:r>
            <a:r>
              <a:rPr lang="en-US" dirty="0">
                <a:effectLst/>
              </a:rPr>
              <a:t>, easily disturbed by decoherence or environmental drift.</a:t>
            </a:r>
            <a:endParaRPr lang="en-US" dirty="0"/>
          </a:p>
          <a:p>
            <a:r>
              <a:rPr lang="en-US" dirty="0"/>
              <a:t>Think of it as a delicate dance on the Bloch sphere — every vibration in the floor changes the rhythm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3869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87413-A463-784A-260A-293CEE854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 Topological Qubits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B7B14-A2D5-D26E-784F-8275B33B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In Topological Qubits</a:t>
            </a:r>
          </a:p>
          <a:p>
            <a:r>
              <a:rPr lang="en-US" dirty="0">
                <a:effectLst/>
              </a:rPr>
              <a:t>The Berry phase becomes </a:t>
            </a:r>
            <a:r>
              <a:rPr lang="en-US" b="1" dirty="0">
                <a:effectLst/>
              </a:rPr>
              <a:t>topologically quantized</a:t>
            </a:r>
            <a:r>
              <a:rPr lang="en-US" dirty="0">
                <a:effectLst/>
              </a:rPr>
              <a:t> — determined by </a:t>
            </a:r>
            <a:r>
              <a:rPr lang="en-US" b="1" dirty="0">
                <a:effectLst/>
              </a:rPr>
              <a:t>global properties</a:t>
            </a:r>
            <a:r>
              <a:rPr lang="en-US" dirty="0">
                <a:effectLst/>
              </a:rPr>
              <a:t> of the system, such as the </a:t>
            </a:r>
            <a:r>
              <a:rPr lang="en-US" b="1" dirty="0">
                <a:effectLst/>
              </a:rPr>
              <a:t>braiding of </a:t>
            </a:r>
            <a:r>
              <a:rPr lang="en-US" b="1" dirty="0" err="1">
                <a:effectLst/>
              </a:rPr>
              <a:t>anyons</a:t>
            </a:r>
            <a:r>
              <a:rPr lang="en-US" dirty="0">
                <a:effectLst/>
              </a:rPr>
              <a:t> or the </a:t>
            </a:r>
            <a:r>
              <a:rPr lang="en-US" b="1" dirty="0">
                <a:effectLst/>
              </a:rPr>
              <a:t>Chern number</a:t>
            </a:r>
            <a:r>
              <a:rPr lang="en-US" dirty="0">
                <a:effectLst/>
              </a:rPr>
              <a:t> of the underlying field.</a:t>
            </a:r>
            <a:endParaRPr lang="en-US" dirty="0"/>
          </a:p>
          <a:p>
            <a:r>
              <a:rPr lang="en-US" dirty="0">
                <a:effectLst/>
              </a:rPr>
              <a:t>It no longer depends on the exact path details, only on the </a:t>
            </a:r>
            <a:r>
              <a:rPr lang="en-US" b="1" dirty="0">
                <a:effectLst/>
              </a:rPr>
              <a:t>topological class</a:t>
            </a:r>
            <a:r>
              <a:rPr lang="en-US" dirty="0">
                <a:effectLst/>
              </a:rPr>
              <a:t> of that path.</a:t>
            </a:r>
            <a:endParaRPr lang="en-US" dirty="0"/>
          </a:p>
          <a:p>
            <a:r>
              <a:rPr lang="en-US" dirty="0">
                <a:effectLst/>
              </a:rPr>
              <a:t>This makes the phase </a:t>
            </a:r>
            <a:r>
              <a:rPr lang="en-US" b="1" dirty="0">
                <a:effectLst/>
              </a:rPr>
              <a:t>robust</a:t>
            </a:r>
            <a:r>
              <a:rPr lang="en-US" dirty="0">
                <a:effectLst/>
              </a:rPr>
              <a:t> against local noise, temperature fluctuations, or small distortions.</a:t>
            </a:r>
            <a:endParaRPr lang="en-US" dirty="0"/>
          </a:p>
          <a:p>
            <a:r>
              <a:rPr lang="en-US" dirty="0">
                <a:effectLst/>
              </a:rPr>
              <a:t>The result is a </a:t>
            </a:r>
            <a:r>
              <a:rPr lang="en-US" b="1" dirty="0">
                <a:effectLst/>
              </a:rPr>
              <a:t>steady state</a:t>
            </a:r>
            <a:r>
              <a:rPr lang="en-US" dirty="0">
                <a:effectLst/>
              </a:rPr>
              <a:t>, protected by topology itself.</a:t>
            </a:r>
            <a:endParaRPr lang="en-US" dirty="0"/>
          </a:p>
          <a:p>
            <a:r>
              <a:rPr lang="en-US" dirty="0">
                <a:effectLst/>
              </a:rPr>
              <a:t>🧩 </a:t>
            </a:r>
            <a:r>
              <a:rPr lang="en-US" i="1" dirty="0">
                <a:effectLst/>
              </a:rPr>
              <a:t>Here, the dance happens on a stage that’s immune to tremors — the choreography (braid) defines the outcome, not the steps.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1769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334B-BAF5-ADE8-07C5-2CEE28ABB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E6F8F0-73CD-9BF2-FF2A-AAD34B0235A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675414"/>
          <a:ext cx="10515600" cy="2651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92717515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771679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826127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Standard Qubit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Topological Qubit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243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Berry Phase Origin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Local geometric path on Bloch sphere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Global topological path via anyon braiding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167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Dependence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Sensitive to control precision and noise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Depends only on topology (path class)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293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Effect on State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Fragile, prone to decoherence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Steady, noise‑resilient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061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Physical Realization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Superconducting circuits, trapped 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dirty="0"/>
                        <a:t>Quantum Hall systems, Majorana modes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080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3743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E22A3-40C6-140E-EF8D-A7B4D7379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FB2BA-6EA8-CF3C-4AE8-CCA744D83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The Berry phase acts as a bridge between </a:t>
            </a:r>
            <a:r>
              <a:rPr lang="en-US" b="1" dirty="0">
                <a:effectLst/>
              </a:rPr>
              <a:t>geometry</a:t>
            </a:r>
            <a:r>
              <a:rPr lang="en-US" dirty="0">
                <a:effectLst/>
              </a:rPr>
              <a:t> and </a:t>
            </a:r>
            <a:r>
              <a:rPr lang="en-US" b="1" dirty="0">
                <a:effectLst/>
              </a:rPr>
              <a:t>topology</a:t>
            </a:r>
            <a:r>
              <a:rPr lang="en-US" dirty="0">
                <a:effectLst/>
              </a:rPr>
              <a:t>:</a:t>
            </a:r>
            <a:endParaRPr lang="en-US" dirty="0"/>
          </a:p>
          <a:p>
            <a:r>
              <a:rPr lang="en-US" dirty="0">
                <a:effectLst/>
              </a:rPr>
              <a:t>In standard qubits, it’s a </a:t>
            </a:r>
            <a:r>
              <a:rPr lang="en-US" i="1" dirty="0">
                <a:effectLst/>
              </a:rPr>
              <a:t>geometric phase</a:t>
            </a:r>
            <a:r>
              <a:rPr lang="en-US" dirty="0">
                <a:effectLst/>
              </a:rPr>
              <a:t> — local and delicate.</a:t>
            </a:r>
            <a:endParaRPr lang="en-US" dirty="0"/>
          </a:p>
          <a:p>
            <a:r>
              <a:rPr lang="en-US" dirty="0">
                <a:effectLst/>
              </a:rPr>
              <a:t>In topological qubits, it becomes a </a:t>
            </a:r>
            <a:r>
              <a:rPr lang="en-US" i="1" dirty="0">
                <a:effectLst/>
              </a:rPr>
              <a:t>topological invariant</a:t>
            </a:r>
            <a:r>
              <a:rPr lang="en-US" dirty="0">
                <a:effectLst/>
              </a:rPr>
              <a:t> — global and stable.</a:t>
            </a:r>
            <a:endParaRPr lang="en-US" dirty="0"/>
          </a:p>
          <a:p>
            <a:r>
              <a:rPr lang="en-US" dirty="0">
                <a:effectLst/>
              </a:rPr>
              <a:t>That transition from </a:t>
            </a:r>
            <a:r>
              <a:rPr lang="en-US" b="1" dirty="0">
                <a:effectLst/>
              </a:rPr>
              <a:t>fragile geometry</a:t>
            </a:r>
            <a:r>
              <a:rPr lang="en-US" dirty="0">
                <a:effectLst/>
              </a:rPr>
              <a:t> to </a:t>
            </a:r>
            <a:r>
              <a:rPr lang="en-US" b="1" dirty="0">
                <a:effectLst/>
              </a:rPr>
              <a:t>steady topology</a:t>
            </a:r>
            <a:r>
              <a:rPr lang="en-US" dirty="0">
                <a:effectLst/>
              </a:rPr>
              <a:t> is what makes topological quantum computing so revolutionary.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5556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336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Berry phase differentiates fragile from steady quantum states</vt:lpstr>
      <vt:lpstr>In Standard Qubits</vt:lpstr>
      <vt:lpstr>In Topological Qubits</vt:lpstr>
      <vt:lpstr>Summary Table</vt:lpstr>
      <vt:lpstr>Key Insight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 Pro</dc:creator>
  <cp:lastModifiedBy>Bon Pro</cp:lastModifiedBy>
  <cp:revision>1</cp:revision>
  <dcterms:created xsi:type="dcterms:W3CDTF">2026-05-19T03:10:57Z</dcterms:created>
  <dcterms:modified xsi:type="dcterms:W3CDTF">2026-05-19T03:32:06Z</dcterms:modified>
</cp:coreProperties>
</file>