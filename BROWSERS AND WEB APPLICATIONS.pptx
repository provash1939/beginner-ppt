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 Pro" userId="d9ac0b2d6d6f1aa7" providerId="LiveId" clId="{911B189F-0B54-4367-9F58-237CC98A9B72}"/>
    <pc:docChg chg="undo custSel addSld modSld">
      <pc:chgData name="Bon Pro" userId="d9ac0b2d6d6f1aa7" providerId="LiveId" clId="{911B189F-0B54-4367-9F58-237CC98A9B72}" dt="2026-08-10T06:37:59.316" v="117" actId="27636"/>
      <pc:docMkLst>
        <pc:docMk/>
      </pc:docMkLst>
      <pc:sldChg chg="modSp mod">
        <pc:chgData name="Bon Pro" userId="d9ac0b2d6d6f1aa7" providerId="LiveId" clId="{911B189F-0B54-4367-9F58-237CC98A9B72}" dt="2026-08-08T14:46:37.812" v="3" actId="14100"/>
        <pc:sldMkLst>
          <pc:docMk/>
          <pc:sldMk cId="1688818681" sldId="261"/>
        </pc:sldMkLst>
        <pc:spChg chg="mod">
          <ac:chgData name="Bon Pro" userId="d9ac0b2d6d6f1aa7" providerId="LiveId" clId="{911B189F-0B54-4367-9F58-237CC98A9B72}" dt="2026-08-08T14:46:37.812" v="3" actId="14100"/>
          <ac:spMkLst>
            <pc:docMk/>
            <pc:sldMk cId="1688818681" sldId="261"/>
            <ac:spMk id="3" creationId="{069A2282-01F0-CA2E-BD11-2384D6C332F0}"/>
          </ac:spMkLst>
        </pc:spChg>
      </pc:sldChg>
      <pc:sldChg chg="modSp new mod">
        <pc:chgData name="Bon Pro" userId="d9ac0b2d6d6f1aa7" providerId="LiveId" clId="{911B189F-0B54-4367-9F58-237CC98A9B72}" dt="2026-08-08T14:52:04.098" v="9"/>
        <pc:sldMkLst>
          <pc:docMk/>
          <pc:sldMk cId="3312254508" sldId="268"/>
        </pc:sldMkLst>
        <pc:spChg chg="mod">
          <ac:chgData name="Bon Pro" userId="d9ac0b2d6d6f1aa7" providerId="LiveId" clId="{911B189F-0B54-4367-9F58-237CC98A9B72}" dt="2026-08-08T14:51:14.778" v="8" actId="113"/>
          <ac:spMkLst>
            <pc:docMk/>
            <pc:sldMk cId="3312254508" sldId="268"/>
            <ac:spMk id="2" creationId="{50C8CC57-FB18-8DD1-851C-22120DAFAD28}"/>
          </ac:spMkLst>
        </pc:spChg>
        <pc:spChg chg="mod">
          <ac:chgData name="Bon Pro" userId="d9ac0b2d6d6f1aa7" providerId="LiveId" clId="{911B189F-0B54-4367-9F58-237CC98A9B72}" dt="2026-08-08T14:52:04.098" v="9"/>
          <ac:spMkLst>
            <pc:docMk/>
            <pc:sldMk cId="3312254508" sldId="268"/>
            <ac:spMk id="3" creationId="{6B2C7F6C-D4C5-6409-C05D-DDAA5D629DAD}"/>
          </ac:spMkLst>
        </pc:spChg>
      </pc:sldChg>
      <pc:sldChg chg="modSp new mod">
        <pc:chgData name="Bon Pro" userId="d9ac0b2d6d6f1aa7" providerId="LiveId" clId="{911B189F-0B54-4367-9F58-237CC98A9B72}" dt="2026-08-08T14:52:47.033" v="12" actId="27636"/>
        <pc:sldMkLst>
          <pc:docMk/>
          <pc:sldMk cId="2972489224" sldId="269"/>
        </pc:sldMkLst>
        <pc:spChg chg="mod">
          <ac:chgData name="Bon Pro" userId="d9ac0b2d6d6f1aa7" providerId="LiveId" clId="{911B189F-0B54-4367-9F58-237CC98A9B72}" dt="2026-08-08T14:52:47.033" v="12" actId="27636"/>
          <ac:spMkLst>
            <pc:docMk/>
            <pc:sldMk cId="2972489224" sldId="269"/>
            <ac:spMk id="3" creationId="{6A44C13F-35E4-3909-01A2-B462B7DD994B}"/>
          </ac:spMkLst>
        </pc:spChg>
      </pc:sldChg>
      <pc:sldChg chg="modSp new mod">
        <pc:chgData name="Bon Pro" userId="d9ac0b2d6d6f1aa7" providerId="LiveId" clId="{911B189F-0B54-4367-9F58-237CC98A9B72}" dt="2026-08-08T15:01:47.142" v="22" actId="27636"/>
        <pc:sldMkLst>
          <pc:docMk/>
          <pc:sldMk cId="540905456" sldId="270"/>
        </pc:sldMkLst>
        <pc:spChg chg="mod">
          <ac:chgData name="Bon Pro" userId="d9ac0b2d6d6f1aa7" providerId="LiveId" clId="{911B189F-0B54-4367-9F58-237CC98A9B72}" dt="2026-08-08T15:00:12.688" v="18" actId="113"/>
          <ac:spMkLst>
            <pc:docMk/>
            <pc:sldMk cId="540905456" sldId="270"/>
            <ac:spMk id="2" creationId="{4A6CD389-4724-9BB2-C6F3-4D2AAC867EA9}"/>
          </ac:spMkLst>
        </pc:spChg>
        <pc:spChg chg="mod">
          <ac:chgData name="Bon Pro" userId="d9ac0b2d6d6f1aa7" providerId="LiveId" clId="{911B189F-0B54-4367-9F58-237CC98A9B72}" dt="2026-08-08T15:01:47.142" v="22" actId="27636"/>
          <ac:spMkLst>
            <pc:docMk/>
            <pc:sldMk cId="540905456" sldId="270"/>
            <ac:spMk id="3" creationId="{942D1660-BA93-F887-6240-B5FB73064CA4}"/>
          </ac:spMkLst>
        </pc:spChg>
      </pc:sldChg>
      <pc:sldChg chg="addSp delSp modSp new mod">
        <pc:chgData name="Bon Pro" userId="d9ac0b2d6d6f1aa7" providerId="LiveId" clId="{911B189F-0B54-4367-9F58-237CC98A9B72}" dt="2026-08-08T15:06:48.411" v="29" actId="113"/>
        <pc:sldMkLst>
          <pc:docMk/>
          <pc:sldMk cId="1307817344" sldId="271"/>
        </pc:sldMkLst>
        <pc:spChg chg="mod">
          <ac:chgData name="Bon Pro" userId="d9ac0b2d6d6f1aa7" providerId="LiveId" clId="{911B189F-0B54-4367-9F58-237CC98A9B72}" dt="2026-08-08T15:06:48.411" v="29" actId="113"/>
          <ac:spMkLst>
            <pc:docMk/>
            <pc:sldMk cId="1307817344" sldId="271"/>
            <ac:spMk id="2" creationId="{37961D15-CF36-F106-2A01-3B494EA84DFF}"/>
          </ac:spMkLst>
        </pc:spChg>
        <pc:graphicFrameChg chg="add mod modGraphic">
          <ac:chgData name="Bon Pro" userId="d9ac0b2d6d6f1aa7" providerId="LiveId" clId="{911B189F-0B54-4367-9F58-237CC98A9B72}" dt="2026-08-08T15:05:51" v="25" actId="14100"/>
          <ac:graphicFrameMkLst>
            <pc:docMk/>
            <pc:sldMk cId="1307817344" sldId="271"/>
            <ac:graphicFrameMk id="4" creationId="{18E3FD2C-F99B-0CE0-F79A-F745469B68A9}"/>
          </ac:graphicFrameMkLst>
        </pc:graphicFrameChg>
      </pc:sldChg>
      <pc:sldChg chg="addSp delSp modSp new">
        <pc:chgData name="Bon Pro" userId="d9ac0b2d6d6f1aa7" providerId="LiveId" clId="{911B189F-0B54-4367-9F58-237CC98A9B72}" dt="2026-08-08T15:10:01.672" v="31"/>
        <pc:sldMkLst>
          <pc:docMk/>
          <pc:sldMk cId="2872559709" sldId="272"/>
        </pc:sldMkLst>
        <pc:graphicFrameChg chg="add mod">
          <ac:chgData name="Bon Pro" userId="d9ac0b2d6d6f1aa7" providerId="LiveId" clId="{911B189F-0B54-4367-9F58-237CC98A9B72}" dt="2026-08-08T15:10:01.672" v="31"/>
          <ac:graphicFrameMkLst>
            <pc:docMk/>
            <pc:sldMk cId="2872559709" sldId="272"/>
            <ac:graphicFrameMk id="4" creationId="{F600F31B-6AA6-8A1E-592D-0C3F2E9FCE90}"/>
          </ac:graphicFrameMkLst>
        </pc:graphicFrameChg>
      </pc:sldChg>
      <pc:sldChg chg="modSp new mod">
        <pc:chgData name="Bon Pro" userId="d9ac0b2d6d6f1aa7" providerId="LiveId" clId="{911B189F-0B54-4367-9F58-237CC98A9B72}" dt="2026-08-10T06:21:59.656" v="36"/>
        <pc:sldMkLst>
          <pc:docMk/>
          <pc:sldMk cId="4271256539" sldId="273"/>
        </pc:sldMkLst>
        <pc:spChg chg="mod">
          <ac:chgData name="Bon Pro" userId="d9ac0b2d6d6f1aa7" providerId="LiveId" clId="{911B189F-0B54-4367-9F58-237CC98A9B72}" dt="2026-08-10T06:21:35.994" v="35" actId="113"/>
          <ac:spMkLst>
            <pc:docMk/>
            <pc:sldMk cId="4271256539" sldId="273"/>
            <ac:spMk id="2" creationId="{F186E173-3499-0D59-FE27-47DA91E007AB}"/>
          </ac:spMkLst>
        </pc:spChg>
        <pc:spChg chg="mod">
          <ac:chgData name="Bon Pro" userId="d9ac0b2d6d6f1aa7" providerId="LiveId" clId="{911B189F-0B54-4367-9F58-237CC98A9B72}" dt="2026-08-10T06:21:59.656" v="36"/>
          <ac:spMkLst>
            <pc:docMk/>
            <pc:sldMk cId="4271256539" sldId="273"/>
            <ac:spMk id="3" creationId="{C30D3816-3CE2-4829-8E31-558EAD058B83}"/>
          </ac:spMkLst>
        </pc:spChg>
      </pc:sldChg>
      <pc:sldChg chg="modSp new">
        <pc:chgData name="Bon Pro" userId="d9ac0b2d6d6f1aa7" providerId="LiveId" clId="{911B189F-0B54-4367-9F58-237CC98A9B72}" dt="2026-08-10T06:22:26.497" v="38"/>
        <pc:sldMkLst>
          <pc:docMk/>
          <pc:sldMk cId="893982219" sldId="274"/>
        </pc:sldMkLst>
        <pc:spChg chg="mod">
          <ac:chgData name="Bon Pro" userId="d9ac0b2d6d6f1aa7" providerId="LiveId" clId="{911B189F-0B54-4367-9F58-237CC98A9B72}" dt="2026-08-10T06:22:26.497" v="38"/>
          <ac:spMkLst>
            <pc:docMk/>
            <pc:sldMk cId="893982219" sldId="274"/>
            <ac:spMk id="3" creationId="{D1680423-32FB-DC4D-71CC-F151653F7B61}"/>
          </ac:spMkLst>
        </pc:spChg>
      </pc:sldChg>
      <pc:sldChg chg="modSp new mod">
        <pc:chgData name="Bon Pro" userId="d9ac0b2d6d6f1aa7" providerId="LiveId" clId="{911B189F-0B54-4367-9F58-237CC98A9B72}" dt="2026-08-10T06:22:49.238" v="41" actId="27636"/>
        <pc:sldMkLst>
          <pc:docMk/>
          <pc:sldMk cId="2056692827" sldId="275"/>
        </pc:sldMkLst>
        <pc:spChg chg="mod">
          <ac:chgData name="Bon Pro" userId="d9ac0b2d6d6f1aa7" providerId="LiveId" clId="{911B189F-0B54-4367-9F58-237CC98A9B72}" dt="2026-08-10T06:22:49.238" v="41" actId="27636"/>
          <ac:spMkLst>
            <pc:docMk/>
            <pc:sldMk cId="2056692827" sldId="275"/>
            <ac:spMk id="3" creationId="{C9C8BBEC-ED16-61F2-A304-38D73A924A9D}"/>
          </ac:spMkLst>
        </pc:spChg>
      </pc:sldChg>
      <pc:sldChg chg="modSp new mod">
        <pc:chgData name="Bon Pro" userId="d9ac0b2d6d6f1aa7" providerId="LiveId" clId="{911B189F-0B54-4367-9F58-237CC98A9B72}" dt="2026-08-10T06:23:35.572" v="44" actId="27636"/>
        <pc:sldMkLst>
          <pc:docMk/>
          <pc:sldMk cId="2527939386" sldId="276"/>
        </pc:sldMkLst>
        <pc:spChg chg="mod">
          <ac:chgData name="Bon Pro" userId="d9ac0b2d6d6f1aa7" providerId="LiveId" clId="{911B189F-0B54-4367-9F58-237CC98A9B72}" dt="2026-08-10T06:23:35.572" v="44" actId="27636"/>
          <ac:spMkLst>
            <pc:docMk/>
            <pc:sldMk cId="2527939386" sldId="276"/>
            <ac:spMk id="3" creationId="{5DE5A6F0-83BC-FBE7-A619-9F1BB25020B5}"/>
          </ac:spMkLst>
        </pc:spChg>
      </pc:sldChg>
      <pc:sldChg chg="modSp new mod">
        <pc:chgData name="Bon Pro" userId="d9ac0b2d6d6f1aa7" providerId="LiveId" clId="{911B189F-0B54-4367-9F58-237CC98A9B72}" dt="2026-08-10T06:25:49.585" v="54"/>
        <pc:sldMkLst>
          <pc:docMk/>
          <pc:sldMk cId="1645094714" sldId="277"/>
        </pc:sldMkLst>
        <pc:spChg chg="mod">
          <ac:chgData name="Bon Pro" userId="d9ac0b2d6d6f1aa7" providerId="LiveId" clId="{911B189F-0B54-4367-9F58-237CC98A9B72}" dt="2026-08-10T06:25:27.720" v="53" actId="113"/>
          <ac:spMkLst>
            <pc:docMk/>
            <pc:sldMk cId="1645094714" sldId="277"/>
            <ac:spMk id="2" creationId="{7A880516-47B4-A631-45F3-E70D9FF94C24}"/>
          </ac:spMkLst>
        </pc:spChg>
        <pc:spChg chg="mod">
          <ac:chgData name="Bon Pro" userId="d9ac0b2d6d6f1aa7" providerId="LiveId" clId="{911B189F-0B54-4367-9F58-237CC98A9B72}" dt="2026-08-10T06:25:49.585" v="54"/>
          <ac:spMkLst>
            <pc:docMk/>
            <pc:sldMk cId="1645094714" sldId="277"/>
            <ac:spMk id="3" creationId="{EAC1D697-7542-2A9E-8BC6-E9AC9C9A3615}"/>
          </ac:spMkLst>
        </pc:spChg>
      </pc:sldChg>
      <pc:sldChg chg="modSp new">
        <pc:chgData name="Bon Pro" userId="d9ac0b2d6d6f1aa7" providerId="LiveId" clId="{911B189F-0B54-4367-9F58-237CC98A9B72}" dt="2026-08-10T06:26:18.442" v="56"/>
        <pc:sldMkLst>
          <pc:docMk/>
          <pc:sldMk cId="434705881" sldId="278"/>
        </pc:sldMkLst>
        <pc:spChg chg="mod">
          <ac:chgData name="Bon Pro" userId="d9ac0b2d6d6f1aa7" providerId="LiveId" clId="{911B189F-0B54-4367-9F58-237CC98A9B72}" dt="2026-08-10T06:26:18.442" v="56"/>
          <ac:spMkLst>
            <pc:docMk/>
            <pc:sldMk cId="434705881" sldId="278"/>
            <ac:spMk id="3" creationId="{573BFE4A-2D83-F9ED-75CB-BD17CF7AE069}"/>
          </ac:spMkLst>
        </pc:spChg>
      </pc:sldChg>
      <pc:sldChg chg="modSp new mod">
        <pc:chgData name="Bon Pro" userId="d9ac0b2d6d6f1aa7" providerId="LiveId" clId="{911B189F-0B54-4367-9F58-237CC98A9B72}" dt="2026-08-10T06:26:58.419" v="59" actId="27636"/>
        <pc:sldMkLst>
          <pc:docMk/>
          <pc:sldMk cId="20347191" sldId="279"/>
        </pc:sldMkLst>
        <pc:spChg chg="mod">
          <ac:chgData name="Bon Pro" userId="d9ac0b2d6d6f1aa7" providerId="LiveId" clId="{911B189F-0B54-4367-9F58-237CC98A9B72}" dt="2026-08-10T06:26:58.419" v="59" actId="27636"/>
          <ac:spMkLst>
            <pc:docMk/>
            <pc:sldMk cId="20347191" sldId="279"/>
            <ac:spMk id="3" creationId="{A2967F3D-CF72-1C82-C656-A2EFD43A51BF}"/>
          </ac:spMkLst>
        </pc:spChg>
      </pc:sldChg>
      <pc:sldChg chg="modSp new mod">
        <pc:chgData name="Bon Pro" userId="d9ac0b2d6d6f1aa7" providerId="LiveId" clId="{911B189F-0B54-4367-9F58-237CC98A9B72}" dt="2026-08-10T06:29:00.283" v="72" actId="27636"/>
        <pc:sldMkLst>
          <pc:docMk/>
          <pc:sldMk cId="2533119108" sldId="280"/>
        </pc:sldMkLst>
        <pc:spChg chg="mod">
          <ac:chgData name="Bon Pro" userId="d9ac0b2d6d6f1aa7" providerId="LiveId" clId="{911B189F-0B54-4367-9F58-237CC98A9B72}" dt="2026-08-10T06:28:41.888" v="69" actId="113"/>
          <ac:spMkLst>
            <pc:docMk/>
            <pc:sldMk cId="2533119108" sldId="280"/>
            <ac:spMk id="2" creationId="{D643AC43-549C-1918-7044-B150E728459A}"/>
          </ac:spMkLst>
        </pc:spChg>
        <pc:spChg chg="mod">
          <ac:chgData name="Bon Pro" userId="d9ac0b2d6d6f1aa7" providerId="LiveId" clId="{911B189F-0B54-4367-9F58-237CC98A9B72}" dt="2026-08-10T06:29:00.283" v="72" actId="27636"/>
          <ac:spMkLst>
            <pc:docMk/>
            <pc:sldMk cId="2533119108" sldId="280"/>
            <ac:spMk id="3" creationId="{E8C3BEFE-7543-2000-8DA4-1D0EE564BEB7}"/>
          </ac:spMkLst>
        </pc:spChg>
      </pc:sldChg>
      <pc:sldChg chg="modSp new mod">
        <pc:chgData name="Bon Pro" userId="d9ac0b2d6d6f1aa7" providerId="LiveId" clId="{911B189F-0B54-4367-9F58-237CC98A9B72}" dt="2026-08-10T06:29:06.641" v="74" actId="27636"/>
        <pc:sldMkLst>
          <pc:docMk/>
          <pc:sldMk cId="644034148" sldId="281"/>
        </pc:sldMkLst>
        <pc:spChg chg="mod">
          <ac:chgData name="Bon Pro" userId="d9ac0b2d6d6f1aa7" providerId="LiveId" clId="{911B189F-0B54-4367-9F58-237CC98A9B72}" dt="2026-08-10T06:29:06.641" v="74" actId="27636"/>
          <ac:spMkLst>
            <pc:docMk/>
            <pc:sldMk cId="644034148" sldId="281"/>
            <ac:spMk id="3" creationId="{3211C8B5-9185-783D-12CB-C773FA2BF4E3}"/>
          </ac:spMkLst>
        </pc:spChg>
      </pc:sldChg>
      <pc:sldChg chg="modSp new mod">
        <pc:chgData name="Bon Pro" userId="d9ac0b2d6d6f1aa7" providerId="LiveId" clId="{911B189F-0B54-4367-9F58-237CC98A9B72}" dt="2026-08-10T06:29:30.479" v="77" actId="27636"/>
        <pc:sldMkLst>
          <pc:docMk/>
          <pc:sldMk cId="1660180526" sldId="282"/>
        </pc:sldMkLst>
        <pc:spChg chg="mod">
          <ac:chgData name="Bon Pro" userId="d9ac0b2d6d6f1aa7" providerId="LiveId" clId="{911B189F-0B54-4367-9F58-237CC98A9B72}" dt="2026-08-10T06:29:30.479" v="77" actId="27636"/>
          <ac:spMkLst>
            <pc:docMk/>
            <pc:sldMk cId="1660180526" sldId="282"/>
            <ac:spMk id="3" creationId="{2CA17AB1-241D-6256-392F-30742B65E787}"/>
          </ac:spMkLst>
        </pc:spChg>
      </pc:sldChg>
      <pc:sldChg chg="modSp new mod">
        <pc:chgData name="Bon Pro" userId="d9ac0b2d6d6f1aa7" providerId="LiveId" clId="{911B189F-0B54-4367-9F58-237CC98A9B72}" dt="2026-08-10T06:29:59.741" v="80" actId="27636"/>
        <pc:sldMkLst>
          <pc:docMk/>
          <pc:sldMk cId="1461851621" sldId="283"/>
        </pc:sldMkLst>
        <pc:spChg chg="mod">
          <ac:chgData name="Bon Pro" userId="d9ac0b2d6d6f1aa7" providerId="LiveId" clId="{911B189F-0B54-4367-9F58-237CC98A9B72}" dt="2026-08-10T06:29:59.741" v="80" actId="27636"/>
          <ac:spMkLst>
            <pc:docMk/>
            <pc:sldMk cId="1461851621" sldId="283"/>
            <ac:spMk id="3" creationId="{A580574D-B09F-3C00-ACAF-683CF99701A2}"/>
          </ac:spMkLst>
        </pc:spChg>
      </pc:sldChg>
      <pc:sldChg chg="modSp new mod">
        <pc:chgData name="Bon Pro" userId="d9ac0b2d6d6f1aa7" providerId="LiveId" clId="{911B189F-0B54-4367-9F58-237CC98A9B72}" dt="2026-08-10T06:32:07.379" v="87"/>
        <pc:sldMkLst>
          <pc:docMk/>
          <pc:sldMk cId="3798197227" sldId="284"/>
        </pc:sldMkLst>
        <pc:spChg chg="mod">
          <ac:chgData name="Bon Pro" userId="d9ac0b2d6d6f1aa7" providerId="LiveId" clId="{911B189F-0B54-4367-9F58-237CC98A9B72}" dt="2026-08-10T06:31:46.537" v="86" actId="113"/>
          <ac:spMkLst>
            <pc:docMk/>
            <pc:sldMk cId="3798197227" sldId="284"/>
            <ac:spMk id="2" creationId="{86D59EB0-E6F7-CDD4-2D5C-1B898EC6B7F9}"/>
          </ac:spMkLst>
        </pc:spChg>
        <pc:spChg chg="mod">
          <ac:chgData name="Bon Pro" userId="d9ac0b2d6d6f1aa7" providerId="LiveId" clId="{911B189F-0B54-4367-9F58-237CC98A9B72}" dt="2026-08-10T06:32:07.379" v="87"/>
          <ac:spMkLst>
            <pc:docMk/>
            <pc:sldMk cId="3798197227" sldId="284"/>
            <ac:spMk id="3" creationId="{6E78C06E-0DEF-A5BA-8CC6-FCA248293261}"/>
          </ac:spMkLst>
        </pc:spChg>
      </pc:sldChg>
      <pc:sldChg chg="modSp new mod">
        <pc:chgData name="Bon Pro" userId="d9ac0b2d6d6f1aa7" providerId="LiveId" clId="{911B189F-0B54-4367-9F58-237CC98A9B72}" dt="2026-08-10T06:33:14.803" v="93" actId="20577"/>
        <pc:sldMkLst>
          <pc:docMk/>
          <pc:sldMk cId="3808715980" sldId="285"/>
        </pc:sldMkLst>
        <pc:spChg chg="mod">
          <ac:chgData name="Bon Pro" userId="d9ac0b2d6d6f1aa7" providerId="LiveId" clId="{911B189F-0B54-4367-9F58-237CC98A9B72}" dt="2026-08-10T06:33:14.803" v="93" actId="20577"/>
          <ac:spMkLst>
            <pc:docMk/>
            <pc:sldMk cId="3808715980" sldId="285"/>
            <ac:spMk id="2" creationId="{58AA3712-C90D-E21D-ADBE-58F98D70500C}"/>
          </ac:spMkLst>
        </pc:spChg>
        <pc:spChg chg="mod">
          <ac:chgData name="Bon Pro" userId="d9ac0b2d6d6f1aa7" providerId="LiveId" clId="{911B189F-0B54-4367-9F58-237CC98A9B72}" dt="2026-08-10T06:33:00.004" v="90"/>
          <ac:spMkLst>
            <pc:docMk/>
            <pc:sldMk cId="3808715980" sldId="285"/>
            <ac:spMk id="3" creationId="{A63F40C4-FF1E-09E1-2F5B-F081D0A8DD1E}"/>
          </ac:spMkLst>
        </pc:spChg>
      </pc:sldChg>
      <pc:sldChg chg="modSp new mod">
        <pc:chgData name="Bon Pro" userId="d9ac0b2d6d6f1aa7" providerId="LiveId" clId="{911B189F-0B54-4367-9F58-237CC98A9B72}" dt="2026-08-10T06:35:37.456" v="102" actId="27636"/>
        <pc:sldMkLst>
          <pc:docMk/>
          <pc:sldMk cId="2370655466" sldId="286"/>
        </pc:sldMkLst>
        <pc:spChg chg="mod">
          <ac:chgData name="Bon Pro" userId="d9ac0b2d6d6f1aa7" providerId="LiveId" clId="{911B189F-0B54-4367-9F58-237CC98A9B72}" dt="2026-08-10T06:35:37.456" v="102" actId="27636"/>
          <ac:spMkLst>
            <pc:docMk/>
            <pc:sldMk cId="2370655466" sldId="286"/>
            <ac:spMk id="3" creationId="{490DCA50-3064-AAAB-9C5A-E6E4190FF2B7}"/>
          </ac:spMkLst>
        </pc:spChg>
      </pc:sldChg>
      <pc:sldChg chg="modSp new mod">
        <pc:chgData name="Bon Pro" userId="d9ac0b2d6d6f1aa7" providerId="LiveId" clId="{911B189F-0B54-4367-9F58-237CC98A9B72}" dt="2026-08-10T06:36:34.283" v="109" actId="27636"/>
        <pc:sldMkLst>
          <pc:docMk/>
          <pc:sldMk cId="4094877678" sldId="287"/>
        </pc:sldMkLst>
        <pc:spChg chg="mod">
          <ac:chgData name="Bon Pro" userId="d9ac0b2d6d6f1aa7" providerId="LiveId" clId="{911B189F-0B54-4367-9F58-237CC98A9B72}" dt="2026-08-10T06:36:12.086" v="106"/>
          <ac:spMkLst>
            <pc:docMk/>
            <pc:sldMk cId="4094877678" sldId="287"/>
            <ac:spMk id="2" creationId="{3253C7D1-DCBC-4655-FC36-D1361A4B08F9}"/>
          </ac:spMkLst>
        </pc:spChg>
        <pc:spChg chg="mod">
          <ac:chgData name="Bon Pro" userId="d9ac0b2d6d6f1aa7" providerId="LiveId" clId="{911B189F-0B54-4367-9F58-237CC98A9B72}" dt="2026-08-10T06:36:34.283" v="109" actId="27636"/>
          <ac:spMkLst>
            <pc:docMk/>
            <pc:sldMk cId="4094877678" sldId="287"/>
            <ac:spMk id="3" creationId="{D6A61C05-DE8E-05CB-5F0E-B31531D54264}"/>
          </ac:spMkLst>
        </pc:spChg>
      </pc:sldChg>
      <pc:sldChg chg="modSp new mod">
        <pc:chgData name="Bon Pro" userId="d9ac0b2d6d6f1aa7" providerId="LiveId" clId="{911B189F-0B54-4367-9F58-237CC98A9B72}" dt="2026-08-10T06:36:38.808" v="111" actId="27636"/>
        <pc:sldMkLst>
          <pc:docMk/>
          <pc:sldMk cId="4054939869" sldId="288"/>
        </pc:sldMkLst>
        <pc:spChg chg="mod">
          <ac:chgData name="Bon Pro" userId="d9ac0b2d6d6f1aa7" providerId="LiveId" clId="{911B189F-0B54-4367-9F58-237CC98A9B72}" dt="2026-08-10T06:36:38.808" v="111" actId="27636"/>
          <ac:spMkLst>
            <pc:docMk/>
            <pc:sldMk cId="4054939869" sldId="288"/>
            <ac:spMk id="3" creationId="{3FADD2DF-92D1-66B0-C5B1-44D6C2B027C6}"/>
          </ac:spMkLst>
        </pc:spChg>
      </pc:sldChg>
      <pc:sldChg chg="modSp new">
        <pc:chgData name="Bon Pro" userId="d9ac0b2d6d6f1aa7" providerId="LiveId" clId="{911B189F-0B54-4367-9F58-237CC98A9B72}" dt="2026-08-10T06:37:37.548" v="114"/>
        <pc:sldMkLst>
          <pc:docMk/>
          <pc:sldMk cId="1940834722" sldId="289"/>
        </pc:sldMkLst>
        <pc:spChg chg="mod">
          <ac:chgData name="Bon Pro" userId="d9ac0b2d6d6f1aa7" providerId="LiveId" clId="{911B189F-0B54-4367-9F58-237CC98A9B72}" dt="2026-08-10T06:37:37.548" v="114"/>
          <ac:spMkLst>
            <pc:docMk/>
            <pc:sldMk cId="1940834722" sldId="289"/>
            <ac:spMk id="3" creationId="{99F47EB7-94A6-7115-6689-0E21EC033363}"/>
          </ac:spMkLst>
        </pc:spChg>
      </pc:sldChg>
      <pc:sldChg chg="modSp new mod">
        <pc:chgData name="Bon Pro" userId="d9ac0b2d6d6f1aa7" providerId="LiveId" clId="{911B189F-0B54-4367-9F58-237CC98A9B72}" dt="2026-08-10T06:37:59.316" v="117" actId="27636"/>
        <pc:sldMkLst>
          <pc:docMk/>
          <pc:sldMk cId="3502115985" sldId="290"/>
        </pc:sldMkLst>
        <pc:spChg chg="mod">
          <ac:chgData name="Bon Pro" userId="d9ac0b2d6d6f1aa7" providerId="LiveId" clId="{911B189F-0B54-4367-9F58-237CC98A9B72}" dt="2026-08-10T06:37:59.316" v="117" actId="27636"/>
          <ac:spMkLst>
            <pc:docMk/>
            <pc:sldMk cId="3502115985" sldId="290"/>
            <ac:spMk id="3" creationId="{92459D5A-BA8A-32C9-662A-ACBB2BA845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AD91-7C3B-80CD-C5B4-D1C519310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1BDB5-4372-C759-F91F-F482C52CF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B5DD-08AA-3BC6-1CC4-592045FD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F5E26-CD31-6066-2AE6-A14D12CD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73EC-FC4D-74C8-4DC8-08C7A087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165C-FC45-2B2D-AB52-26EBE2FF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9EF03-607A-B7ED-8294-E87039A9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EB43-8B9C-698E-94DC-6092DF69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60A6-C441-A6A0-4C84-40CB26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B11B-46F7-7CCB-021F-1E545079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3FAC-5051-3210-B7DC-7CA2DBA2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813F-BE4F-D997-F592-FE73CA3DC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CEDB-0D10-49B9-B79C-E86945A8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C1369-4184-F727-FA17-8208EA58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12D6-B02A-856E-9119-75564E3A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2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CEF7-5942-4A5F-7104-5B9920D6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6C9D0-A836-9A10-5750-5F66B2F5D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7FA58-68B5-3EC1-940C-CE837E537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F360-3307-D0D8-BAAF-763C1BB5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A82B6-716A-888F-10AD-E636A670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8F01B-F854-AD0D-801D-D39615F0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69D3-E9A1-0C32-B49A-E7DF4EB4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BA04-1CB8-8A3A-8243-A76A401C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4329-46C0-2344-20BE-5B6095C5C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05012-26F3-9B94-8C1F-CBD51AFD3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E4C2E-E924-E88C-E968-55A228439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2706D-2462-D8FB-61D0-3B24FA4A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4ADC7-0CA1-0FF9-3062-758D8519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992BA-AD57-DBD1-48E8-2329C77D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9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8427-2EF1-3D27-D1A5-198267EF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F7B60-73FA-06D7-EF65-268D87C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93326-0790-1719-849A-DD64E577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47585-C514-C0E7-2568-CC8DA6CE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3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3026B-7612-AAA9-3079-61AD1959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78F75-99CC-4A76-8D91-CC94CBC6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E6857-D695-2FCE-1BFE-44DF3B53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18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8BB5-64B8-1D20-8D1B-0D3442CE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F438-E9B5-B914-437F-78D58E4B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F91EF-EF17-4B04-10FC-675390D72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B3766-CFB9-6929-755A-DB1FDD77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5F580-06A0-580D-6DE0-FCB0CCF2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0D9C3-9A2D-FCC8-7290-21CAC1C0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8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F810-5107-0F1D-14A3-7EE7260E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CABE2-C730-1C9C-0FB7-498B1EEAE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D0238-672B-B3DB-8513-41ACC7269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2C9A-049F-85E0-FF39-E72E11B1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348F1-69D5-A5F4-5C87-E4B34C40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528FD-0219-8C87-B29A-59A041DE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1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BFF5-97C2-51EE-418F-5D5D4CBE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F33E9-1E07-BFD5-49A8-DDFA1B9A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263A-F983-F5AE-BEA0-D50CF558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CA9B5-FE51-579B-16F5-C6D108DD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A75B3-9AB8-C76C-2C05-D9B2800D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0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5949C-A8A0-C413-E2B7-F185DD774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B1036-6DC0-8A60-997B-58729DF59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971F-BA31-7A9C-B3CA-7CBBA081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BE85-E741-722A-298A-38731944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BCC2-AE70-C83C-572E-F7169BAD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1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12369-F988-BE1C-AE5D-9F758125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047FF-FDFC-B51A-AB39-373459B37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AB121-D13A-B5DA-78E4-14DA4889B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2D928-4E10-B571-5687-9C7DFE3A5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4027D-D6DF-EB12-C920-53486604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34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d9ac0b2d6d6f1aa7/Desktop/Documents/TOPOLOGICAL%20COMPUTING%20PPT%20FILES/A%20PARADIGM%20SHIFT%20CASE%20STUDY%20SLIDES%2014-05-2026.ppt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3D5B-EB72-0BBE-1C55-71DE3EBC5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BROWSERS AND WEB APPLICATIONS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5D626-FF7D-36D2-E166-133D7798B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29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609B-A4D1-FE76-CB1D-F104827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248-38B2-7D0C-5D8D-A2786DAC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Difference from Browsers</a:t>
            </a:r>
          </a:p>
          <a:p>
            <a:pPr lvl="0"/>
            <a:r>
              <a:rPr lang="en-IN" b="1" dirty="0">
                <a:effectLst/>
              </a:rPr>
              <a:t>Browsers</a:t>
            </a:r>
            <a:r>
              <a:rPr lang="en-IN" dirty="0">
                <a:effectLst/>
              </a:rPr>
              <a:t> (like Edge, Chrome, Firefox) are software that let you access websites and web apps.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applications</a:t>
            </a:r>
            <a:r>
              <a:rPr lang="en-IN" dirty="0">
                <a:effectLst/>
              </a:rPr>
              <a:t> (like Google Docs, OneDrive, Gmail) are services that run inside browsers and provide specific functionality.</a:t>
            </a:r>
            <a:endParaRPr lang="en-IN" dirty="0"/>
          </a:p>
          <a:p>
            <a:r>
              <a:rPr lang="en-IN" dirty="0">
                <a:effectLst/>
              </a:rPr>
              <a:t>So, to answer directly: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Docs = Web application (online word processor)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OneDrive = Web application + cloud storage service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Neither is a browser.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29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8647-420D-E3A1-D70A-96CCE503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E73E-8147-2616-C427-8566BC12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Web Browsers</a:t>
            </a:r>
          </a:p>
          <a:p>
            <a:pPr lvl="0"/>
            <a:r>
              <a:rPr lang="en-IN" b="1" dirty="0">
                <a:effectLst/>
              </a:rPr>
              <a:t>Examples</a:t>
            </a:r>
            <a:r>
              <a:rPr lang="en-IN" dirty="0">
                <a:effectLst/>
              </a:rPr>
              <a:t>: Chrome, Edge, Firefox, Safari.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Role</a:t>
            </a:r>
            <a:r>
              <a:rPr lang="en-IN" dirty="0">
                <a:effectLst/>
              </a:rPr>
              <a:t>: They are software that connects your device to the internet and lets you </a:t>
            </a:r>
            <a:r>
              <a:rPr lang="en-IN" i="1" dirty="0">
                <a:effectLst/>
              </a:rPr>
              <a:t>view</a:t>
            </a:r>
            <a:r>
              <a:rPr lang="en-IN" dirty="0">
                <a:effectLst/>
              </a:rPr>
              <a:t> websites and web applications.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Connection</a:t>
            </a:r>
            <a:r>
              <a:rPr lang="en-IN" dirty="0">
                <a:effectLst/>
              </a:rPr>
              <a:t>: A browser itself doesn’t create the internet connection — it </a:t>
            </a:r>
            <a:r>
              <a:rPr lang="en-IN" i="1" dirty="0">
                <a:effectLst/>
              </a:rPr>
              <a:t>uses</a:t>
            </a:r>
            <a:r>
              <a:rPr lang="en-IN" dirty="0">
                <a:effectLst/>
              </a:rPr>
              <a:t> the connection your device already has (via Wi-Fi, mobile data, or wired network).</a:t>
            </a:r>
            <a:endParaRPr lang="en-IN" dirty="0"/>
          </a:p>
          <a:p>
            <a:r>
              <a:rPr lang="en-IN" b="1" dirty="0"/>
              <a:t>🖥️ Web Applications</a:t>
            </a:r>
          </a:p>
          <a:p>
            <a:pPr lvl="0"/>
            <a:r>
              <a:rPr lang="en-IN" b="1" dirty="0">
                <a:effectLst/>
              </a:rPr>
              <a:t>Examples</a:t>
            </a:r>
            <a:r>
              <a:rPr lang="en-IN" dirty="0">
                <a:effectLst/>
              </a:rPr>
              <a:t>: Google Docs, OneDrive, Gmail, Facebook.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Role</a:t>
            </a:r>
            <a:r>
              <a:rPr lang="en-IN" dirty="0">
                <a:effectLst/>
              </a:rPr>
              <a:t>: These are services that run </a:t>
            </a:r>
            <a:r>
              <a:rPr lang="en-IN" i="1" dirty="0">
                <a:effectLst/>
              </a:rPr>
              <a:t>inside</a:t>
            </a:r>
            <a:r>
              <a:rPr lang="en-IN" dirty="0">
                <a:effectLst/>
              </a:rPr>
              <a:t> a browser. They rely on the browser to display their interface and on the internet connection to send/receive data.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Connection</a:t>
            </a:r>
            <a:r>
              <a:rPr lang="en-IN" dirty="0">
                <a:effectLst/>
              </a:rPr>
              <a:t>: They don’t connect separately — they use the same internet connection your browser is already using.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31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0EE9-DFF9-AD15-BE5F-0C2E9651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753E-416A-0A79-2696-4B50657F6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How They Work Together</a:t>
            </a:r>
          </a:p>
          <a:p>
            <a:pPr lvl="0"/>
            <a:r>
              <a:rPr lang="en-IN" b="1" dirty="0">
                <a:effectLst/>
              </a:rPr>
              <a:t>Your device</a:t>
            </a:r>
            <a:r>
              <a:rPr lang="en-IN" dirty="0">
                <a:effectLst/>
              </a:rPr>
              <a:t> connects to the internet (through ISP, Wi-Fi, or mobile data).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Browser</a:t>
            </a:r>
            <a:r>
              <a:rPr lang="en-IN" dirty="0">
                <a:effectLst/>
              </a:rPr>
              <a:t> uses that connection to access websites.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applications</a:t>
            </a:r>
            <a:r>
              <a:rPr lang="en-IN" dirty="0">
                <a:effectLst/>
              </a:rPr>
              <a:t> (like Google Docs or OneDrive) run inside the browser, using the same connection to function.</a:t>
            </a:r>
            <a:endParaRPr lang="en-IN" dirty="0"/>
          </a:p>
          <a:p>
            <a:r>
              <a:rPr lang="en-IN" dirty="0">
                <a:effectLst/>
              </a:rPr>
              <a:t>So, you don’t need to “connect separately” for web apps. As long as your device is online and your browser is working, web applications automatically use that connection.</a:t>
            </a:r>
            <a:endParaRPr lang="en-IN" dirty="0"/>
          </a:p>
          <a:p>
            <a:r>
              <a:rPr lang="en-IN" dirty="0">
                <a:effectLst/>
              </a:rPr>
              <a:t>👉 In short: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Browser = gateway to the internet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 = service that runs inside the browser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Both depend on your device’s internet connection, not separate ones.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74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7F27-A8E6-EB4F-9122-7BD3BABF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0322-E4CE-A7AE-2537-D386E2C8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Google Cloud Services</a:t>
            </a:r>
          </a:p>
          <a:p>
            <a:pPr lvl="0"/>
            <a:r>
              <a:rPr lang="en-IN" b="1" dirty="0">
                <a:effectLst/>
              </a:rPr>
              <a:t>Google Drive</a:t>
            </a:r>
            <a:r>
              <a:rPr lang="en-IN" dirty="0">
                <a:effectLst/>
              </a:rPr>
              <a:t>: Cloud storage where you can save files online and access them anywhere.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Docs, Sheets, Slides</a:t>
            </a:r>
            <a:r>
              <a:rPr lang="en-IN" dirty="0">
                <a:effectLst/>
              </a:rPr>
              <a:t>: Web applications that run in the cloud, letting you create and edit documents without installing software.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Workspace (formerly G Suite)</a:t>
            </a:r>
            <a:r>
              <a:rPr lang="en-IN" dirty="0">
                <a:effectLst/>
              </a:rPr>
              <a:t>: A suite of cloud-based productivity tools (Docs, Gmail, Calendar, Meet, Drive).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Cloud Platform (GCP)</a:t>
            </a:r>
            <a:r>
              <a:rPr lang="en-IN" dirty="0">
                <a:effectLst/>
              </a:rPr>
              <a:t>: Enterprise-level cloud services for businesses — hosting, databases, AI, machine learning, and more.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68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7BAA-B8C0-7446-B7A7-F60DA6B8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A2282-01F0-CA2E-BD11-2384D6C33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Microsoft Cloud Services</a:t>
            </a:r>
          </a:p>
          <a:p>
            <a:pPr lvl="0"/>
            <a:r>
              <a:rPr lang="en-IN" b="1" dirty="0">
                <a:effectLst/>
              </a:rPr>
              <a:t>OneDrive</a:t>
            </a:r>
            <a:r>
              <a:rPr lang="en-IN" dirty="0">
                <a:effectLst/>
              </a:rPr>
              <a:t>: Cloud storage service integrated with Windows and Office apps.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Office Online (Word, Excel, PowerPoint)</a:t>
            </a:r>
            <a:r>
              <a:rPr lang="en-IN" dirty="0">
                <a:effectLst/>
              </a:rPr>
              <a:t>: Web applications that run in the cloud, similar to Google Docs.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Microsoft 365</a:t>
            </a:r>
            <a:r>
              <a:rPr lang="en-IN" dirty="0">
                <a:effectLst/>
              </a:rPr>
              <a:t>: Subscription-based suite combining OneDrive, Office apps, Teams, and Outlook.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Azure</a:t>
            </a:r>
            <a:r>
              <a:rPr lang="en-IN" dirty="0">
                <a:effectLst/>
              </a:rPr>
              <a:t>: Microsoft’s enterprise cloud platform for hosting, computing, and AI services.</a:t>
            </a:r>
          </a:p>
          <a:p>
            <a:pPr lvl="0"/>
            <a:r>
              <a:rPr lang="en-IN" dirty="0"/>
              <a:t>It’s a </a:t>
            </a:r>
            <a:r>
              <a:rPr lang="en-IN" b="1" dirty="0"/>
              <a:t>cloud storage service</a:t>
            </a:r>
            <a:r>
              <a:rPr lang="en-IN" dirty="0"/>
              <a:t> by Microsoft.</a:t>
            </a:r>
          </a:p>
          <a:p>
            <a:pPr lvl="0"/>
            <a:r>
              <a:rPr lang="en-IN" dirty="0"/>
              <a:t>Your files are stored on the </a:t>
            </a:r>
            <a:r>
              <a:rPr lang="en-IN" b="1" dirty="0"/>
              <a:t>internet (Microsoft’s servers)</a:t>
            </a:r>
            <a:r>
              <a:rPr lang="en-IN" dirty="0"/>
              <a:t>, not directly on your computer’s hard disk.</a:t>
            </a:r>
          </a:p>
          <a:p>
            <a:pPr lvl="0"/>
            <a:r>
              <a:rPr lang="en-IN" dirty="0"/>
              <a:t>However, you can choose to </a:t>
            </a:r>
            <a:r>
              <a:rPr lang="en-IN" b="1" dirty="0"/>
              <a:t>sync</a:t>
            </a:r>
            <a:r>
              <a:rPr lang="en-IN" dirty="0"/>
              <a:t> files to your PC. In that case, a copy is saved on your hard disk, and changes are updated online.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81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75D1-2235-7ABB-E9B8-986B641F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AB698-4F60-D595-87AE-8F57F233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Key Difference</a:t>
            </a:r>
          </a:p>
          <a:p>
            <a:pPr lvl="0"/>
            <a:r>
              <a:rPr lang="en-IN" b="1" dirty="0">
                <a:effectLst/>
              </a:rPr>
              <a:t>Browsers</a:t>
            </a:r>
            <a:r>
              <a:rPr lang="en-IN" dirty="0">
                <a:effectLst/>
              </a:rPr>
              <a:t> (like Chrome or Edge) are just the gateway.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Cloud services</a:t>
            </a:r>
            <a:r>
              <a:rPr lang="en-IN" dirty="0">
                <a:effectLst/>
              </a:rPr>
              <a:t> (like Google Docs, OneDrive) are the actual applications that live on the internet and use cloud storage/processing.</a:t>
            </a:r>
            <a:endParaRPr lang="en-IN" dirty="0"/>
          </a:p>
          <a:p>
            <a:r>
              <a:rPr lang="en-IN" dirty="0">
                <a:effectLst/>
              </a:rPr>
              <a:t>So, Google (through Google Workspace and Google Cloud) and Microsoft (through OneDrive and Azure) both provide </a:t>
            </a:r>
            <a:r>
              <a:rPr lang="en-IN" b="1" dirty="0">
                <a:effectLst/>
              </a:rPr>
              <a:t>cloud services</a:t>
            </a:r>
            <a:r>
              <a:rPr lang="en-IN" dirty="0">
                <a:effectLst/>
              </a:rPr>
              <a:t>, not browsers. You access them </a:t>
            </a:r>
            <a:r>
              <a:rPr lang="en-IN" i="1" dirty="0">
                <a:effectLst/>
              </a:rPr>
              <a:t>via</a:t>
            </a:r>
            <a:r>
              <a:rPr lang="en-IN" dirty="0">
                <a:effectLst/>
              </a:rPr>
              <a:t> a browser.</a:t>
            </a:r>
            <a:endParaRPr lang="en-IN" dirty="0"/>
          </a:p>
          <a:p>
            <a:r>
              <a:rPr lang="en-IN" dirty="0"/>
              <a:t>Since you currently have a tab open about Gmail, it’s worth noting: </a:t>
            </a:r>
            <a:r>
              <a:rPr lang="en-IN" b="1" dirty="0"/>
              <a:t>Gmail itself is also a cloud service</a:t>
            </a:r>
            <a:r>
              <a:rPr lang="en-IN" dirty="0"/>
              <a:t> — your emails are stored on Google’s servers, accessible anywhere, not tied to one device.</a:t>
            </a:r>
          </a:p>
        </p:txBody>
      </p:sp>
    </p:spTree>
    <p:extLst>
      <p:ext uri="{BB962C8B-B14F-4D97-AF65-F5344CB8AC3E}">
        <p14:creationId xmlns:p14="http://schemas.microsoft.com/office/powerpoint/2010/main" val="223377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BA06-BE5F-66D1-8802-25AEFF1F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5699E4-C08E-A467-71AF-C4D41C1CC3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28623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02555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0739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/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Google Workspace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Microsoft 365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40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Cloud 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Drive (15 GB free, more with paid plans)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OneDrive (5 GB free, more with paid plans)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4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Office Apps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Docs, Sheets, Slides (browser‑based, collaborative)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Word, Excel, PowerPoint (desktop + web versions)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4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Email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Gmail (cloud‑based, widely used)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Outlook (desktop + web, enterprise‑focused)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Collaboration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Real‑time editing in Docs/Sheets/Slides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Co‑authoring in Office apps, Teams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1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Video Meetings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Meet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Teams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259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 Cloud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Cloud Platform (GCP)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97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Simplicity, ease of use, 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features, desktop power, integration with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95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41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E504-6B34-92BB-C64F-B42B80AC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AA55-5167-F9D1-3F8C-304ADC485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Costs Behind </a:t>
            </a:r>
            <a:r>
              <a:rPr lang="en-IN" b="1" dirty="0">
                <a:hlinkClick r:id="rId2"/>
              </a:rPr>
              <a:t>Internet Access</a:t>
            </a:r>
            <a:endParaRPr lang="en-IN" b="1" dirty="0"/>
          </a:p>
          <a:p>
            <a:pPr lvl="0"/>
            <a:r>
              <a:rPr lang="en-IN" b="1" dirty="0">
                <a:effectLst/>
              </a:rPr>
              <a:t>Infrastructure costs</a:t>
            </a:r>
            <a:r>
              <a:rPr lang="en-IN" dirty="0">
                <a:effectLst/>
              </a:rPr>
              <a:t>: Fiber cables, servers, and data </a:t>
            </a:r>
            <a:r>
              <a:rPr lang="en-IN" dirty="0" err="1">
                <a:effectLst/>
              </a:rPr>
              <a:t>centers</a:t>
            </a:r>
            <a:r>
              <a:rPr lang="en-IN" dirty="0">
                <a:effectLst/>
              </a:rPr>
              <a:t> require massive investment. ISPs recover these costs through monthly fees.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Data transmission</a:t>
            </a:r>
            <a:r>
              <a:rPr lang="en-IN" dirty="0">
                <a:effectLst/>
              </a:rPr>
              <a:t>: Every MB/GB transferred has a cost. Plans often include data caps or tiered pricing.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Content hosting</a:t>
            </a:r>
            <a:r>
              <a:rPr lang="en-IN" dirty="0">
                <a:effectLst/>
              </a:rPr>
              <a:t>: Websites and apps spend on servers, developers, and security. They recoup costs via ads, subscriptions, or selling user data.</a:t>
            </a:r>
            <a:endParaRPr lang="en-IN" dirty="0"/>
          </a:p>
          <a:p>
            <a:r>
              <a:rPr lang="en-IN" b="1" dirty="0"/>
              <a:t>📊 Internet Freedom Worldwide</a:t>
            </a:r>
          </a:p>
          <a:p>
            <a:r>
              <a:rPr lang="en-IN" dirty="0">
                <a:effectLst/>
              </a:rPr>
              <a:t>According to Freedom House’s 2025 report: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Only 18 countries</a:t>
            </a:r>
            <a:r>
              <a:rPr lang="en-IN" dirty="0">
                <a:effectLst/>
              </a:rPr>
              <a:t> are considered “truly free” online.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India</a:t>
            </a:r>
            <a:r>
              <a:rPr lang="en-IN" dirty="0">
                <a:effectLst/>
              </a:rPr>
              <a:t> is rated “partly free,” with restrictions on certain platforms and content.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China &amp; Myanmar</a:t>
            </a:r>
            <a:r>
              <a:rPr lang="en-IN" dirty="0">
                <a:effectLst/>
              </a:rPr>
              <a:t> rank lowest, with heavy censorship.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Iceland &amp; Estonia</a:t>
            </a:r>
            <a:r>
              <a:rPr lang="en-IN" dirty="0">
                <a:effectLst/>
              </a:rPr>
              <a:t> score highest (over 90/100 points).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United States</a:t>
            </a:r>
            <a:r>
              <a:rPr lang="en-IN" dirty="0">
                <a:effectLst/>
              </a:rPr>
              <a:t> scored 73, behind France (76) and Germany (74).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Global trend</a:t>
            </a:r>
            <a:r>
              <a:rPr lang="en-IN" dirty="0">
                <a:effectLst/>
              </a:rPr>
              <a:t>: Internet freedom has declined for 15 consecutive years.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78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9F68-2DD7-963C-59D2-DAA60975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2EF7-7F21-5123-6228-0775883DD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Ways to Access Free Internet</a:t>
            </a:r>
          </a:p>
          <a:p>
            <a:r>
              <a:rPr lang="en-IN" dirty="0">
                <a:effectLst/>
              </a:rPr>
              <a:t>While not “free” in the absolute sense, you can access internet without paying directly: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Public Wi-Fi hotspots</a:t>
            </a:r>
            <a:r>
              <a:rPr lang="en-IN" dirty="0">
                <a:effectLst/>
              </a:rPr>
              <a:t>: Libraries, cafés, airports, and community </a:t>
            </a:r>
            <a:r>
              <a:rPr lang="en-IN" dirty="0" err="1">
                <a:effectLst/>
              </a:rPr>
              <a:t>centers</a:t>
            </a:r>
            <a:r>
              <a:rPr lang="en-IN" dirty="0">
                <a:effectLst/>
              </a:rPr>
              <a:t> often provide free access.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Government programs</a:t>
            </a:r>
            <a:r>
              <a:rPr lang="en-IN" dirty="0">
                <a:effectLst/>
              </a:rPr>
              <a:t>: India’s </a:t>
            </a:r>
            <a:r>
              <a:rPr lang="en-IN" i="1" dirty="0">
                <a:effectLst/>
              </a:rPr>
              <a:t>Digital India</a:t>
            </a:r>
            <a:r>
              <a:rPr lang="en-IN" dirty="0">
                <a:effectLst/>
              </a:rPr>
              <a:t> initiative and schemes like the </a:t>
            </a:r>
            <a:r>
              <a:rPr lang="en-IN" i="1" dirty="0" err="1">
                <a:effectLst/>
              </a:rPr>
              <a:t>BharatNet</a:t>
            </a:r>
            <a:r>
              <a:rPr lang="en-IN" i="1" dirty="0">
                <a:effectLst/>
              </a:rPr>
              <a:t> project</a:t>
            </a:r>
            <a:r>
              <a:rPr lang="en-IN" dirty="0">
                <a:effectLst/>
              </a:rPr>
              <a:t> aim to expand affordable or subsidized internet.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Community initiatives</a:t>
            </a:r>
            <a:r>
              <a:rPr lang="en-IN" dirty="0">
                <a:effectLst/>
              </a:rPr>
              <a:t>: NGOs and local groups sometimes provide free Wi-Fi in rural areas.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Mobile offers</a:t>
            </a:r>
            <a:r>
              <a:rPr lang="en-IN" dirty="0">
                <a:effectLst/>
              </a:rPr>
              <a:t>: Telecom providers occasionally bundle free data with recharge pack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7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E887-B263-39C1-147D-61F8DA8A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</a:t>
            </a:r>
            <a:r>
              <a:rPr lang="en-IN" b="1" dirty="0">
                <a:effectLst/>
              </a:rPr>
              <a:t>odem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CB69-581F-6EC5-E826-F58C1A42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288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effectLst/>
              </a:rPr>
              <a:t>A modem is a hardware device that allows your computer or router to connect to the internet by converting signals between digital and </a:t>
            </a:r>
            <a:r>
              <a:rPr lang="en-IN" b="1" dirty="0" err="1">
                <a:effectLst/>
              </a:rPr>
              <a:t>analog</a:t>
            </a:r>
            <a:r>
              <a:rPr lang="en-IN" b="1" dirty="0">
                <a:effectLst/>
              </a:rPr>
              <a:t> forms.</a:t>
            </a:r>
            <a:r>
              <a:rPr lang="en-IN" dirty="0">
                <a:effectLst/>
              </a:rPr>
              <a:t> In simple terms, it acts as the translator between your home network and your Internet Service Provider (ISP).</a:t>
            </a:r>
            <a:endParaRPr lang="en-IN" dirty="0"/>
          </a:p>
          <a:p>
            <a:r>
              <a:rPr lang="en-IN" b="1" dirty="0"/>
              <a:t>📡 What a Modem Does</a:t>
            </a:r>
          </a:p>
          <a:p>
            <a:pPr lvl="0"/>
            <a:r>
              <a:rPr lang="en-IN" b="1" dirty="0">
                <a:effectLst/>
              </a:rPr>
              <a:t>Name origin</a:t>
            </a:r>
            <a:r>
              <a:rPr lang="en-IN" dirty="0">
                <a:effectLst/>
              </a:rPr>
              <a:t>: Comes from </a:t>
            </a:r>
            <a:r>
              <a:rPr lang="en-IN" i="1" dirty="0">
                <a:effectLst/>
              </a:rPr>
              <a:t>mo</a:t>
            </a:r>
            <a:r>
              <a:rPr lang="en-IN" dirty="0">
                <a:effectLst/>
              </a:rPr>
              <a:t>dulator + </a:t>
            </a:r>
            <a:r>
              <a:rPr lang="en-IN" i="1" dirty="0">
                <a:effectLst/>
              </a:rPr>
              <a:t>dem</a:t>
            </a:r>
            <a:r>
              <a:rPr lang="en-IN" dirty="0">
                <a:effectLst/>
              </a:rPr>
              <a:t>odulator.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Function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Converts digital signals from your computer into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signals that can travel over telephone or cable lines.</a:t>
            </a:r>
            <a:endParaRPr lang="en-IN" dirty="0"/>
          </a:p>
          <a:p>
            <a:pPr lvl="1"/>
            <a:r>
              <a:rPr lang="en-IN" dirty="0">
                <a:effectLst/>
              </a:rPr>
              <a:t>Converts incoming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signals back into digital form so your computer can understand them.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Purpose</a:t>
            </a:r>
            <a:r>
              <a:rPr lang="en-IN" dirty="0">
                <a:effectLst/>
              </a:rPr>
              <a:t>: Enables communication between your device and the wider internet.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67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BFAF-0ED5-AD55-1849-041B4A0E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Modems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C892-64B9-5B95-46CC-68105547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848"/>
            <a:ext cx="10515600" cy="566715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Types of Modems</a:t>
            </a:r>
          </a:p>
          <a:p>
            <a:pPr lvl="0"/>
            <a:r>
              <a:rPr lang="en-IN" b="1" dirty="0">
                <a:effectLst/>
              </a:rPr>
              <a:t>Dial-up modem</a:t>
            </a:r>
            <a:r>
              <a:rPr lang="en-IN" dirty="0">
                <a:effectLst/>
              </a:rPr>
              <a:t>: Uses telephone lines; very slow (rarely used today).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DSL modem</a:t>
            </a:r>
            <a:r>
              <a:rPr lang="en-IN" dirty="0">
                <a:effectLst/>
              </a:rPr>
              <a:t>: Uses telephone lines but provides faster speeds than dial-up.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Cable modem</a:t>
            </a:r>
            <a:r>
              <a:rPr lang="en-IN" dirty="0">
                <a:effectLst/>
              </a:rPr>
              <a:t>: Connects via cable TV lines; common in homes for broadband internet.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Fiber modem (ONT)</a:t>
            </a:r>
            <a:r>
              <a:rPr lang="en-IN" dirty="0">
                <a:effectLst/>
              </a:rPr>
              <a:t>: Used for </a:t>
            </a:r>
            <a:r>
              <a:rPr lang="en-IN" dirty="0" err="1">
                <a:effectLst/>
              </a:rPr>
              <a:t>fiber</a:t>
            </a:r>
            <a:r>
              <a:rPr lang="en-IN" dirty="0">
                <a:effectLst/>
              </a:rPr>
              <a:t>-optic connections; provides very high speeds.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Mobile broadband modem (dongle or built-in)</a:t>
            </a:r>
            <a:r>
              <a:rPr lang="en-IN" dirty="0">
                <a:effectLst/>
              </a:rPr>
              <a:t>: Connects via cellular networks (3G/4G/5G).</a:t>
            </a:r>
            <a:endParaRPr lang="en-IN" dirty="0"/>
          </a:p>
          <a:p>
            <a:r>
              <a:rPr lang="en-IN" b="1" dirty="0"/>
              <a:t>🖥️ Modem vs Router</a:t>
            </a:r>
          </a:p>
          <a:p>
            <a:pPr lvl="0"/>
            <a:r>
              <a:rPr lang="en-IN" b="1" dirty="0">
                <a:effectLst/>
              </a:rPr>
              <a:t>Modem</a:t>
            </a:r>
            <a:r>
              <a:rPr lang="en-IN" dirty="0">
                <a:effectLst/>
              </a:rPr>
              <a:t>: Connects your home to the internet (ISP).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Router</a:t>
            </a:r>
            <a:r>
              <a:rPr lang="en-IN" dirty="0">
                <a:effectLst/>
              </a:rPr>
              <a:t>: Distributes that internet connection to multiple devices in your home (via Wi-Fi or Ethernet).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Combo devices</a:t>
            </a:r>
            <a:r>
              <a:rPr lang="en-IN" dirty="0">
                <a:effectLst/>
              </a:rPr>
              <a:t>: Many ISPs provide a single box that acts as both modem + router.</a:t>
            </a:r>
          </a:p>
          <a:p>
            <a:pPr lvl="0"/>
            <a:r>
              <a:rPr lang="en-IN" b="1" dirty="0"/>
              <a:t>ISP → modem → router → browser → web app)?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427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CC57-FB18-8DD1-851C-22120DAF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Here’s how you can check whether your OneDrive or Google Drive files are stored locally on your computer’s hard disk: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7F6C-D4C5-6409-C05D-DDAA5D62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For OneDrive</a:t>
            </a:r>
          </a:p>
          <a:p>
            <a:pPr lvl="0"/>
            <a:r>
              <a:rPr lang="en-IN" b="1" dirty="0"/>
              <a:t>Look at File Explorer (Windows)</a:t>
            </a:r>
            <a:endParaRPr lang="en-IN" dirty="0"/>
          </a:p>
          <a:p>
            <a:pPr lvl="1"/>
            <a:r>
              <a:rPr lang="en-IN" dirty="0"/>
              <a:t>Open File Explorer → check the </a:t>
            </a:r>
            <a:r>
              <a:rPr lang="en-IN" b="1" dirty="0"/>
              <a:t>OneDrive folder</a:t>
            </a:r>
            <a:r>
              <a:rPr lang="en-IN" dirty="0"/>
              <a:t> in the left sidebar.</a:t>
            </a:r>
          </a:p>
          <a:p>
            <a:pPr lvl="1"/>
            <a:r>
              <a:rPr lang="en-IN" dirty="0"/>
              <a:t>If you see files with a </a:t>
            </a:r>
            <a:r>
              <a:rPr lang="en-IN" b="1" dirty="0"/>
              <a:t>cloud icon</a:t>
            </a:r>
            <a:r>
              <a:rPr lang="en-IN" dirty="0"/>
              <a:t>, they are online-only.</a:t>
            </a:r>
          </a:p>
          <a:p>
            <a:pPr lvl="1"/>
            <a:r>
              <a:rPr lang="en-IN" dirty="0"/>
              <a:t>If you see files with a </a:t>
            </a:r>
            <a:r>
              <a:rPr lang="en-IN" b="1" dirty="0"/>
              <a:t>green checkmark</a:t>
            </a:r>
            <a:r>
              <a:rPr lang="en-IN" dirty="0"/>
              <a:t>, they are stored locally on your hard disk and synced with the cloud.</a:t>
            </a:r>
          </a:p>
          <a:p>
            <a:pPr lvl="0"/>
            <a:r>
              <a:rPr lang="en-IN" b="1" dirty="0"/>
              <a:t>Right-click a file</a:t>
            </a:r>
            <a:endParaRPr lang="en-IN" dirty="0"/>
          </a:p>
          <a:p>
            <a:pPr lvl="1"/>
            <a:r>
              <a:rPr lang="en-IN" dirty="0"/>
              <a:t>Choose </a:t>
            </a:r>
            <a:r>
              <a:rPr lang="en-IN" b="1" dirty="0"/>
              <a:t>Always keep on this device</a:t>
            </a:r>
            <a:r>
              <a:rPr lang="en-IN" dirty="0"/>
              <a:t> → this ensures a local copy is saved.</a:t>
            </a:r>
          </a:p>
          <a:p>
            <a:pPr lvl="1"/>
            <a:r>
              <a:rPr lang="en-IN" dirty="0"/>
              <a:t>If you choose </a:t>
            </a:r>
            <a:r>
              <a:rPr lang="en-IN" b="1" dirty="0"/>
              <a:t>Free up space</a:t>
            </a:r>
            <a:r>
              <a:rPr lang="en-IN" dirty="0"/>
              <a:t>, the file will only stay online.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25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2586-9612-CD6D-1EF8-7FD6ACEB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C13F-35E4-3909-01A2-B462B7DD9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For Google Drive</a:t>
            </a:r>
          </a:p>
          <a:p>
            <a:pPr lvl="0"/>
            <a:r>
              <a:rPr lang="en-IN" b="1" dirty="0"/>
              <a:t>Check Google Drive for Desktop (if installed)</a:t>
            </a:r>
            <a:endParaRPr lang="en-IN" dirty="0"/>
          </a:p>
          <a:p>
            <a:pPr lvl="1"/>
            <a:r>
              <a:rPr lang="en-IN" dirty="0"/>
              <a:t>Open File Explorer (Windows) or Finder (Mac).</a:t>
            </a:r>
          </a:p>
          <a:p>
            <a:pPr lvl="1"/>
            <a:r>
              <a:rPr lang="en-IN" dirty="0"/>
              <a:t>Look for a </a:t>
            </a:r>
            <a:r>
              <a:rPr lang="en-IN" b="1" dirty="0"/>
              <a:t>Google Drive folder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Files with a cloud icon are online-only; files with a checkmark are stored locally.</a:t>
            </a:r>
          </a:p>
          <a:p>
            <a:pPr lvl="0"/>
            <a:r>
              <a:rPr lang="en-IN" b="1" dirty="0"/>
              <a:t>Offline access in browser</a:t>
            </a:r>
            <a:endParaRPr lang="en-IN" dirty="0"/>
          </a:p>
          <a:p>
            <a:pPr lvl="1"/>
            <a:r>
              <a:rPr lang="en-IN" dirty="0"/>
              <a:t>If you use Google Docs/Sheets in Chrome, you can enable </a:t>
            </a:r>
            <a:r>
              <a:rPr lang="en-IN" b="1" dirty="0"/>
              <a:t>offline mode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That saves copies on your hard disk so you can edit without internet.</a:t>
            </a:r>
          </a:p>
          <a:p>
            <a:r>
              <a:rPr lang="en-IN" dirty="0"/>
              <a:t>👉 In short:</a:t>
            </a:r>
          </a:p>
          <a:p>
            <a:pPr lvl="0"/>
            <a:r>
              <a:rPr lang="en-IN" b="1" dirty="0"/>
              <a:t>Cloud icon = online only (internet)</a:t>
            </a:r>
            <a:endParaRPr lang="en-IN" dirty="0"/>
          </a:p>
          <a:p>
            <a:pPr lvl="0"/>
            <a:r>
              <a:rPr lang="en-IN" b="1" dirty="0"/>
              <a:t>Checkmark = synced locally (hard disk + internet)</a:t>
            </a:r>
            <a:endParaRPr lang="en-IN" dirty="0"/>
          </a:p>
          <a:p>
            <a:r>
              <a:rPr lang="en-IN" dirty="0"/>
              <a:t>Would you like me to walk you through enabling </a:t>
            </a:r>
            <a:r>
              <a:rPr lang="en-IN" b="1" dirty="0"/>
              <a:t>offline access</a:t>
            </a:r>
            <a:r>
              <a:rPr lang="en-IN" dirty="0"/>
              <a:t> so you can use your files even without internet?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48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D389-4724-9BB2-C6F3-4D2AAC86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web-based means that the program or service runs primarily on the internet, not directly from your computer’s hard disk.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1660-BA93-F887-6240-B5FB7306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You access it through a </a:t>
            </a:r>
            <a:r>
              <a:rPr lang="en-IN" b="1" dirty="0"/>
              <a:t>web browser</a:t>
            </a:r>
            <a:r>
              <a:rPr lang="en-IN" dirty="0"/>
              <a:t> (like Chrome, Edge, or Safari).</a:t>
            </a:r>
          </a:p>
          <a:p>
            <a:pPr lvl="0"/>
            <a:r>
              <a:rPr lang="en-IN" dirty="0"/>
              <a:t>The software itself is hosted on remote servers, not installed fully on your PC.</a:t>
            </a:r>
          </a:p>
          <a:p>
            <a:pPr lvl="0"/>
            <a:r>
              <a:rPr lang="en-IN" dirty="0"/>
              <a:t>Your data is stored online (in the cloud), though you can often download or sync copies locally.</a:t>
            </a:r>
          </a:p>
          <a:p>
            <a:r>
              <a:rPr lang="en-IN" b="1" dirty="0"/>
              <a:t>Examples:</a:t>
            </a:r>
          </a:p>
          <a:p>
            <a:pPr lvl="0"/>
            <a:r>
              <a:rPr lang="en-IN" b="1" dirty="0"/>
              <a:t>Google Docs/Sheets</a:t>
            </a:r>
            <a:r>
              <a:rPr lang="en-IN" dirty="0"/>
              <a:t> → Web-based apps. They run in your browser, and your files live on Google’s servers.</a:t>
            </a:r>
          </a:p>
          <a:p>
            <a:pPr lvl="0"/>
            <a:r>
              <a:rPr lang="en-IN" b="1" dirty="0"/>
              <a:t>OneDrive</a:t>
            </a:r>
            <a:r>
              <a:rPr lang="en-IN" dirty="0"/>
              <a:t> → Web-based storage. You can access it through a browser, but syncing lets you keep local copies too.</a:t>
            </a:r>
          </a:p>
          <a:p>
            <a:pPr lvl="0"/>
            <a:r>
              <a:rPr lang="en-IN" b="1" dirty="0"/>
              <a:t>Desktop apps (like Microsoft Word)</a:t>
            </a:r>
            <a:r>
              <a:rPr lang="en-IN" dirty="0"/>
              <a:t> → These are </a:t>
            </a:r>
            <a:r>
              <a:rPr lang="en-IN" b="1" dirty="0"/>
              <a:t>installed on your hard disk</a:t>
            </a:r>
            <a:r>
              <a:rPr lang="en-IN" dirty="0"/>
              <a:t> and run directly from your computer, even without internet.</a:t>
            </a:r>
          </a:p>
          <a:p>
            <a:r>
              <a:rPr lang="en-IN" dirty="0"/>
              <a:t>So, when you hear "web-based," think </a:t>
            </a:r>
            <a:r>
              <a:rPr lang="en-IN" b="1" dirty="0"/>
              <a:t>internet-first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905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1D15-CF36-F106-2A01-3B494EA8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Cloud Drive (like OneDrive, Google Drive)</a:t>
            </a:r>
            <a:br>
              <a:rPr lang="en-IN" b="1" dirty="0"/>
            </a:br>
            <a:r>
              <a:rPr lang="en-IN" b="1" dirty="0"/>
              <a:t>Virtual storage on the internet.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E3FD2C-F99B-0CE0-F79A-F745469B6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846501"/>
              </p:ext>
            </p:extLst>
          </p:nvPr>
        </p:nvGraphicFramePr>
        <p:xfrm>
          <a:off x="838200" y="2041451"/>
          <a:ext cx="10515600" cy="269136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7144935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48487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59968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783884"/>
                    </a:ext>
                  </a:extLst>
                </a:gridCol>
              </a:tblGrid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Drive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Internet?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691338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 Drive (HDD/SSD)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your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C: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044296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Plugged into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USB stick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172935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 servers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(for access/sync)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OneDrive, Google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8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817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0E94-A2D2-6E95-4686-9EA68383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00F31B-6AA6-8A1E-592D-0C3F2E9FCE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064079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93905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267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52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Free 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 GB (shared)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14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Personal plan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100–200 GB (Google 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7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Family plan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 TB (1 TB each × 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Shareable up to 5 people (100 GB–5 TB)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09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Business plans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TB default, expandable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 GB–5 TB per user depending on 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717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Windows, Office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Gmail, Google Docs/Sheets/Photos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625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559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E173-3499-0D59-FE27-47DA91E0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difference between URL and HTTP and .html file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3816-3CE2-4829-8E31-558EAD058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URL (Uniform Resource Locator)</a:t>
            </a:r>
          </a:p>
          <a:p>
            <a:pPr lvl="0"/>
            <a:r>
              <a:rPr lang="en-IN" b="1" dirty="0"/>
              <a:t>What it is</a:t>
            </a:r>
            <a:r>
              <a:rPr lang="en-IN" dirty="0"/>
              <a:t>: The </a:t>
            </a:r>
            <a:r>
              <a:rPr lang="en-IN" i="1" dirty="0"/>
              <a:t>address</a:t>
            </a:r>
            <a:r>
              <a:rPr lang="en-IN" dirty="0"/>
              <a:t> of a resource on the web.</a:t>
            </a:r>
          </a:p>
          <a:p>
            <a:pPr lvl="0"/>
            <a:r>
              <a:rPr lang="en-IN" b="1" dirty="0"/>
              <a:t>Purpose</a:t>
            </a:r>
            <a:r>
              <a:rPr lang="en-IN" dirty="0"/>
              <a:t>: Tells your browser </a:t>
            </a:r>
            <a:r>
              <a:rPr lang="en-IN" i="1" dirty="0"/>
              <a:t>where</a:t>
            </a:r>
            <a:r>
              <a:rPr lang="en-IN" dirty="0"/>
              <a:t> to go.</a:t>
            </a:r>
          </a:p>
          <a:p>
            <a:pPr lvl="0"/>
            <a:r>
              <a:rPr lang="en-IN" b="1" dirty="0"/>
              <a:t>Example</a:t>
            </a:r>
            <a:r>
              <a:rPr lang="en-IN" dirty="0"/>
              <a:t>: https://www.timesnownews.com/entertainment-news/bollywood/ravi-kishan-on-his-sudden-meme-fame-gen-z-has-accepted-me-as-their-own-article-155460082</a:t>
            </a:r>
          </a:p>
          <a:p>
            <a:pPr lvl="0"/>
            <a:r>
              <a:rPr lang="en-IN" b="1" dirty="0"/>
              <a:t>Analogy</a:t>
            </a:r>
            <a:r>
              <a:rPr lang="en-IN" dirty="0"/>
              <a:t>: Like a street address for a house.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256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BF6A-E437-D79C-DF9C-27FE858F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0423-32FB-DC4D-71CC-F151653F7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HTTP (HyperText Transfer Protocol)</a:t>
            </a:r>
          </a:p>
          <a:p>
            <a:pPr lvl="0"/>
            <a:r>
              <a:rPr lang="en-IN" b="1"/>
              <a:t>What it is</a:t>
            </a:r>
            <a:r>
              <a:rPr lang="en-IN"/>
              <a:t>: The </a:t>
            </a:r>
            <a:r>
              <a:rPr lang="en-IN" i="1"/>
              <a:t>protocol</a:t>
            </a:r>
            <a:r>
              <a:rPr lang="en-IN"/>
              <a:t> (set of rules) used to transfer web pages between servers and browsers.</a:t>
            </a:r>
          </a:p>
          <a:p>
            <a:pPr lvl="0"/>
            <a:r>
              <a:rPr lang="en-IN" b="1"/>
              <a:t>Purpose</a:t>
            </a:r>
            <a:r>
              <a:rPr lang="en-IN"/>
              <a:t>: Defines </a:t>
            </a:r>
            <a:r>
              <a:rPr lang="en-IN" i="1"/>
              <a:t>how</a:t>
            </a:r>
            <a:r>
              <a:rPr lang="en-IN"/>
              <a:t> the browser and server communicate.</a:t>
            </a:r>
          </a:p>
          <a:p>
            <a:pPr lvl="0"/>
            <a:r>
              <a:rPr lang="en-IN" b="1"/>
              <a:t>Example</a:t>
            </a:r>
            <a:r>
              <a:rPr lang="en-IN"/>
              <a:t>:</a:t>
            </a:r>
          </a:p>
          <a:p>
            <a:pPr lvl="1"/>
            <a:r>
              <a:rPr lang="en-IN"/>
              <a:t>http:// → standard communication.</a:t>
            </a:r>
          </a:p>
          <a:p>
            <a:pPr lvl="1"/>
            <a:r>
              <a:rPr lang="en-IN"/>
              <a:t>https:// → secure communication (encrypted).</a:t>
            </a:r>
          </a:p>
          <a:p>
            <a:pPr lvl="0"/>
            <a:r>
              <a:rPr lang="en-IN" b="1"/>
              <a:t>Analogy</a:t>
            </a:r>
            <a:r>
              <a:rPr lang="en-IN"/>
              <a:t>: Like the postal service rules that define </a:t>
            </a:r>
            <a:r>
              <a:rPr lang="en-IN" i="1"/>
              <a:t>how mail is delivered</a:t>
            </a:r>
            <a:r>
              <a:rPr lang="en-I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3982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A109-D193-5EFA-0117-26BBF94C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BBEC-ED16-61F2-A304-38D73A924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.html File (</a:t>
            </a:r>
            <a:r>
              <a:rPr lang="en-IN" b="1" dirty="0" err="1"/>
              <a:t>HyperText</a:t>
            </a:r>
            <a:r>
              <a:rPr lang="en-IN" b="1" dirty="0"/>
              <a:t> Markup Language file)</a:t>
            </a:r>
          </a:p>
          <a:p>
            <a:pPr lvl="0"/>
            <a:r>
              <a:rPr lang="en-IN" b="1" dirty="0"/>
              <a:t>What it is</a:t>
            </a:r>
            <a:r>
              <a:rPr lang="en-IN" dirty="0"/>
              <a:t>: The actual </a:t>
            </a:r>
            <a:r>
              <a:rPr lang="en-IN" i="1" dirty="0"/>
              <a:t>document</a:t>
            </a:r>
            <a:r>
              <a:rPr lang="en-IN" dirty="0"/>
              <a:t> containing the webpage’s content and structure.</a:t>
            </a:r>
          </a:p>
          <a:p>
            <a:pPr lvl="0"/>
            <a:r>
              <a:rPr lang="en-IN" b="1" dirty="0"/>
              <a:t>Purpose</a:t>
            </a:r>
            <a:r>
              <a:rPr lang="en-IN" dirty="0"/>
              <a:t>: Holds the text, images, links, and formatting instructions.</a:t>
            </a:r>
          </a:p>
          <a:p>
            <a:pPr lvl="0"/>
            <a:r>
              <a:rPr lang="en-IN" b="1" dirty="0"/>
              <a:t>Example</a:t>
            </a:r>
            <a:r>
              <a:rPr lang="en-IN" dirty="0"/>
              <a:t>: A file named index.html might contain:</a:t>
            </a:r>
          </a:p>
          <a:p>
            <a:pPr lvl="0"/>
            <a:r>
              <a:rPr lang="en-IN" dirty="0"/>
              <a:t>html</a:t>
            </a:r>
          </a:p>
          <a:p>
            <a:pPr lvl="0"/>
            <a:r>
              <a:rPr lang="en-IN" dirty="0"/>
              <a:t>&lt;h1&gt;Welcome to My Website&lt;/h1&gt;</a:t>
            </a:r>
          </a:p>
          <a:p>
            <a:pPr lvl="0"/>
            <a:r>
              <a:rPr lang="en-IN" dirty="0"/>
              <a:t>&lt;p&gt;This is the homepage.&lt;/p&gt;</a:t>
            </a:r>
          </a:p>
          <a:p>
            <a:pPr lvl="0"/>
            <a:r>
              <a:rPr lang="en-IN" b="1" dirty="0"/>
              <a:t>Analogy</a:t>
            </a:r>
            <a:r>
              <a:rPr lang="en-IN" dirty="0"/>
              <a:t>: Like the </a:t>
            </a:r>
            <a:r>
              <a:rPr lang="en-IN" i="1" dirty="0"/>
              <a:t>contents of the letter</a:t>
            </a:r>
            <a:r>
              <a:rPr lang="en-IN" dirty="0"/>
              <a:t> you receive at the address.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692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9F99-19BF-B952-2002-FA9014C2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5A6F0-83BC-FBE7-A619-9F1BB2502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How They Work Together</a:t>
            </a:r>
          </a:p>
          <a:p>
            <a:pPr lvl="0"/>
            <a:r>
              <a:rPr lang="en-IN" dirty="0"/>
              <a:t>You type a </a:t>
            </a:r>
            <a:r>
              <a:rPr lang="en-IN" b="1" dirty="0"/>
              <a:t>URL</a:t>
            </a:r>
            <a:r>
              <a:rPr lang="en-IN" dirty="0"/>
              <a:t> (address).</a:t>
            </a:r>
          </a:p>
          <a:p>
            <a:pPr lvl="0"/>
            <a:r>
              <a:rPr lang="en-IN" dirty="0"/>
              <a:t>The browser uses </a:t>
            </a:r>
            <a:r>
              <a:rPr lang="en-IN" b="1" dirty="0"/>
              <a:t>HTTP/HTTPS</a:t>
            </a:r>
            <a:r>
              <a:rPr lang="en-IN" dirty="0"/>
              <a:t> (delivery rules) to request the page.</a:t>
            </a:r>
          </a:p>
          <a:p>
            <a:pPr lvl="0"/>
            <a:r>
              <a:rPr lang="en-IN" dirty="0"/>
              <a:t>The server sends back an </a:t>
            </a:r>
            <a:r>
              <a:rPr lang="en-IN" b="1" dirty="0"/>
              <a:t>.html file</a:t>
            </a:r>
            <a:r>
              <a:rPr lang="en-IN" dirty="0"/>
              <a:t> (the actual content).</a:t>
            </a:r>
          </a:p>
          <a:p>
            <a:pPr lvl="0"/>
            <a:r>
              <a:rPr lang="en-IN" dirty="0"/>
              <a:t>Your browser interprets the HTML and displays the webpage.</a:t>
            </a:r>
          </a:p>
          <a:p>
            <a:r>
              <a:rPr lang="en-IN" dirty="0"/>
              <a:t>✅ </a:t>
            </a:r>
            <a:r>
              <a:rPr lang="en-IN" b="1" dirty="0"/>
              <a:t>Key takeaway</a:t>
            </a:r>
            <a:r>
              <a:rPr lang="en-IN" dirty="0"/>
              <a:t>:</a:t>
            </a:r>
          </a:p>
          <a:p>
            <a:pPr lvl="0"/>
            <a:r>
              <a:rPr lang="en-IN" b="1" dirty="0"/>
              <a:t>URL</a:t>
            </a:r>
            <a:r>
              <a:rPr lang="en-IN" dirty="0"/>
              <a:t> = </a:t>
            </a:r>
            <a:r>
              <a:rPr lang="en-IN" i="1" dirty="0"/>
              <a:t>where to find it</a:t>
            </a:r>
            <a:endParaRPr lang="en-IN" dirty="0"/>
          </a:p>
          <a:p>
            <a:pPr lvl="0"/>
            <a:r>
              <a:rPr lang="en-IN" b="1" dirty="0"/>
              <a:t>HTTP</a:t>
            </a:r>
            <a:r>
              <a:rPr lang="en-IN" dirty="0"/>
              <a:t> = </a:t>
            </a:r>
            <a:r>
              <a:rPr lang="en-IN" i="1" dirty="0"/>
              <a:t>how to fetch it</a:t>
            </a:r>
            <a:endParaRPr lang="en-IN" dirty="0"/>
          </a:p>
          <a:p>
            <a:pPr lvl="0"/>
            <a:r>
              <a:rPr lang="en-IN" b="1" dirty="0"/>
              <a:t>.html file</a:t>
            </a:r>
            <a:r>
              <a:rPr lang="en-IN" dirty="0"/>
              <a:t> = </a:t>
            </a:r>
            <a:r>
              <a:rPr lang="en-IN" i="1" dirty="0"/>
              <a:t>what you actually see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93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0516-47B4-A631-45F3-E70D9FF9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a webpage flows from URL → HTTP → HTML → browser display: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1D697-7542-2A9E-8BC6-E9AC9C9A3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Flow of a Webpage</a:t>
            </a:r>
          </a:p>
          <a:p>
            <a:pPr lvl="0"/>
            <a:r>
              <a:rPr lang="en-IN" b="1" dirty="0"/>
              <a:t>URL (Address)</a:t>
            </a:r>
            <a:endParaRPr lang="en-IN" dirty="0"/>
          </a:p>
          <a:p>
            <a:pPr lvl="1"/>
            <a:r>
              <a:rPr lang="en-IN" dirty="0"/>
              <a:t>You type: https://www.timesnownews.com/...</a:t>
            </a:r>
          </a:p>
          <a:p>
            <a:pPr lvl="1"/>
            <a:r>
              <a:rPr lang="en-IN" dirty="0"/>
              <a:t>This tells your browser </a:t>
            </a:r>
            <a:r>
              <a:rPr lang="en-IN" i="1" dirty="0"/>
              <a:t>where</a:t>
            </a:r>
            <a:r>
              <a:rPr lang="en-IN" dirty="0"/>
              <a:t> to go (which server and which page).</a:t>
            </a:r>
          </a:p>
          <a:p>
            <a:pPr lvl="0"/>
            <a:r>
              <a:rPr lang="en-IN" b="1" dirty="0"/>
              <a:t>HTTP/HTTPS (Protocol)</a:t>
            </a:r>
            <a:endParaRPr lang="en-IN" dirty="0"/>
          </a:p>
          <a:p>
            <a:pPr lvl="1"/>
            <a:r>
              <a:rPr lang="en-IN" dirty="0"/>
              <a:t>Your browser sends an </a:t>
            </a:r>
            <a:r>
              <a:rPr lang="en-IN" b="1" dirty="0"/>
              <a:t>HTTP request</a:t>
            </a:r>
            <a:r>
              <a:rPr lang="en-IN" dirty="0"/>
              <a:t>: “Please give me this page.”</a:t>
            </a:r>
          </a:p>
          <a:p>
            <a:pPr lvl="1"/>
            <a:r>
              <a:rPr lang="en-IN" dirty="0"/>
              <a:t>The server replies with an </a:t>
            </a:r>
            <a:r>
              <a:rPr lang="en-IN" b="1" dirty="0"/>
              <a:t>HTTP response</a:t>
            </a:r>
            <a:r>
              <a:rPr lang="en-IN" dirty="0"/>
              <a:t>: “Here’s the content.”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094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894B-5883-B092-CD9F-EA821EC1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BFE4A-2D83-F9ED-75CB-BD17CF7AE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HTML File (Content)</a:t>
            </a:r>
            <a:endParaRPr lang="en-IN" dirty="0"/>
          </a:p>
          <a:p>
            <a:pPr lvl="1"/>
            <a:r>
              <a:rPr lang="en-IN" dirty="0"/>
              <a:t>The response contains an </a:t>
            </a:r>
            <a:r>
              <a:rPr lang="en-IN" b="1" dirty="0"/>
              <a:t>.html file</a:t>
            </a:r>
            <a:r>
              <a:rPr lang="en-IN" dirty="0"/>
              <a:t> with text, images, and formatting instructions.</a:t>
            </a:r>
          </a:p>
          <a:p>
            <a:pPr lvl="1"/>
            <a:r>
              <a:rPr lang="en-IN" dirty="0"/>
              <a:t>Example snippet:</a:t>
            </a:r>
          </a:p>
          <a:p>
            <a:pPr lvl="1"/>
            <a:r>
              <a:rPr lang="en-IN" dirty="0"/>
              <a:t>html</a:t>
            </a:r>
          </a:p>
          <a:p>
            <a:pPr lvl="1"/>
            <a:r>
              <a:rPr lang="en-IN" dirty="0"/>
              <a:t>&lt;h1&gt;Ravi Kishan Meme Fame&lt;/h1&gt;</a:t>
            </a:r>
          </a:p>
          <a:p>
            <a:pPr lvl="1"/>
            <a:r>
              <a:rPr lang="en-IN" dirty="0"/>
              <a:t>&lt;p&gt;Gen Z has accepted him as their own.&lt;/p&gt;</a:t>
            </a:r>
          </a:p>
          <a:p>
            <a:pPr lvl="0"/>
            <a:r>
              <a:rPr lang="en-IN" b="1" dirty="0"/>
              <a:t>Browser Display (Result)</a:t>
            </a:r>
            <a:endParaRPr lang="en-IN" dirty="0"/>
          </a:p>
          <a:p>
            <a:pPr lvl="1"/>
            <a:r>
              <a:rPr lang="en-IN" dirty="0"/>
              <a:t>Your browser interprets the HTML and shows you the styled webpage with headings, paragraphs, images, and links.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70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4695-6247-7D50-51DF-28055D61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67F3D-CF72-1C82-C656-A2EFD43A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Key takeaway</a:t>
            </a:r>
            <a:r>
              <a:rPr lang="en-IN" dirty="0"/>
              <a:t>:</a:t>
            </a:r>
          </a:p>
          <a:p>
            <a:pPr lvl="0"/>
            <a:r>
              <a:rPr lang="en-IN" b="1" dirty="0"/>
              <a:t>URL</a:t>
            </a:r>
            <a:r>
              <a:rPr lang="en-IN" dirty="0"/>
              <a:t> tells </a:t>
            </a:r>
            <a:r>
              <a:rPr lang="en-IN" i="1" dirty="0"/>
              <a:t>where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HTTP</a:t>
            </a:r>
            <a:r>
              <a:rPr lang="en-IN" dirty="0"/>
              <a:t> defines </a:t>
            </a:r>
            <a:r>
              <a:rPr lang="en-IN" i="1" dirty="0"/>
              <a:t>how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HTML file</a:t>
            </a:r>
            <a:r>
              <a:rPr lang="en-IN" dirty="0"/>
              <a:t> is </a:t>
            </a:r>
            <a:r>
              <a:rPr lang="en-IN" i="1" dirty="0"/>
              <a:t>what</a:t>
            </a:r>
            <a:r>
              <a:rPr lang="en-IN" dirty="0"/>
              <a:t>. Together, they make the World Wide Web usable and navigable.</a:t>
            </a:r>
          </a:p>
          <a:p>
            <a:r>
              <a:rPr lang="en-IN" dirty="0"/>
              <a:t>Since you’re currently viewing a Times Now article about </a:t>
            </a:r>
            <a:r>
              <a:rPr lang="en-IN" b="1" dirty="0"/>
              <a:t>Ravi Kishan’s meme fame</a:t>
            </a:r>
            <a:r>
              <a:rPr lang="en-IN" dirty="0"/>
              <a:t>, the process you just followed was:</a:t>
            </a:r>
          </a:p>
          <a:p>
            <a:pPr lvl="0"/>
            <a:r>
              <a:rPr lang="en-IN" dirty="0"/>
              <a:t>Entering the </a:t>
            </a:r>
            <a:r>
              <a:rPr lang="en-IN" b="1" dirty="0"/>
              <a:t>URL</a:t>
            </a:r>
            <a:r>
              <a:rPr lang="en-IN" dirty="0"/>
              <a:t> → browser used </a:t>
            </a:r>
            <a:r>
              <a:rPr lang="en-IN" b="1" dirty="0"/>
              <a:t>HTTPS</a:t>
            </a:r>
            <a:r>
              <a:rPr lang="en-IN" dirty="0"/>
              <a:t> → server sent back an </a:t>
            </a:r>
            <a:r>
              <a:rPr lang="en-IN" b="1" dirty="0"/>
              <a:t>HTML file</a:t>
            </a:r>
            <a:r>
              <a:rPr lang="en-IN" dirty="0"/>
              <a:t> → your browser displayed the article with text, images, and formatting.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7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AC43-549C-1918-7044-B150E7284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Here’s a visual flow diagram showing how a webpage moves from URL → HTTP → HTML → Browser Display: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BEFE-7543-2000-8DA4-1D0EE564B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[ You type a URL ]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URL (Address)</a:t>
            </a:r>
          </a:p>
          <a:p>
            <a:r>
              <a:rPr lang="en-IN" dirty="0"/>
              <a:t>   "https://example.com/page.html"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HTTP/HTTPS (Protocol)</a:t>
            </a:r>
          </a:p>
          <a:p>
            <a:r>
              <a:rPr lang="en-IN" dirty="0"/>
              <a:t>   Browser sends request → Server replies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11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0F2A-80D9-43B1-0240-E4E43DA5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C8B5-9185-783D-12CB-C773FA2B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 ↓</a:t>
            </a:r>
          </a:p>
          <a:p>
            <a:r>
              <a:rPr lang="en-IN" dirty="0"/>
              <a:t>   HTML File (Content)</a:t>
            </a:r>
          </a:p>
          <a:p>
            <a:r>
              <a:rPr lang="en-IN" dirty="0"/>
              <a:t>   Server sends back "page.html"</a:t>
            </a:r>
          </a:p>
          <a:p>
            <a:r>
              <a:rPr lang="en-IN" dirty="0"/>
              <a:t>   &lt;h1&gt;Welcome&lt;/h1&gt;</a:t>
            </a:r>
          </a:p>
          <a:p>
            <a:r>
              <a:rPr lang="en-IN" dirty="0"/>
              <a:t>   &lt;p&gt;This is my site.&lt;/p&gt;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Browser Display (Result)</a:t>
            </a:r>
          </a:p>
          <a:p>
            <a:r>
              <a:rPr lang="en-IN" dirty="0"/>
              <a:t>   You see a styled webpage with text, images, and links</a:t>
            </a:r>
          </a:p>
        </p:txBody>
      </p:sp>
    </p:spTree>
    <p:extLst>
      <p:ext uri="{BB962C8B-B14F-4D97-AF65-F5344CB8AC3E}">
        <p14:creationId xmlns:p14="http://schemas.microsoft.com/office/powerpoint/2010/main" val="644034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CF97-C6EB-4E5A-0190-E87D643A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17AB1-241D-6256-392F-30742B65E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[ You type a URL ]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URL (Address)</a:t>
            </a:r>
          </a:p>
          <a:p>
            <a:r>
              <a:rPr lang="en-IN" dirty="0"/>
              <a:t>   "https://example.com/page.html"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HTTP/HTTPS (Protocol)</a:t>
            </a:r>
          </a:p>
          <a:p>
            <a:r>
              <a:rPr lang="en-IN" dirty="0"/>
              <a:t>   Browser sends request → Server replies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HTML File (Content)</a:t>
            </a:r>
          </a:p>
          <a:p>
            <a:r>
              <a:rPr lang="en-IN" dirty="0"/>
              <a:t>   Server sends back "page.html"</a:t>
            </a:r>
          </a:p>
          <a:p>
            <a:r>
              <a:rPr lang="en-IN" dirty="0"/>
              <a:t>   &lt;h1&gt;Welcome&lt;/h1&gt;</a:t>
            </a:r>
          </a:p>
          <a:p>
            <a:r>
              <a:rPr lang="en-IN" dirty="0"/>
              <a:t>   &lt;p&gt;This is my site.&lt;/p&gt;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Browser Display (Result)</a:t>
            </a:r>
          </a:p>
          <a:p>
            <a:r>
              <a:rPr lang="en-IN" dirty="0"/>
              <a:t>   You see a styled webpage with text, images, and links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180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862A-A5A8-A845-0DDC-77EFD8DF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574D-B09F-3C00-ACAF-683CF997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Quick Recap</a:t>
            </a:r>
          </a:p>
          <a:p>
            <a:pPr lvl="0"/>
            <a:r>
              <a:rPr lang="en-IN" b="1" dirty="0"/>
              <a:t>URL</a:t>
            </a:r>
            <a:r>
              <a:rPr lang="en-IN" dirty="0"/>
              <a:t> = tells the browser </a:t>
            </a:r>
            <a:r>
              <a:rPr lang="en-IN" i="1" dirty="0"/>
              <a:t>where to go</a:t>
            </a:r>
            <a:r>
              <a:rPr lang="en-IN" dirty="0"/>
              <a:t> (address).</a:t>
            </a:r>
          </a:p>
          <a:p>
            <a:pPr lvl="0"/>
            <a:r>
              <a:rPr lang="en-IN" b="1" dirty="0"/>
              <a:t>HTTP/HTTPS</a:t>
            </a:r>
            <a:r>
              <a:rPr lang="en-IN" dirty="0"/>
              <a:t> = defines </a:t>
            </a:r>
            <a:r>
              <a:rPr lang="en-IN" i="1" dirty="0"/>
              <a:t>how to fetch it</a:t>
            </a:r>
            <a:r>
              <a:rPr lang="en-IN" dirty="0"/>
              <a:t> (delivery rules).</a:t>
            </a:r>
          </a:p>
          <a:p>
            <a:pPr lvl="0"/>
            <a:r>
              <a:rPr lang="en-IN" b="1" dirty="0"/>
              <a:t>HTML file</a:t>
            </a:r>
            <a:r>
              <a:rPr lang="en-IN" dirty="0"/>
              <a:t> = contains </a:t>
            </a:r>
            <a:r>
              <a:rPr lang="en-IN" i="1" dirty="0"/>
              <a:t>what to show</a:t>
            </a:r>
            <a:r>
              <a:rPr lang="en-IN" dirty="0"/>
              <a:t> (content).</a:t>
            </a:r>
          </a:p>
          <a:p>
            <a:pPr lvl="0"/>
            <a:r>
              <a:rPr lang="en-IN" b="1" dirty="0"/>
              <a:t>Browser</a:t>
            </a:r>
            <a:r>
              <a:rPr lang="en-IN" dirty="0"/>
              <a:t> = interprets and displays the page for you.</a:t>
            </a:r>
          </a:p>
          <a:p>
            <a:r>
              <a:rPr lang="en-IN" dirty="0"/>
              <a:t>✅ So when you opened your current Times Now article about </a:t>
            </a:r>
            <a:r>
              <a:rPr lang="en-IN" b="1" dirty="0"/>
              <a:t>Ravi Kishan’s meme fame</a:t>
            </a:r>
            <a:r>
              <a:rPr lang="en-IN" dirty="0"/>
              <a:t>, the process was:</a:t>
            </a:r>
          </a:p>
          <a:p>
            <a:pPr lvl="0"/>
            <a:r>
              <a:rPr lang="en-IN" dirty="0"/>
              <a:t>You clicked the </a:t>
            </a:r>
            <a:r>
              <a:rPr lang="en-IN" b="1" dirty="0"/>
              <a:t>URL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Browser used </a:t>
            </a:r>
            <a:r>
              <a:rPr lang="en-IN" b="1" dirty="0"/>
              <a:t>HTTPS</a:t>
            </a:r>
            <a:r>
              <a:rPr lang="en-IN" dirty="0"/>
              <a:t> to request the page.</a:t>
            </a:r>
          </a:p>
          <a:p>
            <a:pPr lvl="0"/>
            <a:r>
              <a:rPr lang="en-IN" dirty="0"/>
              <a:t>Times Now’s server sent back an </a:t>
            </a:r>
            <a:r>
              <a:rPr lang="en-IN" b="1" dirty="0"/>
              <a:t>HTML file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Your browser displayed the formatted article with text, images, and links.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851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9EB0-E6F7-CDD4-2D5C-1B898EC6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let’s extend the flow we discussed (URL → HTTP → HTML → Browser Display) by adding the two extra layers that make modern webpages look good and feel interactive: CSS and JavaScript.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C06E-0DEF-A5BA-8CC6-FCA248293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CSS (Cascading Style Sheets)</a:t>
            </a:r>
          </a:p>
          <a:p>
            <a:pPr lvl="0"/>
            <a:r>
              <a:rPr lang="en-IN" b="1" dirty="0"/>
              <a:t>What it is</a:t>
            </a:r>
            <a:r>
              <a:rPr lang="en-IN" dirty="0"/>
              <a:t>: A styling language that controls how HTML elements look.</a:t>
            </a:r>
          </a:p>
          <a:p>
            <a:pPr lvl="0"/>
            <a:r>
              <a:rPr lang="en-IN" b="1" dirty="0"/>
              <a:t>Purpose</a:t>
            </a:r>
            <a:r>
              <a:rPr lang="en-IN" dirty="0"/>
              <a:t>: Adds </a:t>
            </a:r>
            <a:r>
              <a:rPr lang="en-IN" dirty="0" err="1"/>
              <a:t>colors</a:t>
            </a:r>
            <a:r>
              <a:rPr lang="en-IN" dirty="0"/>
              <a:t>, fonts, layouts, spacing, and responsive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197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3712-C90D-E21D-ADBE-58F98D70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40C4-FF1E-09E1-2F5B-F081D0A8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 {</a:t>
            </a:r>
          </a:p>
          <a:p>
            <a:r>
              <a:rPr lang="en-US" dirty="0"/>
              <a:t>  color: blue;</a:t>
            </a:r>
          </a:p>
          <a:p>
            <a:r>
              <a:rPr lang="en-US" dirty="0"/>
              <a:t>  font-family: Arial;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 {</a:t>
            </a:r>
          </a:p>
          <a:p>
            <a:r>
              <a:rPr lang="en-US" dirty="0"/>
              <a:t>  line-height: 1.5;</a:t>
            </a:r>
          </a:p>
          <a:p>
            <a:r>
              <a:rPr lang="en-US" dirty="0"/>
              <a:t>}</a:t>
            </a:r>
          </a:p>
          <a:p>
            <a:r>
              <a:rPr lang="en-IN" b="1" dirty="0"/>
              <a:t>Result</a:t>
            </a:r>
            <a:r>
              <a:rPr lang="en-IN" dirty="0"/>
              <a:t>: Turns a plain HTML page into a visually appealing design.</a:t>
            </a:r>
          </a:p>
        </p:txBody>
      </p:sp>
    </p:spTree>
    <p:extLst>
      <p:ext uri="{BB962C8B-B14F-4D97-AF65-F5344CB8AC3E}">
        <p14:creationId xmlns:p14="http://schemas.microsoft.com/office/powerpoint/2010/main" val="3808715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65A1-7B5B-4340-E4B9-EFB29272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DCA50-3064-AAAB-9C5A-E6E4190F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JavaScript</a:t>
            </a:r>
          </a:p>
          <a:p>
            <a:pPr lvl="0"/>
            <a:r>
              <a:rPr lang="en-IN" b="1" dirty="0"/>
              <a:t>What it is</a:t>
            </a:r>
            <a:r>
              <a:rPr lang="en-IN" dirty="0"/>
              <a:t>: A programming language that runs in the browser.</a:t>
            </a:r>
          </a:p>
          <a:p>
            <a:pPr lvl="0"/>
            <a:r>
              <a:rPr lang="en-IN" b="1" dirty="0"/>
              <a:t>Purpose</a:t>
            </a:r>
            <a:r>
              <a:rPr lang="en-IN" dirty="0"/>
              <a:t>: Adds interactivity, animations, and dynamic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btn</a:t>
            </a:r>
            <a:r>
              <a:rPr lang="en-IN" dirty="0"/>
              <a:t>").onclick = function() {</a:t>
            </a:r>
          </a:p>
          <a:p>
            <a:r>
              <a:rPr lang="en-IN" dirty="0"/>
              <a:t>  alert("You clicked the button!");</a:t>
            </a:r>
          </a:p>
          <a:p>
            <a:r>
              <a:rPr lang="en-IN" dirty="0"/>
              <a:t>};</a:t>
            </a:r>
          </a:p>
          <a:p>
            <a:r>
              <a:rPr lang="en-IN" b="1" dirty="0"/>
              <a:t>Result</a:t>
            </a:r>
            <a:r>
              <a:rPr lang="en-IN" dirty="0"/>
              <a:t>: Lets you click, scroll, play videos, submit forms, and interact with the page in real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655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C7D1-DCBC-4655-FC36-D1361A4B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Flow Diagram (with CSS &amp; JS)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1C05-DE8E-05CB-5F0E-B31531D5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[ You type a URL ]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URL (Address)</a:t>
            </a:r>
          </a:p>
          <a:p>
            <a:r>
              <a:rPr lang="en-IN" dirty="0"/>
              <a:t>   "https://example.com/page.html"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HTTP/HTTPS (Protocol)</a:t>
            </a:r>
          </a:p>
          <a:p>
            <a:r>
              <a:rPr lang="en-IN" dirty="0"/>
              <a:t>   Browser requests → Server replies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HTML File (Content)</a:t>
            </a:r>
          </a:p>
          <a:p>
            <a:r>
              <a:rPr lang="en-IN" dirty="0"/>
              <a:t>   Structure: headings, paragraphs, images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877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6D5EB-0040-35C7-3FCC-C2713254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2DF-92D1-66B0-C5B1-44D6C2B02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 CSS File (Style)</a:t>
            </a:r>
          </a:p>
          <a:p>
            <a:r>
              <a:rPr lang="en-IN" dirty="0"/>
              <a:t>   </a:t>
            </a:r>
            <a:r>
              <a:rPr lang="en-IN" dirty="0" err="1"/>
              <a:t>Colors</a:t>
            </a:r>
            <a:r>
              <a:rPr lang="en-IN" dirty="0"/>
              <a:t>, fonts, layouts, responsive design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JavaScript File (</a:t>
            </a:r>
            <a:r>
              <a:rPr lang="en-IN" dirty="0" err="1"/>
              <a:t>Behavior</a:t>
            </a:r>
            <a:r>
              <a:rPr lang="en-IN" dirty="0"/>
              <a:t>)</a:t>
            </a:r>
          </a:p>
          <a:p>
            <a:r>
              <a:rPr lang="en-IN" dirty="0"/>
              <a:t>   Interactivity, animations, dynamic updates</a:t>
            </a:r>
          </a:p>
          <a:p>
            <a:endParaRPr lang="en-IN" dirty="0"/>
          </a:p>
          <a:p>
            <a:r>
              <a:rPr lang="en-IN" dirty="0"/>
              <a:t>          ↓</a:t>
            </a:r>
          </a:p>
          <a:p>
            <a:r>
              <a:rPr lang="en-IN" dirty="0"/>
              <a:t>   Browser Display (Result)</a:t>
            </a:r>
          </a:p>
          <a:p>
            <a:r>
              <a:rPr lang="en-IN" dirty="0"/>
              <a:t>   A styled, interactive webpage</a:t>
            </a:r>
          </a:p>
        </p:txBody>
      </p:sp>
    </p:spTree>
    <p:extLst>
      <p:ext uri="{BB962C8B-B14F-4D97-AF65-F5344CB8AC3E}">
        <p14:creationId xmlns:p14="http://schemas.microsoft.com/office/powerpoint/2010/main" val="4054939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4ACF-25BC-E79B-2A90-8DADE007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7EB7-94A6-7115-6689-0E21EC03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takeaway</a:t>
            </a:r>
            <a:r>
              <a:rPr lang="en-IN" dirty="0"/>
              <a:t>:</a:t>
            </a:r>
          </a:p>
          <a:p>
            <a:pPr lvl="0"/>
            <a:r>
              <a:rPr lang="en-IN" b="1" dirty="0"/>
              <a:t>URL</a:t>
            </a:r>
            <a:r>
              <a:rPr lang="en-IN" dirty="0"/>
              <a:t> = where to go</a:t>
            </a:r>
          </a:p>
          <a:p>
            <a:pPr lvl="0"/>
            <a:r>
              <a:rPr lang="en-IN" b="1" dirty="0"/>
              <a:t>HTTP</a:t>
            </a:r>
            <a:r>
              <a:rPr lang="en-IN" dirty="0"/>
              <a:t> = how to fetch</a:t>
            </a:r>
          </a:p>
          <a:p>
            <a:pPr lvl="0"/>
            <a:r>
              <a:rPr lang="en-IN" b="1" dirty="0"/>
              <a:t>HTML</a:t>
            </a:r>
            <a:r>
              <a:rPr lang="en-IN" dirty="0"/>
              <a:t> = what to show</a:t>
            </a:r>
          </a:p>
          <a:p>
            <a:pPr lvl="0"/>
            <a:r>
              <a:rPr lang="en-IN" b="1" dirty="0"/>
              <a:t>CSS</a:t>
            </a:r>
            <a:r>
              <a:rPr lang="en-IN" dirty="0"/>
              <a:t> = how it looks</a:t>
            </a:r>
          </a:p>
          <a:p>
            <a:pPr lvl="0"/>
            <a:r>
              <a:rPr lang="en-IN" b="1" dirty="0"/>
              <a:t>JavaScript</a:t>
            </a:r>
            <a:r>
              <a:rPr lang="en-IN" dirty="0"/>
              <a:t> = how it behaves</a:t>
            </a:r>
          </a:p>
          <a:p>
            <a:r>
              <a:rPr lang="en-IN" dirty="0"/>
              <a:t>Together, these five pieces make the modern web experience possible.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834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6609-86E7-3974-E0F5-1FF74985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59D5A-BA8A-32C9-662A-ACBB2BA84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Since you’re currently reading a Times Now article about </a:t>
            </a:r>
            <a:r>
              <a:rPr lang="en-IN" b="1" dirty="0"/>
              <a:t>Ravi Kishan’s meme fame</a:t>
            </a:r>
            <a:r>
              <a:rPr lang="en-IN" dirty="0"/>
              <a:t>, here’s how it works in practice: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URL</a:t>
            </a:r>
            <a:r>
              <a:rPr lang="en-IN" dirty="0"/>
              <a:t> points to the article.</a:t>
            </a:r>
          </a:p>
          <a:p>
            <a:pPr lvl="0"/>
            <a:r>
              <a:rPr lang="en-IN" dirty="0"/>
              <a:t>The browser uses </a:t>
            </a:r>
            <a:r>
              <a:rPr lang="en-IN" b="1" dirty="0"/>
              <a:t>HTTPS</a:t>
            </a:r>
            <a:r>
              <a:rPr lang="en-IN" dirty="0"/>
              <a:t> to fetch it.</a:t>
            </a:r>
          </a:p>
          <a:p>
            <a:pPr lvl="0"/>
            <a:r>
              <a:rPr lang="en-IN" dirty="0"/>
              <a:t>The server sends back an </a:t>
            </a:r>
            <a:r>
              <a:rPr lang="en-IN" b="1" dirty="0"/>
              <a:t>HTML file</a:t>
            </a:r>
            <a:r>
              <a:rPr lang="en-IN" dirty="0"/>
              <a:t> with the text.</a:t>
            </a:r>
          </a:p>
          <a:p>
            <a:pPr lvl="0"/>
            <a:r>
              <a:rPr lang="en-IN" b="1" dirty="0"/>
              <a:t>CSS</a:t>
            </a:r>
            <a:r>
              <a:rPr lang="en-IN" dirty="0"/>
              <a:t> styles it with Times Now’s fonts, </a:t>
            </a:r>
            <a:r>
              <a:rPr lang="en-IN" dirty="0" err="1"/>
              <a:t>colors</a:t>
            </a:r>
            <a:r>
              <a:rPr lang="en-IN" dirty="0"/>
              <a:t>, and layout.</a:t>
            </a:r>
          </a:p>
          <a:p>
            <a:pPr lvl="0"/>
            <a:r>
              <a:rPr lang="en-IN" b="1" dirty="0"/>
              <a:t>JavaScript</a:t>
            </a:r>
            <a:r>
              <a:rPr lang="en-IN" dirty="0"/>
              <a:t> powers things like pop‑ups, ads, and interactive menus.</a:t>
            </a:r>
          </a:p>
          <a:p>
            <a:r>
              <a:rPr lang="en-IN" dirty="0"/>
              <a:t>Would you like me to also show you a </a:t>
            </a:r>
            <a:r>
              <a:rPr lang="en-IN" b="1" dirty="0"/>
              <a:t>real example snippet combining HTML + CSS + JavaScript</a:t>
            </a:r>
            <a:r>
              <a:rPr lang="en-IN" dirty="0"/>
              <a:t> (like a mini webpage) so you can see how they all work together in one file?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11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3307</TotalTime>
  <Words>3084</Words>
  <Application>Microsoft Office PowerPoint</Application>
  <PresentationFormat>Widescreen</PresentationFormat>
  <Paragraphs>328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BROWSERS AND WEB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Modem </vt:lpstr>
      <vt:lpstr>Types of Modems </vt:lpstr>
      <vt:lpstr>Here’s how you can check whether your OneDrive or Google Drive files are stored locally on your computer’s hard disk:</vt:lpstr>
      <vt:lpstr>PowerPoint Presentation</vt:lpstr>
      <vt:lpstr>web-based means that the program or service runs primarily on the internet, not directly from your computer’s hard disk.</vt:lpstr>
      <vt:lpstr>Cloud Drive (like OneDrive, Google Drive) Virtual storage on the internet. </vt:lpstr>
      <vt:lpstr>PowerPoint Presentation</vt:lpstr>
      <vt:lpstr>difference between URL and HTTP and .html file </vt:lpstr>
      <vt:lpstr>PowerPoint Presentation</vt:lpstr>
      <vt:lpstr>PowerPoint Presentation</vt:lpstr>
      <vt:lpstr>PowerPoint Presentation</vt:lpstr>
      <vt:lpstr>how a webpage flows from URL → HTTP → HTML → browser display:</vt:lpstr>
      <vt:lpstr>PowerPoint Presentation</vt:lpstr>
      <vt:lpstr>PowerPoint Presentation</vt:lpstr>
      <vt:lpstr>Here’s a visual flow diagram showing how a webpage moves from URL → HTTP → HTML → Browser Display:</vt:lpstr>
      <vt:lpstr>PowerPoint Presentation</vt:lpstr>
      <vt:lpstr>PowerPoint Presentation</vt:lpstr>
      <vt:lpstr>PowerPoint Presentation</vt:lpstr>
      <vt:lpstr>let’s extend the flow we discussed (URL → HTTP → HTML → Browser Display) by adding the two extra layers that make modern webpages look good and feel interactive: CSS and JavaScript.</vt:lpstr>
      <vt:lpstr>Css</vt:lpstr>
      <vt:lpstr>PowerPoint Presentation</vt:lpstr>
      <vt:lpstr>Full Flow Diagram (with CSS &amp; JS)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3</cp:revision>
  <dcterms:created xsi:type="dcterms:W3CDTF">2026-08-07T01:05:03Z</dcterms:created>
  <dcterms:modified xsi:type="dcterms:W3CDTF">2026-08-12T01:05:09Z</dcterms:modified>
</cp:coreProperties>
</file>