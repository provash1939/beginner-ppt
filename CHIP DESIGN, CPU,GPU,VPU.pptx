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57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45" d="100"/>
          <a:sy n="45" d="100"/>
        </p:scale>
        <p:origin x="42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B2074-7366-45E0-C43E-5A7F4DC829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65DDA4-8616-DD9D-5124-312E87D6D8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2893A3-6B13-BE31-AA9B-4E14B7032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13387-66D0-4BC6-A1D7-DDE802C6C85C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02604-C019-21AA-5683-E86C67604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AD6A5-EEC5-89B2-C74C-62308D773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23E61-52B0-453C-B68E-7CFA27AB2B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178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C92CE-1170-9FFF-A0E3-823DFC44C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388A1-B5FC-BB46-F5CF-28411925B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C6090-39B3-5DF1-7015-64EDEA90E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13387-66D0-4BC6-A1D7-DDE802C6C85C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58FE4-C5D7-D53F-C3F2-7180BFFC6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A3495-2648-C55E-36DB-DB88902D2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23E61-52B0-453C-B68E-7CFA27AB2B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880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D1414-7CB7-B64B-0E33-14B6B0727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3B9A0A-6B1B-4D9D-F598-2F0BBE34D6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2528C-2CB6-0D26-A1F8-295A035D1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13387-66D0-4BC6-A1D7-DDE802C6C85C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7207F-D8EB-A72D-F8FE-8789B862E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D7D26-A07D-56DC-3346-BA731FB48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23E61-52B0-453C-B68E-7CFA27AB2B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1857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769AE-CD16-6C7D-FAAB-DA1378963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3A668-DBC9-13CB-2870-B0F5794F09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B5C7EE-22A7-AF99-1B0C-A06B5B177B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72F1A9-3C49-5F4D-EBFE-BCCC65741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13387-66D0-4BC6-A1D7-DDE802C6C85C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B7E0C3-34D1-0EA3-E2EB-F488341C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90A81B-E628-7E96-CC84-1363EAD7B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23E61-52B0-453C-B68E-7CFA27AB2B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968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8F2BC-B1AD-639E-5348-F871E20F1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E17F5B-4BD3-DCB9-AFBC-45A69E47D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4FE0C8-1B61-36F0-DD9B-C8F1A04F9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C5400C-84BB-3D9E-0691-2FE8769DD6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BB8CA1-29FB-8E09-54D4-FDE073B1BF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069971-DFD1-3039-C773-A0DE6C166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13387-66D0-4BC6-A1D7-DDE802C6C85C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CA5FC5-8081-7B83-8DDB-F2F086385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633934-1FD6-F6D3-964F-28C616A4F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23E61-52B0-453C-B68E-7CFA27AB2B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743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4FA53-C2AA-1E5B-5985-FEC9334D2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74EA77-3A36-AB4A-B6A4-759564233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13387-66D0-4BC6-A1D7-DDE802C6C85C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510DD0-F7C1-0305-85EA-493B91434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0D0FB5-46A7-0915-9146-35044B757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23E61-52B0-453C-B68E-7CFA27AB2B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1535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A536D1-E0B5-8709-5E24-A496D93C1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13387-66D0-4BC6-A1D7-DDE802C6C85C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780991-9D28-CBFD-0D36-2B7E66142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DBB41-C8A5-62EF-3F4C-57E3C8A10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23E61-52B0-453C-B68E-7CFA27AB2B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0593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12CDE-0865-4A4A-4E43-F597C0A0D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6EBF7-D5B7-47A1-EDB1-937B31A42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292142-FEFE-2327-A217-1DE1EF943D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862C1E-01BF-D1AE-0317-D13D58715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13387-66D0-4BC6-A1D7-DDE802C6C85C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97EC99-BE5D-CF52-FF94-1045A2269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1B5E22-EC2E-FF05-E3F9-960CF3285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23E61-52B0-453C-B68E-7CFA27AB2B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4972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63AF9-D30D-C16E-B460-5D1E0172E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0BEADD-BCF5-3F99-0110-D26AF91FCA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80080-8147-BF02-7781-15A24AA11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AF61B6-34CD-BDA5-3E4D-EFD6F1F2D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13387-66D0-4BC6-A1D7-DDE802C6C85C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E2163D-321C-D601-AFC1-8DC3D6659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78BE0C-86F6-5D53-48D0-F6DF80ED8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23E61-52B0-453C-B68E-7CFA27AB2B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441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AB54D-D0B7-6432-4E1B-7B97EF24A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1C4C02-79F9-623F-D186-09AD9EFDF2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40B2F-D5BC-6ABD-9A8C-7A0EB0675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13387-66D0-4BC6-A1D7-DDE802C6C85C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90A1B-B6E3-E27D-941C-5D4EF6CA3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1DB5B-0E2A-7463-1182-92990D146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23E61-52B0-453C-B68E-7CFA27AB2B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301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F85D7C-0651-DA6A-E0E6-948E39D3BF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58B160-4B39-DAD0-4855-42A32F6114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CF277-42E6-A53E-D9FF-BD5D333F5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13387-66D0-4BC6-A1D7-DDE802C6C85C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408DE-A826-48A7-A91E-C3137591B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32990-F2F8-1809-2F55-55295864A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23E61-52B0-453C-B68E-7CFA27AB2B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4865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535358-59B5-6DA6-FEA5-1DD467D2E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2D1836-EC65-E459-A9FF-3B301F030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72E65-2687-1232-21B8-FD99B329D2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F13387-66D0-4BC6-A1D7-DDE802C6C85C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CF9F5-94AE-2427-7BB4-948C92652C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103EB-6B29-D4A2-ABC4-3006C0FEE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B23E61-52B0-453C-B68E-7CFA27AB2B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0905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06FF6-B0F6-3B10-E305-D567CE4299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dirty="0"/>
              <a:t>Chip Design</a:t>
            </a:r>
            <a:endParaRPr lang="en-IN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190EEA-3DED-0DD0-A9D3-97041232C8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6000" dirty="0"/>
              <a:t> </a:t>
            </a:r>
            <a:r>
              <a:rPr lang="en-US" sz="6000" dirty="0" err="1"/>
              <a:t>cpu</a:t>
            </a:r>
            <a:r>
              <a:rPr lang="en-US" sz="6000" dirty="0"/>
              <a:t>, </a:t>
            </a:r>
            <a:r>
              <a:rPr lang="en-US" sz="6000" dirty="0" err="1"/>
              <a:t>gpu</a:t>
            </a:r>
            <a:r>
              <a:rPr lang="en-US" sz="6000" dirty="0"/>
              <a:t>, </a:t>
            </a:r>
            <a:r>
              <a:rPr lang="en-US" sz="6000" dirty="0" err="1"/>
              <a:t>vpu</a:t>
            </a:r>
            <a:endParaRPr lang="en-US" sz="6000" dirty="0"/>
          </a:p>
          <a:p>
            <a:r>
              <a:rPr lang="en-IN" sz="6000" dirty="0"/>
              <a:t>Linear Algebra</a:t>
            </a:r>
          </a:p>
        </p:txBody>
      </p:sp>
    </p:spTree>
    <p:extLst>
      <p:ext uri="{BB962C8B-B14F-4D97-AF65-F5344CB8AC3E}">
        <p14:creationId xmlns:p14="http://schemas.microsoft.com/office/powerpoint/2010/main" val="3897288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5CB8F-3D09-22C5-BEB5-BC9894679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Types of Chip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85292-7195-19A3-20F1-895EC79F8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1. Digital Design</a:t>
            </a:r>
          </a:p>
          <a:p>
            <a:r>
              <a:rPr lang="en-IN" dirty="0">
                <a:effectLst/>
              </a:rPr>
              <a:t>Focus: Logic circuits, processors, memory, controllers.</a:t>
            </a:r>
            <a:endParaRPr lang="en-IN" dirty="0"/>
          </a:p>
          <a:p>
            <a:r>
              <a:rPr lang="en-IN" dirty="0">
                <a:effectLst/>
              </a:rPr>
              <a:t>Tools: Hardware Description Languages (HDLs) like Verilog, VHDL.</a:t>
            </a:r>
            <a:endParaRPr lang="en-IN" dirty="0"/>
          </a:p>
          <a:p>
            <a:r>
              <a:rPr lang="en-IN" dirty="0">
                <a:effectLst/>
              </a:rPr>
              <a:t>Example: CPUs, GPUs, FPGAs.</a:t>
            </a:r>
            <a:endParaRPr lang="en-IN" dirty="0"/>
          </a:p>
          <a:p>
            <a:r>
              <a:rPr lang="en-IN" b="1" dirty="0"/>
              <a:t>2. Analog Design</a:t>
            </a:r>
          </a:p>
          <a:p>
            <a:r>
              <a:rPr lang="en-IN" dirty="0">
                <a:effectLst/>
              </a:rPr>
              <a:t>Focus: Continuous signals, amplifiers, sensors, RF circuits.</a:t>
            </a:r>
            <a:endParaRPr lang="en-IN" dirty="0"/>
          </a:p>
          <a:p>
            <a:r>
              <a:rPr lang="en-IN" dirty="0">
                <a:effectLst/>
              </a:rPr>
              <a:t>Challenges: Noise, precision, power efficiency.</a:t>
            </a:r>
            <a:endParaRPr lang="en-IN" dirty="0"/>
          </a:p>
          <a:p>
            <a:r>
              <a:rPr lang="en-IN" dirty="0">
                <a:effectLst/>
              </a:rPr>
              <a:t>Example: Audio chips, radio transceivers.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8253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9A523-7ED4-09BE-17F0-1FE95995D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Types of Chip Design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75524-B00B-A29E-A2AA-5C0A1B5B9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3. Mixed-Signal Design</a:t>
            </a:r>
          </a:p>
          <a:p>
            <a:r>
              <a:rPr lang="en-IN" dirty="0">
                <a:effectLst/>
              </a:rPr>
              <a:t>Combines digital + </a:t>
            </a:r>
            <a:r>
              <a:rPr lang="en-IN" dirty="0" err="1">
                <a:effectLst/>
              </a:rPr>
              <a:t>analog</a:t>
            </a:r>
            <a:r>
              <a:rPr lang="en-IN" dirty="0">
                <a:effectLst/>
              </a:rPr>
              <a:t> on the same chip.</a:t>
            </a:r>
            <a:endParaRPr lang="en-IN" dirty="0"/>
          </a:p>
          <a:p>
            <a:r>
              <a:rPr lang="en-IN" dirty="0">
                <a:effectLst/>
              </a:rPr>
              <a:t>Example: ADCs (Analog-to-Digital Converters), DACs, system-on-chip (SoC).</a:t>
            </a:r>
            <a:endParaRPr lang="en-IN" dirty="0"/>
          </a:p>
          <a:p>
            <a:r>
              <a:rPr lang="en-IN" b="1" dirty="0"/>
              <a:t>4. RF (Radio Frequency) Design</a:t>
            </a:r>
          </a:p>
          <a:p>
            <a:r>
              <a:rPr lang="en-IN" dirty="0">
                <a:effectLst/>
              </a:rPr>
              <a:t>Specialized for wireless communication.</a:t>
            </a:r>
            <a:endParaRPr lang="en-IN" dirty="0"/>
          </a:p>
          <a:p>
            <a:r>
              <a:rPr lang="en-IN" dirty="0">
                <a:effectLst/>
              </a:rPr>
              <a:t>Example: Wi-Fi chips, Bluetooth modules, 5G baseband processors.</a:t>
            </a:r>
            <a:endParaRPr lang="en-IN" dirty="0"/>
          </a:p>
          <a:p>
            <a:r>
              <a:rPr lang="en-IN" b="1" dirty="0"/>
              <a:t>5. Memory Design</a:t>
            </a:r>
          </a:p>
          <a:p>
            <a:r>
              <a:rPr lang="en-IN" dirty="0">
                <a:effectLst/>
              </a:rPr>
              <a:t>Focus: Storage elements (RAM, ROM, Flash).</a:t>
            </a:r>
            <a:endParaRPr lang="en-IN" dirty="0"/>
          </a:p>
          <a:p>
            <a:r>
              <a:rPr lang="en-IN" dirty="0">
                <a:effectLst/>
              </a:rPr>
              <a:t>Optimized for density, speed, and reliability.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8858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6D411-560F-18AD-7330-11A42A0C8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Types of Chip Design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A22A8-4771-C161-D033-A97A0CA19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b="1" dirty="0"/>
              <a:t>6. ASIC (Application-Specific Integrated Circuit) Design</a:t>
            </a:r>
          </a:p>
          <a:p>
            <a:r>
              <a:rPr lang="en-IN" dirty="0">
                <a:effectLst/>
              </a:rPr>
              <a:t>Custom chips for a specific task.</a:t>
            </a:r>
            <a:endParaRPr lang="en-IN" dirty="0"/>
          </a:p>
          <a:p>
            <a:r>
              <a:rPr lang="en-IN" dirty="0">
                <a:effectLst/>
              </a:rPr>
              <a:t>Example: Bitcoin mining chips, AI accelerators.</a:t>
            </a:r>
            <a:endParaRPr lang="en-IN" dirty="0"/>
          </a:p>
          <a:p>
            <a:r>
              <a:rPr lang="en-IN" b="1" dirty="0"/>
              <a:t>7. SoC (System-on-Chip) Design</a:t>
            </a:r>
          </a:p>
          <a:p>
            <a:r>
              <a:rPr lang="en-IN" dirty="0">
                <a:effectLst/>
              </a:rPr>
              <a:t>Integrates CPU, GPU, memory, and peripherals on one chip.</a:t>
            </a:r>
            <a:endParaRPr lang="en-IN" dirty="0"/>
          </a:p>
          <a:p>
            <a:r>
              <a:rPr lang="en-IN" dirty="0">
                <a:effectLst/>
              </a:rPr>
              <a:t>Example: Smartphone processors (Qualcomm Snapdragon, Apple A-series).</a:t>
            </a:r>
            <a:endParaRPr lang="en-IN" dirty="0"/>
          </a:p>
          <a:p>
            <a:r>
              <a:rPr lang="en-IN" b="1" dirty="0"/>
              <a:t>8. FPGA Design</a:t>
            </a:r>
          </a:p>
          <a:p>
            <a:r>
              <a:rPr lang="en-IN" dirty="0">
                <a:effectLst/>
              </a:rPr>
              <a:t>Field-Programmable Gate Arrays: reconfigurable chips.</a:t>
            </a:r>
            <a:endParaRPr lang="en-IN" dirty="0"/>
          </a:p>
          <a:p>
            <a:r>
              <a:rPr lang="en-IN" dirty="0">
                <a:effectLst/>
              </a:rPr>
              <a:t>Used for prototyping, research, and specialized applications.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2196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1E527-81EA-03FF-A91C-44CED1D0C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Design Flow Stages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72968-CE8F-DE87-7BDB-68E3F06BF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Design Flow Stages</a:t>
            </a:r>
          </a:p>
          <a:p>
            <a:r>
              <a:rPr lang="en-IN" b="1" dirty="0">
                <a:effectLst/>
              </a:rPr>
              <a:t>Specification → Architecture → RTL coding → Verification → Physical design → Fabrication → Testing.</a:t>
            </a:r>
            <a:endParaRPr lang="en-IN" dirty="0"/>
          </a:p>
          <a:p>
            <a:r>
              <a:rPr lang="en-IN" dirty="0">
                <a:effectLst/>
              </a:rPr>
              <a:t>Each type of chip design emphasizes different parts of this flow (e.g., </a:t>
            </a:r>
            <a:r>
              <a:rPr lang="en-IN" dirty="0" err="1">
                <a:effectLst/>
              </a:rPr>
              <a:t>analog</a:t>
            </a:r>
            <a:r>
              <a:rPr lang="en-IN" dirty="0">
                <a:effectLst/>
              </a:rPr>
              <a:t> design spends more time on simulation and layout, digital design on logic verification).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1410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78CC0-A83E-2273-100C-9ADC3FAD2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C</a:t>
            </a:r>
            <a:r>
              <a:rPr lang="en-IN" sz="5400" b="1" dirty="0"/>
              <a:t>PU,GPU, VPU</a:t>
            </a:r>
            <a:endParaRPr lang="en-IN" sz="54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9C781A-821F-0A39-8023-F3747BBAE8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0261791"/>
              </p:ext>
            </p:extLst>
          </p:nvPr>
        </p:nvGraphicFramePr>
        <p:xfrm>
          <a:off x="838200" y="1509823"/>
          <a:ext cx="10515600" cy="5348176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77988548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5092138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7577196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95418993"/>
                    </a:ext>
                  </a:extLst>
                </a:gridCol>
              </a:tblGrid>
              <a:tr h="6291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Processor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Full 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Main Role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9281046"/>
                  </a:ext>
                </a:extLst>
              </a:tr>
              <a:tr h="1572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CPU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Central Processing Unit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General-purpose computing, logic, control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Running operating systems, apps, calculations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860446"/>
                  </a:ext>
                </a:extLst>
              </a:tr>
              <a:tr h="1572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GPU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Graphics Processing Unit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Parallel processing, graphics rendering, AI acceleration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Gaming, 3D rendering, machine learning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5374540"/>
                  </a:ext>
                </a:extLst>
              </a:tr>
              <a:tr h="1572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VPU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Vision Processing Unit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Specialized for image and video processing, computer vision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Object detection, facial recognition, autonomous driving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33325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7555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061C7-007B-2CD2-6D03-B23ACE8CF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04306-995A-6D39-18C1-70B0342AE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b="1" dirty="0"/>
              <a:t>What is a VPU?</a:t>
            </a:r>
          </a:p>
          <a:p>
            <a:r>
              <a:rPr lang="en-IN" dirty="0">
                <a:effectLst/>
              </a:rPr>
              <a:t>A </a:t>
            </a:r>
            <a:r>
              <a:rPr lang="en-IN" b="1" dirty="0">
                <a:effectLst/>
              </a:rPr>
              <a:t>VPU</a:t>
            </a:r>
            <a:r>
              <a:rPr lang="en-IN" dirty="0">
                <a:effectLst/>
              </a:rPr>
              <a:t> is designed specifically for </a:t>
            </a:r>
            <a:r>
              <a:rPr lang="en-IN" b="1" dirty="0">
                <a:effectLst/>
              </a:rPr>
              <a:t>computer vision tasks</a:t>
            </a:r>
            <a:r>
              <a:rPr lang="en-IN" dirty="0">
                <a:effectLst/>
              </a:rPr>
              <a:t>.</a:t>
            </a:r>
            <a:endParaRPr lang="en-IN" dirty="0"/>
          </a:p>
          <a:p>
            <a:r>
              <a:rPr lang="en-IN" dirty="0">
                <a:effectLst/>
              </a:rPr>
              <a:t>It handles workloads like image recognition, depth sensing, and video analytics more efficiently than CPUs or GPUs.</a:t>
            </a:r>
            <a:endParaRPr lang="en-IN" dirty="0"/>
          </a:p>
          <a:p>
            <a:r>
              <a:rPr lang="en-IN" dirty="0">
                <a:effectLst/>
              </a:rPr>
              <a:t>Examples: Intel’s </a:t>
            </a:r>
            <a:r>
              <a:rPr lang="en-IN" b="1" dirty="0" err="1">
                <a:effectLst/>
              </a:rPr>
              <a:t>Movidius</a:t>
            </a:r>
            <a:r>
              <a:rPr lang="en-IN" b="1" dirty="0">
                <a:effectLst/>
              </a:rPr>
              <a:t> Myriad VPU</a:t>
            </a:r>
            <a:r>
              <a:rPr lang="en-IN" dirty="0">
                <a:effectLst/>
              </a:rPr>
              <a:t>, Google’s </a:t>
            </a:r>
            <a:r>
              <a:rPr lang="en-IN" b="1" dirty="0">
                <a:effectLst/>
              </a:rPr>
              <a:t>Edge TPU</a:t>
            </a:r>
            <a:r>
              <a:rPr lang="en-IN" dirty="0">
                <a:effectLst/>
              </a:rPr>
              <a:t> (similar concept).</a:t>
            </a:r>
            <a:endParaRPr lang="en-IN" dirty="0"/>
          </a:p>
          <a:p>
            <a:r>
              <a:rPr lang="en-IN" dirty="0">
                <a:effectLst/>
              </a:rPr>
              <a:t>Used in drones, smart cameras, AR/VR devices, and autonomous vehicles.</a:t>
            </a:r>
            <a:endParaRPr lang="en-IN" dirty="0"/>
          </a:p>
          <a:p>
            <a:r>
              <a:rPr lang="en-IN" b="1" dirty="0"/>
              <a:t>📌 Key Difference</a:t>
            </a:r>
          </a:p>
          <a:p>
            <a:r>
              <a:rPr lang="en-IN" b="1" dirty="0">
                <a:effectLst/>
              </a:rPr>
              <a:t>CPU</a:t>
            </a:r>
            <a:r>
              <a:rPr lang="en-IN" dirty="0">
                <a:effectLst/>
              </a:rPr>
              <a:t> = versatile, can do everything but not specialized.</a:t>
            </a:r>
            <a:endParaRPr lang="en-IN" dirty="0"/>
          </a:p>
          <a:p>
            <a:r>
              <a:rPr lang="en-IN" b="1" dirty="0">
                <a:effectLst/>
              </a:rPr>
              <a:t>GPU</a:t>
            </a:r>
            <a:r>
              <a:rPr lang="en-IN" dirty="0">
                <a:effectLst/>
              </a:rPr>
              <a:t> = excels at parallel math (graphics, AI).</a:t>
            </a:r>
            <a:endParaRPr lang="en-IN" dirty="0"/>
          </a:p>
          <a:p>
            <a:r>
              <a:rPr lang="en-IN" b="1" dirty="0">
                <a:effectLst/>
              </a:rPr>
              <a:t>VPU</a:t>
            </a:r>
            <a:r>
              <a:rPr lang="en-IN" dirty="0">
                <a:effectLst/>
              </a:rPr>
              <a:t> = optimized for vision and perception tasks, often with lower power consumption.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0112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823D1-9277-17DA-4DD6-EE46BCB3E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VPU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2EEC5-3CDB-752E-793B-5919FDA0A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effectLst/>
              </a:rPr>
              <a:t>VPUs exist — they’re part of the new wave of </a:t>
            </a:r>
            <a:r>
              <a:rPr lang="en-IN" b="1" dirty="0">
                <a:effectLst/>
              </a:rPr>
              <a:t>domain-specific processors</a:t>
            </a:r>
            <a:r>
              <a:rPr lang="en-IN" dirty="0">
                <a:effectLst/>
              </a:rPr>
              <a:t> alongside NPUs (Neural Processing Units) and TPUs (Tensor Processing Units).</a:t>
            </a:r>
            <a:endParaRPr lang="en-IN" dirty="0"/>
          </a:p>
          <a:p>
            <a:r>
              <a:rPr lang="en-IN" dirty="0">
                <a:effectLst/>
              </a:rPr>
              <a:t>👉 Since you’re watching linear algebra videos right now, it’s worth noting: </a:t>
            </a:r>
            <a:r>
              <a:rPr lang="en-IN" b="1" dirty="0">
                <a:effectLst/>
              </a:rPr>
              <a:t>matrix operations (linear algebra) are the backbone of GPU and VPU workloads</a:t>
            </a:r>
            <a:r>
              <a:rPr lang="en-IN" dirty="0">
                <a:effectLst/>
              </a:rPr>
              <a:t>. Would you like me to show you how linear algebra directly powers image recognition in VPUs?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3274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363C9-08F4-B14B-0409-4BA0AA03A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6958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Role of VPUs in Autonomous Vehicles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13432-1D7C-E7B1-AD78-AC8380C2F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9582"/>
            <a:ext cx="10515600" cy="5528930"/>
          </a:xfrm>
        </p:spPr>
        <p:txBody>
          <a:bodyPr>
            <a:normAutofit lnSpcReduction="10000"/>
          </a:bodyPr>
          <a:lstStyle/>
          <a:p>
            <a:r>
              <a:rPr lang="en-IN" b="1" dirty="0">
                <a:effectLst/>
              </a:rPr>
              <a:t>Computer Vision Tasks:</a:t>
            </a:r>
            <a:r>
              <a:rPr lang="en-IN" dirty="0">
                <a:effectLst/>
              </a:rPr>
              <a:t> VPUs are optimized for image and video processing. In cars, they handle real‑time tasks like:</a:t>
            </a:r>
            <a:endParaRPr lang="en-IN" dirty="0"/>
          </a:p>
          <a:p>
            <a:pPr lvl="1"/>
            <a:r>
              <a:rPr lang="en-IN" dirty="0">
                <a:effectLst/>
              </a:rPr>
              <a:t>Lane detection</a:t>
            </a:r>
            <a:endParaRPr lang="en-IN" dirty="0"/>
          </a:p>
          <a:p>
            <a:pPr lvl="1"/>
            <a:r>
              <a:rPr lang="en-IN" dirty="0">
                <a:effectLst/>
              </a:rPr>
              <a:t>Traffic sign recognition</a:t>
            </a:r>
            <a:endParaRPr lang="en-IN" dirty="0"/>
          </a:p>
          <a:p>
            <a:pPr lvl="1"/>
            <a:r>
              <a:rPr lang="en-IN" dirty="0">
                <a:effectLst/>
              </a:rPr>
              <a:t>Pedestrian and cyclist detection</a:t>
            </a:r>
            <a:endParaRPr lang="en-IN" dirty="0"/>
          </a:p>
          <a:p>
            <a:pPr lvl="1"/>
            <a:r>
              <a:rPr lang="en-IN" dirty="0">
                <a:effectLst/>
              </a:rPr>
              <a:t>Object classification (cars, trucks, obstacles)</a:t>
            </a:r>
            <a:endParaRPr lang="en-IN" dirty="0"/>
          </a:p>
          <a:p>
            <a:r>
              <a:rPr lang="en-IN" b="1" dirty="0">
                <a:effectLst/>
              </a:rPr>
              <a:t>Efficiency:</a:t>
            </a:r>
            <a:r>
              <a:rPr lang="en-IN" dirty="0">
                <a:effectLst/>
              </a:rPr>
              <a:t> VPUs consume less power than GPUs while still delivering high throughput for vision workloads. This is important in cars where energy efficiency matters.</a:t>
            </a:r>
            <a:endParaRPr lang="en-IN" dirty="0"/>
          </a:p>
          <a:p>
            <a:r>
              <a:rPr lang="en-IN" b="1" dirty="0">
                <a:effectLst/>
              </a:rPr>
              <a:t>Integration:</a:t>
            </a:r>
            <a:r>
              <a:rPr lang="en-IN" dirty="0">
                <a:effectLst/>
              </a:rPr>
              <a:t> VPUs are often paired with CPUs and GPUs in </a:t>
            </a:r>
            <a:r>
              <a:rPr lang="en-IN" b="1" dirty="0">
                <a:effectLst/>
              </a:rPr>
              <a:t>heterogeneous computing systems</a:t>
            </a:r>
            <a:r>
              <a:rPr lang="en-IN" dirty="0">
                <a:effectLst/>
              </a:rPr>
              <a:t> inside autonomous vehicles.</a:t>
            </a:r>
            <a:endParaRPr lang="en-IN" dirty="0"/>
          </a:p>
          <a:p>
            <a:pPr lvl="1"/>
            <a:r>
              <a:rPr lang="en-IN" b="1" dirty="0">
                <a:effectLst/>
              </a:rPr>
              <a:t>CPU:</a:t>
            </a:r>
            <a:r>
              <a:rPr lang="en-IN" dirty="0">
                <a:effectLst/>
              </a:rPr>
              <a:t> General control logic, decision making.</a:t>
            </a:r>
            <a:endParaRPr lang="en-IN" dirty="0"/>
          </a:p>
          <a:p>
            <a:pPr lvl="1"/>
            <a:r>
              <a:rPr lang="en-IN" b="1" dirty="0">
                <a:effectLst/>
              </a:rPr>
              <a:t>GPU:</a:t>
            </a:r>
            <a:r>
              <a:rPr lang="en-IN" dirty="0">
                <a:effectLst/>
              </a:rPr>
              <a:t> Heavy parallel math (AI models, sensor fusion).</a:t>
            </a:r>
            <a:endParaRPr lang="en-IN" dirty="0"/>
          </a:p>
          <a:p>
            <a:pPr lvl="1"/>
            <a:r>
              <a:rPr lang="en-IN" b="1" dirty="0">
                <a:effectLst/>
              </a:rPr>
              <a:t>VPU:</a:t>
            </a:r>
            <a:r>
              <a:rPr lang="en-IN" dirty="0">
                <a:effectLst/>
              </a:rPr>
              <a:t> Specialized vision inference, especially for camera feeds.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5287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DF43C-1CA4-96F2-AAB1-308DA1E53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192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Examples in Automotive Use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56C0B-AF17-B2C6-A7C2-B9D33B196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7052"/>
            <a:ext cx="10515600" cy="5550195"/>
          </a:xfrm>
        </p:spPr>
        <p:txBody>
          <a:bodyPr>
            <a:normAutofit lnSpcReduction="10000"/>
          </a:bodyPr>
          <a:lstStyle/>
          <a:p>
            <a:r>
              <a:rPr lang="en-IN" b="1" dirty="0">
                <a:effectLst/>
              </a:rPr>
              <a:t>Intel </a:t>
            </a:r>
            <a:r>
              <a:rPr lang="en-IN" b="1" dirty="0" err="1">
                <a:effectLst/>
              </a:rPr>
              <a:t>Movidius</a:t>
            </a:r>
            <a:r>
              <a:rPr lang="en-IN" b="1" dirty="0">
                <a:effectLst/>
              </a:rPr>
              <a:t> Myriad VPU</a:t>
            </a:r>
            <a:r>
              <a:rPr lang="en-IN" dirty="0">
                <a:effectLst/>
              </a:rPr>
              <a:t> has been used in drones and automotive vision systems.</a:t>
            </a:r>
            <a:endParaRPr lang="en-IN" dirty="0"/>
          </a:p>
          <a:p>
            <a:r>
              <a:rPr lang="en-IN" b="1" dirty="0">
                <a:effectLst/>
              </a:rPr>
              <a:t>Mobileye (owned by Intel)</a:t>
            </a:r>
            <a:r>
              <a:rPr lang="en-IN" dirty="0">
                <a:effectLst/>
              </a:rPr>
              <a:t> integrates vision processors for advanced driver‑assistance systems (ADAS) and autonomous driving.</a:t>
            </a:r>
            <a:endParaRPr lang="en-IN" dirty="0"/>
          </a:p>
          <a:p>
            <a:r>
              <a:rPr lang="en-IN" dirty="0">
                <a:effectLst/>
              </a:rPr>
              <a:t>VPUs help process multiple camera streams simultaneously — critical for 360° awareness in cars.</a:t>
            </a:r>
            <a:endParaRPr lang="en-IN" dirty="0"/>
          </a:p>
          <a:p>
            <a:r>
              <a:rPr lang="en-IN" b="1" dirty="0"/>
              <a:t>⚖️ Why Not Just GPU?</a:t>
            </a:r>
          </a:p>
          <a:p>
            <a:r>
              <a:rPr lang="en-IN" dirty="0">
                <a:effectLst/>
              </a:rPr>
              <a:t>GPUs are powerful but power‑hungry.</a:t>
            </a:r>
            <a:endParaRPr lang="en-IN" dirty="0"/>
          </a:p>
          <a:p>
            <a:r>
              <a:rPr lang="en-IN" dirty="0">
                <a:effectLst/>
              </a:rPr>
              <a:t>VPUs are </a:t>
            </a:r>
            <a:r>
              <a:rPr lang="en-IN" b="1" dirty="0">
                <a:effectLst/>
              </a:rPr>
              <a:t>lighter, more efficient, and specialized</a:t>
            </a:r>
            <a:r>
              <a:rPr lang="en-IN" dirty="0">
                <a:effectLst/>
              </a:rPr>
              <a:t> for vision, making them ideal for embedded automotive systems where thermal and energy constraints exist.</a:t>
            </a:r>
            <a:endParaRPr lang="en-IN" dirty="0"/>
          </a:p>
          <a:p>
            <a:r>
              <a:rPr lang="en-IN" dirty="0">
                <a:effectLst/>
              </a:rPr>
              <a:t>So yes, VPUs are a </a:t>
            </a:r>
            <a:r>
              <a:rPr lang="en-IN" b="1" dirty="0">
                <a:effectLst/>
              </a:rPr>
              <a:t>key part of autonomous car software</a:t>
            </a:r>
            <a:r>
              <a:rPr lang="en-IN" dirty="0">
                <a:effectLst/>
              </a:rPr>
              <a:t>, working alongside CPUs and GPUs to deliver safe, real‑time perception.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3940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C0D80-BF32-E6FE-5282-74F772097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effectLst/>
              </a:rPr>
              <a:t>Matrix operations (linear algebra)</a:t>
            </a:r>
            <a:r>
              <a:rPr lang="en-IN" dirty="0">
                <a:effectLst/>
              </a:rPr>
              <a:t> form the mathematical backbone of what </a:t>
            </a:r>
            <a:r>
              <a:rPr lang="en-IN" b="1" dirty="0">
                <a:effectLst/>
              </a:rPr>
              <a:t>VPUs (Vision Processing Units)</a:t>
            </a:r>
            <a:r>
              <a:rPr lang="en-IN" dirty="0">
                <a:effectLst/>
              </a:rPr>
              <a:t> do in autonomous car systems: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A2ABA-9C2E-8197-9F28-5E12C484E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1. Images as Matrices</a:t>
            </a:r>
          </a:p>
          <a:p>
            <a:r>
              <a:rPr lang="en-IN" dirty="0">
                <a:effectLst/>
              </a:rPr>
              <a:t>A digital image is essentially a </a:t>
            </a:r>
            <a:r>
              <a:rPr lang="en-IN" b="1" dirty="0">
                <a:effectLst/>
              </a:rPr>
              <a:t>matrix of pixel values</a:t>
            </a:r>
            <a:r>
              <a:rPr lang="en-IN" dirty="0">
                <a:effectLst/>
              </a:rPr>
              <a:t>.</a:t>
            </a:r>
            <a:endParaRPr lang="en-IN" dirty="0"/>
          </a:p>
          <a:p>
            <a:pPr lvl="1"/>
            <a:r>
              <a:rPr lang="en-IN" dirty="0">
                <a:effectLst/>
              </a:rPr>
              <a:t>Example: A grayscale image = matrix of intensity values.</a:t>
            </a:r>
            <a:endParaRPr lang="en-IN" dirty="0"/>
          </a:p>
          <a:p>
            <a:pPr lvl="1"/>
            <a:r>
              <a:rPr lang="en-IN" dirty="0">
                <a:effectLst/>
              </a:rPr>
              <a:t>A </a:t>
            </a:r>
            <a:r>
              <a:rPr lang="en-IN" dirty="0" err="1">
                <a:effectLst/>
              </a:rPr>
              <a:t>color</a:t>
            </a:r>
            <a:r>
              <a:rPr lang="en-IN" dirty="0">
                <a:effectLst/>
              </a:rPr>
              <a:t> image = three matrices (R, G, B channels).</a:t>
            </a:r>
            <a:endParaRPr lang="en-IN" dirty="0"/>
          </a:p>
          <a:p>
            <a:r>
              <a:rPr lang="en-IN" dirty="0">
                <a:effectLst/>
              </a:rPr>
              <a:t>VPUs process these matrices in real time from car cameras.</a:t>
            </a:r>
            <a:endParaRPr lang="en-IN" dirty="0"/>
          </a:p>
          <a:p>
            <a:r>
              <a:rPr lang="en-IN" b="1" dirty="0"/>
              <a:t>🔄 2. Convolution (Matrix Multiplication)</a:t>
            </a:r>
          </a:p>
          <a:p>
            <a:r>
              <a:rPr lang="en-IN" dirty="0">
                <a:effectLst/>
              </a:rPr>
              <a:t>Core of computer vision = </a:t>
            </a:r>
            <a:r>
              <a:rPr lang="en-IN" b="1" dirty="0">
                <a:effectLst/>
              </a:rPr>
              <a:t>convolutional neural networks (CNNs)</a:t>
            </a:r>
            <a:r>
              <a:rPr lang="en-IN" dirty="0">
                <a:effectLst/>
              </a:rPr>
              <a:t>.</a:t>
            </a:r>
            <a:endParaRPr lang="en-IN" dirty="0"/>
          </a:p>
          <a:p>
            <a:r>
              <a:rPr lang="en-IN" dirty="0">
                <a:effectLst/>
              </a:rPr>
              <a:t>Convolution = sliding a small matrix (filter/kernel) over the image matrix.</a:t>
            </a:r>
            <a:endParaRPr lang="en-IN" dirty="0"/>
          </a:p>
          <a:p>
            <a:r>
              <a:rPr lang="en-IN" dirty="0">
                <a:effectLst/>
              </a:rPr>
              <a:t>Mathematically: multiply and sum values → detect edges, shapes, patterns.</a:t>
            </a:r>
            <a:endParaRPr lang="en-IN" dirty="0"/>
          </a:p>
          <a:p>
            <a:r>
              <a:rPr lang="en-IN" dirty="0">
                <a:effectLst/>
              </a:rPr>
              <a:t>VPUs accelerate these convolution operations massively.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3902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F270A-2AAC-F573-9CA5-F3BCDD62B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556420-A07D-B4BE-A7D5-BF4BBD2202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IN" b="1" dirty="0"/>
                  <a:t>3. Linear Algebra in Neural Networks</a:t>
                </a:r>
              </a:p>
              <a:p>
                <a:r>
                  <a:rPr lang="en-IN" dirty="0">
                    <a:effectLst/>
                  </a:rPr>
                  <a:t>Each layer of a CNN is essentially </a:t>
                </a:r>
                <a:r>
                  <a:rPr lang="en-IN" b="1" dirty="0">
                    <a:effectLst/>
                  </a:rPr>
                  <a:t>matrix multiplication</a:t>
                </a:r>
                <a:r>
                  <a:rPr lang="en-IN" dirty="0">
                    <a:effectLst/>
                  </a:rPr>
                  <a:t>:</a:t>
                </a:r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 b="1"/>
                      <m:t>𝐲</m:t>
                    </m:r>
                    <m:r>
                      <a:rPr lang="en-IN"/>
                      <m:t>=</m:t>
                    </m:r>
                    <m:r>
                      <a:rPr lang="en-IN" b="1"/>
                      <m:t>𝐖</m:t>
                    </m:r>
                    <m:r>
                      <a:rPr lang="en-IN"/>
                      <m:t>⋅</m:t>
                    </m:r>
                    <m:r>
                      <a:rPr lang="en-IN" b="1"/>
                      <m:t>𝐱</m:t>
                    </m:r>
                    <m:r>
                      <a:rPr lang="en-IN"/>
                      <m:t>+</m:t>
                    </m:r>
                    <m:r>
                      <a:rPr lang="en-IN" b="1"/>
                      <m:t>𝐛</m:t>
                    </m:r>
                  </m:oMath>
                </a14:m>
                <a:endParaRPr lang="en-IN" b="1" dirty="0"/>
              </a:p>
              <a:p>
                <a14:m>
                  <m:oMath xmlns:m="http://schemas.openxmlformats.org/officeDocument/2006/math">
                    <m:r>
                      <a:rPr lang="en-IN" b="1"/>
                      <m:t>𝐱</m:t>
                    </m:r>
                  </m:oMath>
                </a14:m>
                <a:r>
                  <a:rPr lang="en-IN" dirty="0">
                    <a:effectLst/>
                  </a:rPr>
                  <a:t>= input vector (pixels/features)</a:t>
                </a:r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 b="1"/>
                      <m:t>𝐖</m:t>
                    </m:r>
                  </m:oMath>
                </a14:m>
                <a:r>
                  <a:rPr lang="en-IN" dirty="0">
                    <a:effectLst/>
                  </a:rPr>
                  <a:t>= weight matrix (learned filters)</a:t>
                </a:r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 b="1"/>
                      <m:t>𝐲</m:t>
                    </m:r>
                  </m:oMath>
                </a14:m>
                <a:r>
                  <a:rPr lang="en-IN" dirty="0">
                    <a:effectLst/>
                  </a:rPr>
                  <a:t>= output (feature map, classification)</a:t>
                </a:r>
                <a:endParaRPr lang="en-IN" dirty="0"/>
              </a:p>
              <a:p>
                <a:r>
                  <a:rPr lang="en-IN" dirty="0">
                    <a:effectLst/>
                  </a:rPr>
                  <a:t>VPUs are optimized to run these multiplications quickly and efficiently.</a:t>
                </a:r>
                <a:endParaRPr lang="en-IN" dirty="0"/>
              </a:p>
              <a:p>
                <a:r>
                  <a:rPr lang="en-IN" b="1" dirty="0"/>
                  <a:t>🚘 4. Application in Autonomous Cars</a:t>
                </a:r>
              </a:p>
              <a:p>
                <a:r>
                  <a:rPr lang="en-IN" b="1" dirty="0">
                    <a:effectLst/>
                  </a:rPr>
                  <a:t>Lane detection:</a:t>
                </a:r>
                <a:r>
                  <a:rPr lang="en-IN" dirty="0">
                    <a:effectLst/>
                  </a:rPr>
                  <a:t> Convolution filters highlight lane markings.</a:t>
                </a:r>
                <a:endParaRPr lang="en-IN" dirty="0"/>
              </a:p>
              <a:p>
                <a:r>
                  <a:rPr lang="en-IN" b="1" dirty="0">
                    <a:effectLst/>
                  </a:rPr>
                  <a:t>Pedestrian recognition:</a:t>
                </a:r>
                <a:r>
                  <a:rPr lang="en-IN" dirty="0">
                    <a:effectLst/>
                  </a:rPr>
                  <a:t> CNN layers classify human shapes in matrices.</a:t>
                </a:r>
                <a:endParaRPr lang="en-IN" dirty="0"/>
              </a:p>
              <a:p>
                <a:r>
                  <a:rPr lang="en-IN" b="1" dirty="0">
                    <a:effectLst/>
                  </a:rPr>
                  <a:t>Traffic sign recognition:</a:t>
                </a:r>
                <a:r>
                  <a:rPr lang="en-IN" dirty="0">
                    <a:effectLst/>
                  </a:rPr>
                  <a:t> Matrix multiplications extract features and match them to known patterns.</a:t>
                </a:r>
                <a:endParaRPr lang="en-IN" dirty="0"/>
              </a:p>
              <a:p>
                <a:r>
                  <a:rPr lang="en-IN" b="1" dirty="0">
                    <a:effectLst/>
                  </a:rPr>
                  <a:t>Sensor fusion:</a:t>
                </a:r>
                <a:r>
                  <a:rPr lang="en-IN" dirty="0">
                    <a:effectLst/>
                  </a:rPr>
                  <a:t> Multiple camera matrices are combined with LiDAR/radar data using linear algebra.</a:t>
                </a:r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556420-A07D-B4BE-A7D5-BF4BBD2202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696" t="-24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4111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41A38-65E7-DFC8-F1C9-5F32B26C3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VPUs?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72F04-9748-8BC6-E33E-989EBACAF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Why VPUs?</a:t>
            </a:r>
          </a:p>
          <a:p>
            <a:r>
              <a:rPr lang="en-IN" dirty="0">
                <a:effectLst/>
              </a:rPr>
              <a:t>GPUs can do this too, but VPUs are </a:t>
            </a:r>
            <a:r>
              <a:rPr lang="en-IN" b="1" dirty="0">
                <a:effectLst/>
              </a:rPr>
              <a:t>specialized</a:t>
            </a:r>
            <a:r>
              <a:rPr lang="en-IN" dirty="0">
                <a:effectLst/>
              </a:rPr>
              <a:t>:</a:t>
            </a:r>
            <a:endParaRPr lang="en-IN" dirty="0"/>
          </a:p>
          <a:p>
            <a:pPr lvl="1"/>
            <a:r>
              <a:rPr lang="en-IN" dirty="0">
                <a:effectLst/>
              </a:rPr>
              <a:t>Lower power consumption.</a:t>
            </a:r>
            <a:endParaRPr lang="en-IN" dirty="0"/>
          </a:p>
          <a:p>
            <a:pPr lvl="1"/>
            <a:r>
              <a:rPr lang="en-IN" dirty="0">
                <a:effectLst/>
              </a:rPr>
              <a:t>Optimized for vision workloads (matrix ops on images).</a:t>
            </a:r>
            <a:endParaRPr lang="en-IN" dirty="0"/>
          </a:p>
          <a:p>
            <a:pPr lvl="1"/>
            <a:r>
              <a:rPr lang="en-IN" dirty="0">
                <a:effectLst/>
              </a:rPr>
              <a:t>Ideal for embedded automotive systems.</a:t>
            </a:r>
            <a:endParaRPr lang="en-IN" dirty="0"/>
          </a:p>
          <a:p>
            <a:r>
              <a:rPr lang="en-IN" dirty="0">
                <a:effectLst/>
              </a:rPr>
              <a:t>So, every time a self‑driving car’s camera “sees” something, the VPU is crunching </a:t>
            </a:r>
            <a:r>
              <a:rPr lang="en-IN" b="1" dirty="0">
                <a:effectLst/>
              </a:rPr>
              <a:t>matrix multiplications and convolutions</a:t>
            </a:r>
            <a:r>
              <a:rPr lang="en-IN" dirty="0">
                <a:effectLst/>
              </a:rPr>
              <a:t> to turn raw pixels into meaningful perception — all powered by the linear algebra you’re studying.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75155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0FECB-CF2F-AB16-0DC1-3951D1F1A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Dot Product → Detecting Lane Markings</a:t>
            </a:r>
            <a:br>
              <a:rPr lang="en-IN" b="1" dirty="0"/>
            </a:b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DC834A-DA11-6EF2-E64A-89560699DF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3498"/>
                <a:ext cx="10515600" cy="508937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IN" b="1" dirty="0">
                    <a:effectLst/>
                  </a:rPr>
                  <a:t>Concept:</a:t>
                </a:r>
                <a:r>
                  <a:rPr lang="en-IN" dirty="0">
                    <a:effectLst/>
                  </a:rPr>
                  <a:t> The dot product measures how aligned two vectors are.</a:t>
                </a:r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 b="1"/>
                      <m:t>𝐚</m:t>
                    </m:r>
                    <m:r>
                      <a:rPr lang="en-IN"/>
                      <m:t>⋅</m:t>
                    </m:r>
                    <m:r>
                      <a:rPr lang="en-IN" b="1"/>
                      <m:t>𝐛</m:t>
                    </m:r>
                    <m:r>
                      <a:rPr lang="en-IN"/>
                      <m:t>=∥</m:t>
                    </m:r>
                    <m:r>
                      <a:rPr lang="en-IN" b="1"/>
                      <m:t>𝐚</m:t>
                    </m:r>
                    <m:r>
                      <a:rPr lang="en-IN"/>
                      <m:t>∥∥</m:t>
                    </m:r>
                    <m:r>
                      <a:rPr lang="en-IN" b="1"/>
                      <m:t>𝐛</m:t>
                    </m:r>
                    <m:r>
                      <a:rPr lang="en-IN"/>
                      <m:t>∥</m:t>
                    </m:r>
                    <m:func>
                      <m:funcPr>
                        <m:ctrlPr>
                          <a:rPr lang="en-IN" i="1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/>
                          <m:t>cos</m:t>
                        </m:r>
                      </m:fName>
                      <m:e>
                        <m:r>
                          <a:rPr lang="en-IN" i="1"/>
                          <m:t>𝜃</m:t>
                        </m:r>
                      </m:e>
                    </m:func>
                  </m:oMath>
                </a14:m>
                <a:endParaRPr lang="en-IN" b="0" dirty="0"/>
              </a:p>
              <a:p>
                <a:r>
                  <a:rPr lang="en-IN" b="1" dirty="0">
                    <a:effectLst/>
                  </a:rPr>
                  <a:t>In Vision:</a:t>
                </a:r>
                <a:r>
                  <a:rPr lang="en-IN" dirty="0">
                    <a:effectLst/>
                  </a:rPr>
                  <a:t> Imagine the car’s camera captures lane lines as edges in the image. Each edge can be represented as a vector.</a:t>
                </a:r>
                <a:endParaRPr lang="en-IN" dirty="0"/>
              </a:p>
              <a:p>
                <a:r>
                  <a:rPr lang="en-IN" b="1" dirty="0">
                    <a:effectLst/>
                  </a:rPr>
                  <a:t>Task:</a:t>
                </a:r>
                <a:r>
                  <a:rPr lang="en-IN" dirty="0">
                    <a:effectLst/>
                  </a:rPr>
                  <a:t> To detect lanes, the system compares the edge vectors with a “reference direction” (e.g., forward road direction).</a:t>
                </a:r>
                <a:endParaRPr lang="en-IN" dirty="0"/>
              </a:p>
              <a:p>
                <a:r>
                  <a:rPr lang="en-IN" b="1" dirty="0">
                    <a:effectLst/>
                  </a:rPr>
                  <a:t>Result:</a:t>
                </a:r>
                <a:endParaRPr lang="en-IN" dirty="0"/>
              </a:p>
              <a:p>
                <a:pPr lvl="1"/>
                <a:r>
                  <a:rPr lang="en-IN" dirty="0">
                    <a:effectLst/>
                  </a:rPr>
                  <a:t>If the dot product ≈ 1 → the edge is aligned with the lane direction.</a:t>
                </a:r>
                <a:endParaRPr lang="en-IN" dirty="0"/>
              </a:p>
              <a:p>
                <a:pPr lvl="1"/>
                <a:r>
                  <a:rPr lang="en-IN" dirty="0">
                    <a:effectLst/>
                  </a:rPr>
                  <a:t>If the dot product ≈ 0 → the edge is perpendicular (like a crossing line or obstacle).</a:t>
                </a:r>
                <a:endParaRPr lang="en-IN" dirty="0"/>
              </a:p>
              <a:p>
                <a:r>
                  <a:rPr lang="en-IN" b="1" dirty="0">
                    <a:effectLst/>
                  </a:rPr>
                  <a:t>Why VPUs:</a:t>
                </a:r>
                <a:r>
                  <a:rPr lang="en-IN" dirty="0">
                    <a:effectLst/>
                  </a:rPr>
                  <a:t> They accelerate these dot product calculations across thousands of pixels simultaneously, making lane detection real‑time.</a:t>
                </a:r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DC834A-DA11-6EF2-E64A-89560699DF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3498"/>
                <a:ext cx="10515600" cy="5089377"/>
              </a:xfrm>
              <a:blipFill>
                <a:blip r:embed="rId2"/>
                <a:stretch>
                  <a:fillRect l="-1043" t="-2635" r="-15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50897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9BE94-41C9-1F96-E742-4E52F1700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121"/>
            <a:ext cx="10515600" cy="1020727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Matrix Transformation → Object Recognition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58F2B-2BC5-912C-D5DB-8AA7BB12F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5375"/>
            <a:ext cx="10515600" cy="5592504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Matrix Transformation → Object Recognition</a:t>
            </a:r>
          </a:p>
          <a:p>
            <a:r>
              <a:rPr lang="en-IN" b="1" dirty="0">
                <a:effectLst/>
              </a:rPr>
              <a:t>Concept:</a:t>
            </a:r>
            <a:r>
              <a:rPr lang="en-IN" dirty="0">
                <a:effectLst/>
              </a:rPr>
              <a:t> A transformation matrix rotates, scales, or translates vectors.</a:t>
            </a:r>
            <a:endParaRPr lang="en-IN" dirty="0"/>
          </a:p>
          <a:p>
            <a:r>
              <a:rPr lang="en-IN" b="1" dirty="0">
                <a:effectLst/>
              </a:rPr>
              <a:t>In Vision:</a:t>
            </a:r>
            <a:r>
              <a:rPr lang="en-IN" dirty="0">
                <a:effectLst/>
              </a:rPr>
              <a:t> When a pedestrian appears at different angles or scales, the system applies transformation matrices to normalize the image.</a:t>
            </a:r>
            <a:endParaRPr lang="en-IN" dirty="0"/>
          </a:p>
          <a:p>
            <a:r>
              <a:rPr lang="en-IN" b="1" dirty="0">
                <a:effectLst/>
              </a:rPr>
              <a:t>Task:</a:t>
            </a:r>
            <a:r>
              <a:rPr lang="en-IN" dirty="0">
                <a:effectLst/>
              </a:rPr>
              <a:t> VPUs use these transformations so the neural network can recognize “pedestrian” regardless of position, size, or orientation.</a:t>
            </a:r>
            <a:endParaRPr lang="en-IN" dirty="0"/>
          </a:p>
          <a:p>
            <a:r>
              <a:rPr lang="en-IN" b="1" dirty="0">
                <a:effectLst/>
              </a:rPr>
              <a:t>Result:</a:t>
            </a:r>
            <a:r>
              <a:rPr lang="en-IN" dirty="0">
                <a:effectLst/>
              </a:rPr>
              <a:t> Robust recognition even if the person is far away, close up, or partially rotated.</a:t>
            </a:r>
            <a:endParaRPr lang="en-IN" dirty="0"/>
          </a:p>
          <a:p>
            <a:r>
              <a:rPr lang="en-IN" b="1" dirty="0"/>
              <a:t>🚘 Why This Matters in Cars</a:t>
            </a:r>
          </a:p>
          <a:p>
            <a:r>
              <a:rPr lang="en-IN" b="1" dirty="0">
                <a:effectLst/>
              </a:rPr>
              <a:t>Dot product:</a:t>
            </a:r>
            <a:r>
              <a:rPr lang="en-IN" dirty="0">
                <a:effectLst/>
              </a:rPr>
              <a:t> Helps align features like lanes, road edges, and vehicle orientation.</a:t>
            </a:r>
            <a:endParaRPr lang="en-IN" dirty="0"/>
          </a:p>
          <a:p>
            <a:r>
              <a:rPr lang="en-IN" b="1" dirty="0">
                <a:effectLst/>
              </a:rPr>
              <a:t>Transformations:</a:t>
            </a:r>
            <a:r>
              <a:rPr lang="en-IN" dirty="0">
                <a:effectLst/>
              </a:rPr>
              <a:t> Normalize objects for consistent recognition.</a:t>
            </a:r>
            <a:endParaRPr lang="en-IN" dirty="0"/>
          </a:p>
          <a:p>
            <a:r>
              <a:rPr lang="en-IN" dirty="0">
                <a:effectLst/>
              </a:rPr>
              <a:t>Together, these linear algebra operations are the </a:t>
            </a:r>
            <a:r>
              <a:rPr lang="en-IN" b="1" dirty="0">
                <a:effectLst/>
              </a:rPr>
              <a:t>mathematical backbone</a:t>
            </a:r>
            <a:r>
              <a:rPr lang="en-IN" dirty="0">
                <a:effectLst/>
              </a:rPr>
              <a:t> of perception in autonomous driving — and VPUs are specialized to crunch them efficiently.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2694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1412</Words>
  <Application>Microsoft Office PowerPoint</Application>
  <PresentationFormat>Widescreen</PresentationFormat>
  <Paragraphs>133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Chip Design</vt:lpstr>
      <vt:lpstr>Types of Chip Design</vt:lpstr>
      <vt:lpstr>Types of Chip Design</vt:lpstr>
      <vt:lpstr>Types of Chip Design</vt:lpstr>
      <vt:lpstr>Design Flow Stages </vt:lpstr>
      <vt:lpstr>CPU,GPU, VPU</vt:lpstr>
      <vt:lpstr>PowerPoint Presentation</vt:lpstr>
      <vt:lpstr>VPU</vt:lpstr>
      <vt:lpstr>Role of VPUs in Autonomous Vehicles </vt:lpstr>
      <vt:lpstr>Examples in Automotive Use </vt:lpstr>
      <vt:lpstr>Matrix operations (linear algebra) form the mathematical backbone of what VPUs (Vision Processing Units) do in autonomous car systems: </vt:lpstr>
      <vt:lpstr>PowerPoint Presentation</vt:lpstr>
      <vt:lpstr>Why VPUs? </vt:lpstr>
      <vt:lpstr>Dot Product → Detecting Lane Markings </vt:lpstr>
      <vt:lpstr>Matrix Transformation → Object Recognition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Bon Pro</dc:creator>
  <cp:lastModifiedBy>Bon Pro</cp:lastModifiedBy>
  <cp:revision>5</cp:revision>
  <dcterms:created xsi:type="dcterms:W3CDTF">2026-07-14T00:54:45Z</dcterms:created>
  <dcterms:modified xsi:type="dcterms:W3CDTF">2026-07-14T01:58:45Z</dcterms:modified>
</cp:coreProperties>
</file>