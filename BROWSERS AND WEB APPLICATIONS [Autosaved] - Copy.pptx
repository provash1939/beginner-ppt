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4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AD91-7C3B-80CD-C5B4-D1C519310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1BDB5-4372-C759-F91F-F482C52CF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7B5DD-08AA-3BC6-1CC4-592045FD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F5E26-CD31-6066-2AE6-A14D12CD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E73EC-FC4D-74C8-4DC8-08C7A087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7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165C-FC45-2B2D-AB52-26EBE2FF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9EF03-607A-B7ED-8294-E87039A94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EB43-8B9C-698E-94DC-6092DF69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060A6-C441-A6A0-4C84-40CB26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3B11B-46F7-7CCB-021F-1E545079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3FAC-5051-3210-B7DC-7CA2DBA2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A813F-BE4F-D997-F592-FE73CA3DC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BCEDB-0D10-49B9-B79C-E86945A8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C1369-4184-F727-FA17-8208EA58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412D6-B02A-856E-9119-75564E3A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42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CEF7-5942-4A5F-7104-5B9920D6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6C9D0-A836-9A10-5750-5F66B2F5D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7FA58-68B5-3EC1-940C-CE837E537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BF360-3307-D0D8-BAAF-763C1BB5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A82B6-716A-888F-10AD-E636A670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8F01B-F854-AD0D-801D-D39615F0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9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E69D3-E9A1-0C32-B49A-E7DF4EB4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FBA04-1CB8-8A3A-8243-A76A401CD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F4329-46C0-2344-20BE-5B6095C5C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05012-26F3-9B94-8C1F-CBD51AFD3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E4C2E-E924-E88C-E968-55A228439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2706D-2462-D8FB-61D0-3B24FA4A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4ADC7-0CA1-0FF9-3062-758D8519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E992BA-AD57-DBD1-48E8-2329C77D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09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8427-2EF1-3D27-D1A5-198267EF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F7B60-73FA-06D7-EF65-268D87CA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93326-0790-1719-849A-DD64E577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47585-C514-C0E7-2568-CC8DA6CE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133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3026B-7612-AAA9-3079-61AD1959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78F75-99CC-4A76-8D91-CC94CBC6E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E6857-D695-2FCE-1BFE-44DF3B53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18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8BB5-64B8-1D20-8D1B-0D3442CE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F438-E9B5-B914-437F-78D58E4BD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F91EF-EF17-4B04-10FC-675390D72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B3766-CFB9-6929-755A-DB1FDD77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5F580-06A0-580D-6DE0-FCB0CCF2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0D9C3-9A2D-FCC8-7290-21CAC1C0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58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F810-5107-0F1D-14A3-7EE7260E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CABE2-C730-1C9C-0FB7-498B1EEAE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D0238-672B-B3DB-8513-41ACC7269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52C9A-049F-85E0-FF39-E72E11B1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348F1-69D5-A5F4-5C87-E4B34C40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528FD-0219-8C87-B29A-59A041DE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21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BFF5-97C2-51EE-418F-5D5D4CBE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F33E9-1E07-BFD5-49A8-DDFA1B9A7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0263A-F983-F5AE-BEA0-D50CF558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CA9B5-FE51-579B-16F5-C6D108DD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A75B3-9AB8-C76C-2C05-D9B2800D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401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5949C-A8A0-C413-E2B7-F185DD774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B1036-6DC0-8A60-997B-58729DF59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971F-BA31-7A9C-B3CA-7CBBA081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2BE85-E741-722A-298A-38731944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ABCC2-AE70-C83C-572E-F7169BADC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15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A12369-F988-BE1C-AE5D-9F7581259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047FF-FDFC-B51A-AB39-373459B37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AB121-D13A-B5DA-78E4-14DA4889B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155B8-2C53-4E73-9981-C172ED0F2896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2D928-4E10-B571-5687-9C7DFE3A5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4027D-D6DF-EB12-C920-534866049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65F54-6A49-4AB1-B624-E6BBBDACE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34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d9ac0b2d6d6f1aa7/Desktop/Documents/TOPOLOGICAL%20COMPUTING%20PPT%20FILES/A%20PARADIGM%20SHIFT%20CASE%20STUDY%20SLIDES%2014-05-2026.ppt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3D5B-EB72-0BBE-1C55-71DE3EBC5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BROWSERS AND WEB APPLICATIONS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5D626-FF7D-36D2-E166-133D7798BA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290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0609B-A4D1-FE76-CB1D-F1048271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8C248-38B2-7D0C-5D8D-A2786DAC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Difference from Browsers</a:t>
            </a:r>
          </a:p>
          <a:p>
            <a:pPr lvl="0"/>
            <a:r>
              <a:rPr lang="en-IN" b="1" dirty="0">
                <a:effectLst/>
              </a:rPr>
              <a:t>Browsers</a:t>
            </a:r>
            <a:r>
              <a:rPr lang="en-IN" dirty="0">
                <a:effectLst/>
              </a:rPr>
              <a:t> (like Edge, Chrome, Firefox) are software that let you access websites and web apps.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Web applications</a:t>
            </a:r>
            <a:r>
              <a:rPr lang="en-IN" dirty="0">
                <a:effectLst/>
              </a:rPr>
              <a:t> (like Google Docs, OneDrive, Gmail) are services that run inside browsers and provide specific functionality.</a:t>
            </a:r>
            <a:endParaRPr lang="en-IN" dirty="0"/>
          </a:p>
          <a:p>
            <a:r>
              <a:rPr lang="en-IN" dirty="0">
                <a:effectLst/>
              </a:rPr>
              <a:t>So, to answer directly: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Google Docs = Web application (online word processor)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OneDrive = Web application + cloud storage service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Neither is a browser.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29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8647-420D-E3A1-D70A-96CCE503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3E73E-8147-2616-C427-8566BC128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Web Browsers</a:t>
            </a:r>
          </a:p>
          <a:p>
            <a:pPr lvl="0"/>
            <a:r>
              <a:rPr lang="en-IN" b="1" dirty="0">
                <a:effectLst/>
              </a:rPr>
              <a:t>Examples</a:t>
            </a:r>
            <a:r>
              <a:rPr lang="en-IN" dirty="0">
                <a:effectLst/>
              </a:rPr>
              <a:t>: Chrome, Edge, Firefox, Safari.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Role</a:t>
            </a:r>
            <a:r>
              <a:rPr lang="en-IN" dirty="0">
                <a:effectLst/>
              </a:rPr>
              <a:t>: They are software that connects your device to the internet and lets you </a:t>
            </a:r>
            <a:r>
              <a:rPr lang="en-IN" i="1" dirty="0">
                <a:effectLst/>
              </a:rPr>
              <a:t>view</a:t>
            </a:r>
            <a:r>
              <a:rPr lang="en-IN" dirty="0">
                <a:effectLst/>
              </a:rPr>
              <a:t> websites and web applications.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Connection</a:t>
            </a:r>
            <a:r>
              <a:rPr lang="en-IN" dirty="0">
                <a:effectLst/>
              </a:rPr>
              <a:t>: A browser itself doesn’t create the internet connection — it </a:t>
            </a:r>
            <a:r>
              <a:rPr lang="en-IN" i="1" dirty="0">
                <a:effectLst/>
              </a:rPr>
              <a:t>uses</a:t>
            </a:r>
            <a:r>
              <a:rPr lang="en-IN" dirty="0">
                <a:effectLst/>
              </a:rPr>
              <a:t> the connection your device already has (via Wi-Fi, mobile data, or wired network).</a:t>
            </a:r>
            <a:endParaRPr lang="en-IN" dirty="0"/>
          </a:p>
          <a:p>
            <a:r>
              <a:rPr lang="en-IN" b="1" dirty="0"/>
              <a:t>🖥️ Web Applications</a:t>
            </a:r>
          </a:p>
          <a:p>
            <a:pPr lvl="0"/>
            <a:r>
              <a:rPr lang="en-IN" b="1" dirty="0">
                <a:effectLst/>
              </a:rPr>
              <a:t>Examples</a:t>
            </a:r>
            <a:r>
              <a:rPr lang="en-IN" dirty="0">
                <a:effectLst/>
              </a:rPr>
              <a:t>: Google Docs, OneDrive, Gmail, Facebook.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Role</a:t>
            </a:r>
            <a:r>
              <a:rPr lang="en-IN" dirty="0">
                <a:effectLst/>
              </a:rPr>
              <a:t>: These are services that run </a:t>
            </a:r>
            <a:r>
              <a:rPr lang="en-IN" i="1" dirty="0">
                <a:effectLst/>
              </a:rPr>
              <a:t>inside</a:t>
            </a:r>
            <a:r>
              <a:rPr lang="en-IN" dirty="0">
                <a:effectLst/>
              </a:rPr>
              <a:t> a browser. They rely on the browser to display their interface and on the internet connection to send/receive data.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Connection</a:t>
            </a:r>
            <a:r>
              <a:rPr lang="en-IN" dirty="0">
                <a:effectLst/>
              </a:rPr>
              <a:t>: They don’t connect separately — they use the same internet connection your browser is already using.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31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0EE9-DFF9-AD15-BE5F-0C2E9651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753E-416A-0A79-2696-4B50657F6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How They Work Together</a:t>
            </a:r>
          </a:p>
          <a:p>
            <a:pPr lvl="0"/>
            <a:r>
              <a:rPr lang="en-IN" b="1" dirty="0">
                <a:effectLst/>
              </a:rPr>
              <a:t>Your device</a:t>
            </a:r>
            <a:r>
              <a:rPr lang="en-IN" dirty="0">
                <a:effectLst/>
              </a:rPr>
              <a:t> connects to the internet (through ISP, Wi-Fi, or mobile data).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Browser</a:t>
            </a:r>
            <a:r>
              <a:rPr lang="en-IN" dirty="0">
                <a:effectLst/>
              </a:rPr>
              <a:t> uses that connection to access websites.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Web applications</a:t>
            </a:r>
            <a:r>
              <a:rPr lang="en-IN" dirty="0">
                <a:effectLst/>
              </a:rPr>
              <a:t> (like Google Docs or OneDrive) run inside the browser, using the same connection to function.</a:t>
            </a:r>
            <a:endParaRPr lang="en-IN" dirty="0"/>
          </a:p>
          <a:p>
            <a:r>
              <a:rPr lang="en-IN" dirty="0">
                <a:effectLst/>
              </a:rPr>
              <a:t>So, you don’t need to “connect separately” for web apps. As long as your device is online and your browser is working, web applications automatically use that connection.</a:t>
            </a:r>
            <a:endParaRPr lang="en-IN" dirty="0"/>
          </a:p>
          <a:p>
            <a:r>
              <a:rPr lang="en-IN" dirty="0">
                <a:effectLst/>
              </a:rPr>
              <a:t>👉 In short: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Browser = gateway to the internet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Web application = service that runs inside the browser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Both depend on your device’s internet connection, not separate ones.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740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7F27-A8E6-EB4F-9122-7BD3BABF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40322-E4CE-A7AE-2537-D386E2C8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Google Cloud Services</a:t>
            </a:r>
          </a:p>
          <a:p>
            <a:pPr lvl="0"/>
            <a:r>
              <a:rPr lang="en-IN" b="1" dirty="0">
                <a:effectLst/>
              </a:rPr>
              <a:t>Google Drive</a:t>
            </a:r>
            <a:r>
              <a:rPr lang="en-IN" dirty="0">
                <a:effectLst/>
              </a:rPr>
              <a:t>: Cloud storage where you can save files online and access them anywhere.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Google Docs, Sheets, Slides</a:t>
            </a:r>
            <a:r>
              <a:rPr lang="en-IN" dirty="0">
                <a:effectLst/>
              </a:rPr>
              <a:t>: Web applications that run in the cloud, letting you create and edit documents without installing software.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Google Workspace (formerly G Suite)</a:t>
            </a:r>
            <a:r>
              <a:rPr lang="en-IN" dirty="0">
                <a:effectLst/>
              </a:rPr>
              <a:t>: A suite of cloud-based productivity tools (Docs, Gmail, Calendar, Meet, Drive).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Google Cloud Platform (GCP)</a:t>
            </a:r>
            <a:r>
              <a:rPr lang="en-IN" dirty="0">
                <a:effectLst/>
              </a:rPr>
              <a:t>: Enterprise-level cloud services for businesses — hosting, databases, AI, machine learning, and more.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68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7BAA-B8C0-7446-B7A7-F60DA6B8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A2282-01F0-CA2E-BD11-2384D6C33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Microsoft Cloud Services</a:t>
            </a:r>
          </a:p>
          <a:p>
            <a:pPr lvl="0"/>
            <a:r>
              <a:rPr lang="en-IN" b="1" dirty="0">
                <a:effectLst/>
              </a:rPr>
              <a:t>OneDrive</a:t>
            </a:r>
            <a:r>
              <a:rPr lang="en-IN" dirty="0">
                <a:effectLst/>
              </a:rPr>
              <a:t>: Cloud storage service integrated with Windows and Office apps.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Office Online (Word, Excel, PowerPoint)</a:t>
            </a:r>
            <a:r>
              <a:rPr lang="en-IN" dirty="0">
                <a:effectLst/>
              </a:rPr>
              <a:t>: Web applications that run in the cloud, similar to Google Docs.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Microsoft 365</a:t>
            </a:r>
            <a:r>
              <a:rPr lang="en-IN" dirty="0">
                <a:effectLst/>
              </a:rPr>
              <a:t>: Subscription-based suite combining OneDrive, Office apps, Teams, and Outlook.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Azure</a:t>
            </a:r>
            <a:r>
              <a:rPr lang="en-IN" dirty="0">
                <a:effectLst/>
              </a:rPr>
              <a:t>: Microsoft’s enterprise cloud platform for hosting, computing, and AI services.</a:t>
            </a:r>
          </a:p>
          <a:p>
            <a:pPr lvl="0"/>
            <a:r>
              <a:rPr lang="en-IN" dirty="0"/>
              <a:t>It’s a </a:t>
            </a:r>
            <a:r>
              <a:rPr lang="en-IN" b="1" dirty="0"/>
              <a:t>cloud storage service</a:t>
            </a:r>
            <a:r>
              <a:rPr lang="en-IN" dirty="0"/>
              <a:t> by Microsoft.</a:t>
            </a:r>
          </a:p>
          <a:p>
            <a:pPr lvl="0"/>
            <a:r>
              <a:rPr lang="en-IN" dirty="0"/>
              <a:t>Your files are stored on the </a:t>
            </a:r>
            <a:r>
              <a:rPr lang="en-IN" b="1" dirty="0"/>
              <a:t>internet (Microsoft’s servers)</a:t>
            </a:r>
            <a:r>
              <a:rPr lang="en-IN" dirty="0"/>
              <a:t>, not directly on your computer’s hard disk.</a:t>
            </a:r>
          </a:p>
          <a:p>
            <a:pPr lvl="0"/>
            <a:r>
              <a:rPr lang="en-IN" dirty="0"/>
              <a:t>However, you can choose to </a:t>
            </a:r>
            <a:r>
              <a:rPr lang="en-IN" b="1" dirty="0"/>
              <a:t>sync</a:t>
            </a:r>
            <a:r>
              <a:rPr lang="en-IN" dirty="0"/>
              <a:t> files to your PC. In that case, a copy is saved on your hard disk, and changes are updated online.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81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75D1-2235-7ABB-E9B8-986B641F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AB698-4F60-D595-87AE-8F57F2335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Key Difference</a:t>
            </a:r>
          </a:p>
          <a:p>
            <a:pPr lvl="0"/>
            <a:r>
              <a:rPr lang="en-IN" b="1" dirty="0">
                <a:effectLst/>
              </a:rPr>
              <a:t>Browsers</a:t>
            </a:r>
            <a:r>
              <a:rPr lang="en-IN" dirty="0">
                <a:effectLst/>
              </a:rPr>
              <a:t> (like Chrome or Edge) are just the gateway.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Cloud services</a:t>
            </a:r>
            <a:r>
              <a:rPr lang="en-IN" dirty="0">
                <a:effectLst/>
              </a:rPr>
              <a:t> (like Google Docs, OneDrive) are the actual applications that live on the internet and use cloud storage/processing.</a:t>
            </a:r>
            <a:endParaRPr lang="en-IN" dirty="0"/>
          </a:p>
          <a:p>
            <a:r>
              <a:rPr lang="en-IN" dirty="0">
                <a:effectLst/>
              </a:rPr>
              <a:t>So, Google (through Google Workspace and Google Cloud) and Microsoft (through OneDrive and Azure) both provide </a:t>
            </a:r>
            <a:r>
              <a:rPr lang="en-IN" b="1" dirty="0">
                <a:effectLst/>
              </a:rPr>
              <a:t>cloud services</a:t>
            </a:r>
            <a:r>
              <a:rPr lang="en-IN" dirty="0">
                <a:effectLst/>
              </a:rPr>
              <a:t>, not browsers. You access them </a:t>
            </a:r>
            <a:r>
              <a:rPr lang="en-IN" i="1" dirty="0">
                <a:effectLst/>
              </a:rPr>
              <a:t>via</a:t>
            </a:r>
            <a:r>
              <a:rPr lang="en-IN" dirty="0">
                <a:effectLst/>
              </a:rPr>
              <a:t> a browser.</a:t>
            </a:r>
            <a:endParaRPr lang="en-IN" dirty="0"/>
          </a:p>
          <a:p>
            <a:r>
              <a:rPr lang="en-IN" dirty="0"/>
              <a:t>Since you currently have a tab open about Gmail, it’s worth noting: </a:t>
            </a:r>
            <a:r>
              <a:rPr lang="en-IN" b="1" dirty="0"/>
              <a:t>Gmail itself is also a cloud service</a:t>
            </a:r>
            <a:r>
              <a:rPr lang="en-IN" dirty="0"/>
              <a:t> — your emails are stored on Google’s servers, accessible anywhere, not tied to one device.</a:t>
            </a:r>
          </a:p>
        </p:txBody>
      </p:sp>
    </p:spTree>
    <p:extLst>
      <p:ext uri="{BB962C8B-B14F-4D97-AF65-F5344CB8AC3E}">
        <p14:creationId xmlns:p14="http://schemas.microsoft.com/office/powerpoint/2010/main" val="223377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BA06-BE5F-66D1-8802-25AEFF1F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5699E4-C08E-A467-71AF-C4D41C1CC3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2454"/>
          <a:ext cx="10515600" cy="42976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28623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02555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70739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/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Google Workspace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Microsoft 365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40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Cloud Storage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Drive (15 GB free, more with paid plans)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OneDrive (5 GB free, more with paid plans)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44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Office Apps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Docs, Sheets, Slides (browser‑based, collaborative)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Word, Excel, PowerPoint (desktop + web versions)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94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Email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Gmail (cloud‑based, widely used)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Outlook (desktop + web, enterprise‑focused)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6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Collaboration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Real‑time editing in Docs/Sheets/Slides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Co‑authoring in Office apps, Teams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12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Video Meetings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Meet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Teams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259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Enterprise Cloud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Cloud Platform (GCP)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971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Best For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Simplicity, ease of use, collaboration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Enterprise features, desktop power, integration with Windows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95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410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E504-6B34-92BB-C64F-B42B80AC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6AA55-5167-F9D1-3F8C-304ADC485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Costs Behind </a:t>
            </a:r>
            <a:r>
              <a:rPr lang="en-IN" b="1" dirty="0">
                <a:hlinkClick r:id="rId2"/>
              </a:rPr>
              <a:t>Internet Access</a:t>
            </a:r>
            <a:endParaRPr lang="en-IN" b="1" dirty="0"/>
          </a:p>
          <a:p>
            <a:pPr lvl="0"/>
            <a:r>
              <a:rPr lang="en-IN" b="1" dirty="0">
                <a:effectLst/>
              </a:rPr>
              <a:t>Infrastructure costs</a:t>
            </a:r>
            <a:r>
              <a:rPr lang="en-IN" dirty="0">
                <a:effectLst/>
              </a:rPr>
              <a:t>: Fiber cables, servers, and data </a:t>
            </a:r>
            <a:r>
              <a:rPr lang="en-IN" dirty="0" err="1">
                <a:effectLst/>
              </a:rPr>
              <a:t>centers</a:t>
            </a:r>
            <a:r>
              <a:rPr lang="en-IN" dirty="0">
                <a:effectLst/>
              </a:rPr>
              <a:t> require massive investment. ISPs recover these costs through monthly fees.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Data transmission</a:t>
            </a:r>
            <a:r>
              <a:rPr lang="en-IN" dirty="0">
                <a:effectLst/>
              </a:rPr>
              <a:t>: Every MB/GB transferred has a cost. Plans often include data caps or tiered pricing.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Content hosting</a:t>
            </a:r>
            <a:r>
              <a:rPr lang="en-IN" dirty="0">
                <a:effectLst/>
              </a:rPr>
              <a:t>: Websites and apps spend on servers, developers, and security. They recoup costs via ads, subscriptions, or selling user data.</a:t>
            </a:r>
            <a:endParaRPr lang="en-IN" dirty="0"/>
          </a:p>
          <a:p>
            <a:r>
              <a:rPr lang="en-IN" b="1" dirty="0"/>
              <a:t>📊 Internet Freedom Worldwide</a:t>
            </a:r>
          </a:p>
          <a:p>
            <a:r>
              <a:rPr lang="en-IN" dirty="0">
                <a:effectLst/>
              </a:rPr>
              <a:t>According to Freedom House’s 2025 report: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Only 18 countries</a:t>
            </a:r>
            <a:r>
              <a:rPr lang="en-IN" dirty="0">
                <a:effectLst/>
              </a:rPr>
              <a:t> are considered “truly free” online.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India</a:t>
            </a:r>
            <a:r>
              <a:rPr lang="en-IN" dirty="0">
                <a:effectLst/>
              </a:rPr>
              <a:t> is rated “partly free,” with restrictions on certain platforms and content.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China &amp; Myanmar</a:t>
            </a:r>
            <a:r>
              <a:rPr lang="en-IN" dirty="0">
                <a:effectLst/>
              </a:rPr>
              <a:t> rank lowest, with heavy censorship.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Iceland &amp; Estonia</a:t>
            </a:r>
            <a:r>
              <a:rPr lang="en-IN" dirty="0">
                <a:effectLst/>
              </a:rPr>
              <a:t> score highest (over 90/100 points).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United States</a:t>
            </a:r>
            <a:r>
              <a:rPr lang="en-IN" dirty="0">
                <a:effectLst/>
              </a:rPr>
              <a:t> scored 73, behind France (76) and Germany (74).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Global trend</a:t>
            </a:r>
            <a:r>
              <a:rPr lang="en-IN" dirty="0">
                <a:effectLst/>
              </a:rPr>
              <a:t>: Internet freedom has declined for 15 consecutive years.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78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9F68-2DD7-963C-59D2-DAA60975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2EF7-7F21-5123-6228-0775883DD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Ways to Access Free Internet</a:t>
            </a:r>
          </a:p>
          <a:p>
            <a:r>
              <a:rPr lang="en-IN" dirty="0">
                <a:effectLst/>
              </a:rPr>
              <a:t>While not “free” in the absolute sense, you can access internet without paying directly: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Public Wi-Fi hotspots</a:t>
            </a:r>
            <a:r>
              <a:rPr lang="en-IN" dirty="0">
                <a:effectLst/>
              </a:rPr>
              <a:t>: Libraries, cafés, airports, and community </a:t>
            </a:r>
            <a:r>
              <a:rPr lang="en-IN" dirty="0" err="1">
                <a:effectLst/>
              </a:rPr>
              <a:t>centers</a:t>
            </a:r>
            <a:r>
              <a:rPr lang="en-IN" dirty="0">
                <a:effectLst/>
              </a:rPr>
              <a:t> often provide free access.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Government programs</a:t>
            </a:r>
            <a:r>
              <a:rPr lang="en-IN" dirty="0">
                <a:effectLst/>
              </a:rPr>
              <a:t>: India’s </a:t>
            </a:r>
            <a:r>
              <a:rPr lang="en-IN" i="1" dirty="0">
                <a:effectLst/>
              </a:rPr>
              <a:t>Digital India</a:t>
            </a:r>
            <a:r>
              <a:rPr lang="en-IN" dirty="0">
                <a:effectLst/>
              </a:rPr>
              <a:t> initiative and schemes like the </a:t>
            </a:r>
            <a:r>
              <a:rPr lang="en-IN" i="1" dirty="0" err="1">
                <a:effectLst/>
              </a:rPr>
              <a:t>BharatNet</a:t>
            </a:r>
            <a:r>
              <a:rPr lang="en-IN" i="1" dirty="0">
                <a:effectLst/>
              </a:rPr>
              <a:t> project</a:t>
            </a:r>
            <a:r>
              <a:rPr lang="en-IN" dirty="0">
                <a:effectLst/>
              </a:rPr>
              <a:t> aim to expand affordable or subsidized internet.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Community initiatives</a:t>
            </a:r>
            <a:r>
              <a:rPr lang="en-IN" dirty="0">
                <a:effectLst/>
              </a:rPr>
              <a:t>: NGOs and local groups sometimes provide free Wi-Fi in rural areas.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Mobile offers</a:t>
            </a:r>
            <a:r>
              <a:rPr lang="en-IN" dirty="0">
                <a:effectLst/>
              </a:rPr>
              <a:t>: Telecom providers occasionally bundle free data with recharge pack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97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9E887-B263-39C1-147D-61F8DA8AE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</a:t>
            </a:r>
            <a:r>
              <a:rPr lang="en-IN" b="1" dirty="0">
                <a:effectLst/>
              </a:rPr>
              <a:t>odem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7CB69-581F-6EC5-E826-F58C1A42E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288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effectLst/>
              </a:rPr>
              <a:t>A modem is a hardware device that allows your computer or router to connect to the internet by converting signals between digital and </a:t>
            </a:r>
            <a:r>
              <a:rPr lang="en-IN" b="1" dirty="0" err="1">
                <a:effectLst/>
              </a:rPr>
              <a:t>analog</a:t>
            </a:r>
            <a:r>
              <a:rPr lang="en-IN" b="1" dirty="0">
                <a:effectLst/>
              </a:rPr>
              <a:t> forms.</a:t>
            </a:r>
            <a:r>
              <a:rPr lang="en-IN" dirty="0">
                <a:effectLst/>
              </a:rPr>
              <a:t> In simple terms, it acts as the translator between your home network and your Internet Service Provider (ISP).</a:t>
            </a:r>
            <a:endParaRPr lang="en-IN" dirty="0"/>
          </a:p>
          <a:p>
            <a:r>
              <a:rPr lang="en-IN" b="1" dirty="0"/>
              <a:t>📡 What a Modem Does</a:t>
            </a:r>
          </a:p>
          <a:p>
            <a:pPr lvl="0"/>
            <a:r>
              <a:rPr lang="en-IN" b="1" dirty="0">
                <a:effectLst/>
              </a:rPr>
              <a:t>Name origin</a:t>
            </a:r>
            <a:r>
              <a:rPr lang="en-IN" dirty="0">
                <a:effectLst/>
              </a:rPr>
              <a:t>: Comes from </a:t>
            </a:r>
            <a:r>
              <a:rPr lang="en-IN" i="1" dirty="0">
                <a:effectLst/>
              </a:rPr>
              <a:t>mo</a:t>
            </a:r>
            <a:r>
              <a:rPr lang="en-IN" dirty="0">
                <a:effectLst/>
              </a:rPr>
              <a:t>dulator + </a:t>
            </a:r>
            <a:r>
              <a:rPr lang="en-IN" i="1" dirty="0">
                <a:effectLst/>
              </a:rPr>
              <a:t>dem</a:t>
            </a:r>
            <a:r>
              <a:rPr lang="en-IN" dirty="0">
                <a:effectLst/>
              </a:rPr>
              <a:t>odulator.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Function</a:t>
            </a:r>
            <a:r>
              <a:rPr lang="en-IN" dirty="0">
                <a:effectLst/>
              </a:rPr>
              <a:t>:</a:t>
            </a:r>
            <a:endParaRPr lang="en-IN" dirty="0"/>
          </a:p>
          <a:p>
            <a:pPr lvl="1"/>
            <a:r>
              <a:rPr lang="en-IN" dirty="0">
                <a:effectLst/>
              </a:rPr>
              <a:t>Converts digital signals from your computer into </a:t>
            </a:r>
            <a:r>
              <a:rPr lang="en-IN" dirty="0" err="1">
                <a:effectLst/>
              </a:rPr>
              <a:t>analog</a:t>
            </a:r>
            <a:r>
              <a:rPr lang="en-IN" dirty="0">
                <a:effectLst/>
              </a:rPr>
              <a:t> signals that can travel over telephone or cable lines.</a:t>
            </a:r>
            <a:endParaRPr lang="en-IN" dirty="0"/>
          </a:p>
          <a:p>
            <a:pPr lvl="1"/>
            <a:r>
              <a:rPr lang="en-IN" dirty="0">
                <a:effectLst/>
              </a:rPr>
              <a:t>Converts incoming </a:t>
            </a:r>
            <a:r>
              <a:rPr lang="en-IN" dirty="0" err="1">
                <a:effectLst/>
              </a:rPr>
              <a:t>analog</a:t>
            </a:r>
            <a:r>
              <a:rPr lang="en-IN" dirty="0">
                <a:effectLst/>
              </a:rPr>
              <a:t> signals back into digital form so your computer can understand them.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Purpose</a:t>
            </a:r>
            <a:r>
              <a:rPr lang="en-IN" dirty="0">
                <a:effectLst/>
              </a:rPr>
              <a:t>: Enables communication between your device and the wider internet.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67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BFAF-0ED5-AD55-1849-041B4A0EF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Modems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C892-64B9-5B95-46CC-681055477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848"/>
            <a:ext cx="10515600" cy="5667152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Types of Modems</a:t>
            </a:r>
          </a:p>
          <a:p>
            <a:pPr lvl="0"/>
            <a:r>
              <a:rPr lang="en-IN" b="1" dirty="0">
                <a:effectLst/>
              </a:rPr>
              <a:t>Dial-up modem</a:t>
            </a:r>
            <a:r>
              <a:rPr lang="en-IN" dirty="0">
                <a:effectLst/>
              </a:rPr>
              <a:t>: Uses telephone lines; very slow (rarely used today).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DSL modem</a:t>
            </a:r>
            <a:r>
              <a:rPr lang="en-IN" dirty="0">
                <a:effectLst/>
              </a:rPr>
              <a:t>: Uses telephone lines but provides faster speeds than dial-up.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Cable modem</a:t>
            </a:r>
            <a:r>
              <a:rPr lang="en-IN" dirty="0">
                <a:effectLst/>
              </a:rPr>
              <a:t>: Connects via cable TV lines; common in homes for broadband internet.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Fiber modem (ONT)</a:t>
            </a:r>
            <a:r>
              <a:rPr lang="en-IN" dirty="0">
                <a:effectLst/>
              </a:rPr>
              <a:t>: Used for </a:t>
            </a:r>
            <a:r>
              <a:rPr lang="en-IN" dirty="0" err="1">
                <a:effectLst/>
              </a:rPr>
              <a:t>fiber</a:t>
            </a:r>
            <a:r>
              <a:rPr lang="en-IN" dirty="0">
                <a:effectLst/>
              </a:rPr>
              <a:t>-optic connections; provides very high speeds.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Mobile broadband modem (dongle or built-in)</a:t>
            </a:r>
            <a:r>
              <a:rPr lang="en-IN" dirty="0">
                <a:effectLst/>
              </a:rPr>
              <a:t>: Connects via cellular networks (3G/4G/5G).</a:t>
            </a:r>
            <a:endParaRPr lang="en-IN" dirty="0"/>
          </a:p>
          <a:p>
            <a:r>
              <a:rPr lang="en-IN" b="1" dirty="0"/>
              <a:t>🖥️ Modem vs Router</a:t>
            </a:r>
          </a:p>
          <a:p>
            <a:pPr lvl="0"/>
            <a:r>
              <a:rPr lang="en-IN" b="1" dirty="0">
                <a:effectLst/>
              </a:rPr>
              <a:t>Modem</a:t>
            </a:r>
            <a:r>
              <a:rPr lang="en-IN" dirty="0">
                <a:effectLst/>
              </a:rPr>
              <a:t>: Connects your home to the internet (ISP).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Router</a:t>
            </a:r>
            <a:r>
              <a:rPr lang="en-IN" dirty="0">
                <a:effectLst/>
              </a:rPr>
              <a:t>: Distributes that internet connection to multiple devices in your home (via Wi-Fi or Ethernet).</a:t>
            </a:r>
            <a:endParaRPr lang="en-IN" dirty="0"/>
          </a:p>
          <a:p>
            <a:pPr lvl="0"/>
            <a:r>
              <a:rPr lang="en-IN" b="1" dirty="0">
                <a:effectLst/>
              </a:rPr>
              <a:t>Combo devices</a:t>
            </a:r>
            <a:r>
              <a:rPr lang="en-IN" dirty="0">
                <a:effectLst/>
              </a:rPr>
              <a:t>: Many ISPs provide a single box that acts as both modem + router.</a:t>
            </a:r>
          </a:p>
          <a:p>
            <a:pPr lvl="0"/>
            <a:r>
              <a:rPr lang="en-IN" b="1" dirty="0"/>
              <a:t>ISP → modem → router → browser → web app)?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427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CC57-FB18-8DD1-851C-22120DAF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Here’s how you can check whether your OneDrive or Google Drive files are stored locally on your computer’s hard disk: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C7F6C-D4C5-6409-C05D-DDAA5D629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For OneDrive</a:t>
            </a:r>
          </a:p>
          <a:p>
            <a:pPr lvl="0"/>
            <a:r>
              <a:rPr lang="en-IN" b="1" dirty="0"/>
              <a:t>Look at File Explorer (Windows)</a:t>
            </a:r>
            <a:endParaRPr lang="en-IN" dirty="0"/>
          </a:p>
          <a:p>
            <a:pPr lvl="1"/>
            <a:r>
              <a:rPr lang="en-IN" dirty="0"/>
              <a:t>Open File Explorer → check the </a:t>
            </a:r>
            <a:r>
              <a:rPr lang="en-IN" b="1" dirty="0"/>
              <a:t>OneDrive folder</a:t>
            </a:r>
            <a:r>
              <a:rPr lang="en-IN" dirty="0"/>
              <a:t> in the left sidebar.</a:t>
            </a:r>
          </a:p>
          <a:p>
            <a:pPr lvl="1"/>
            <a:r>
              <a:rPr lang="en-IN" dirty="0"/>
              <a:t>If you see files with a </a:t>
            </a:r>
            <a:r>
              <a:rPr lang="en-IN" b="1" dirty="0"/>
              <a:t>cloud icon</a:t>
            </a:r>
            <a:r>
              <a:rPr lang="en-IN" dirty="0"/>
              <a:t>, they are online-only.</a:t>
            </a:r>
          </a:p>
          <a:p>
            <a:pPr lvl="1"/>
            <a:r>
              <a:rPr lang="en-IN" dirty="0"/>
              <a:t>If you see files with a </a:t>
            </a:r>
            <a:r>
              <a:rPr lang="en-IN" b="1" dirty="0"/>
              <a:t>green checkmark</a:t>
            </a:r>
            <a:r>
              <a:rPr lang="en-IN" dirty="0"/>
              <a:t>, they are stored locally on your hard disk and synced with the cloud.</a:t>
            </a:r>
          </a:p>
          <a:p>
            <a:pPr lvl="0"/>
            <a:r>
              <a:rPr lang="en-IN" b="1" dirty="0"/>
              <a:t>Right-click a file</a:t>
            </a:r>
            <a:endParaRPr lang="en-IN" dirty="0"/>
          </a:p>
          <a:p>
            <a:pPr lvl="1"/>
            <a:r>
              <a:rPr lang="en-IN" dirty="0"/>
              <a:t>Choose </a:t>
            </a:r>
            <a:r>
              <a:rPr lang="en-IN" b="1" dirty="0"/>
              <a:t>Always keep on this device</a:t>
            </a:r>
            <a:r>
              <a:rPr lang="en-IN" dirty="0"/>
              <a:t> → this ensures a local copy is saved.</a:t>
            </a:r>
          </a:p>
          <a:p>
            <a:pPr lvl="1"/>
            <a:r>
              <a:rPr lang="en-IN" dirty="0"/>
              <a:t>If you choose </a:t>
            </a:r>
            <a:r>
              <a:rPr lang="en-IN" b="1" dirty="0"/>
              <a:t>Free up space</a:t>
            </a:r>
            <a:r>
              <a:rPr lang="en-IN" dirty="0"/>
              <a:t>, the file will only stay online.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25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2586-9612-CD6D-1EF8-7FD6ACEBD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4C13F-35E4-3909-01A2-B462B7DD9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For Google Drive</a:t>
            </a:r>
          </a:p>
          <a:p>
            <a:pPr lvl="0"/>
            <a:r>
              <a:rPr lang="en-IN" b="1" dirty="0"/>
              <a:t>Check Google Drive for Desktop (if installed)</a:t>
            </a:r>
            <a:endParaRPr lang="en-IN" dirty="0"/>
          </a:p>
          <a:p>
            <a:pPr lvl="1"/>
            <a:r>
              <a:rPr lang="en-IN" dirty="0"/>
              <a:t>Open File Explorer (Windows) or Finder (Mac).</a:t>
            </a:r>
          </a:p>
          <a:p>
            <a:pPr lvl="1"/>
            <a:r>
              <a:rPr lang="en-IN" dirty="0"/>
              <a:t>Look for a </a:t>
            </a:r>
            <a:r>
              <a:rPr lang="en-IN" b="1" dirty="0"/>
              <a:t>Google Drive folder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Files with a cloud icon are online-only; files with a checkmark are stored locally.</a:t>
            </a:r>
          </a:p>
          <a:p>
            <a:pPr lvl="0"/>
            <a:r>
              <a:rPr lang="en-IN" b="1" dirty="0"/>
              <a:t>Offline access in browser</a:t>
            </a:r>
            <a:endParaRPr lang="en-IN" dirty="0"/>
          </a:p>
          <a:p>
            <a:pPr lvl="1"/>
            <a:r>
              <a:rPr lang="en-IN" dirty="0"/>
              <a:t>If you use Google Docs/Sheets in Chrome, you can enable </a:t>
            </a:r>
            <a:r>
              <a:rPr lang="en-IN" b="1" dirty="0"/>
              <a:t>offline mode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That saves copies on your hard disk so you can edit without internet.</a:t>
            </a:r>
          </a:p>
          <a:p>
            <a:r>
              <a:rPr lang="en-IN" dirty="0"/>
              <a:t>👉 In short:</a:t>
            </a:r>
          </a:p>
          <a:p>
            <a:pPr lvl="0"/>
            <a:r>
              <a:rPr lang="en-IN" b="1" dirty="0"/>
              <a:t>Cloud icon = online only (internet)</a:t>
            </a:r>
            <a:endParaRPr lang="en-IN" dirty="0"/>
          </a:p>
          <a:p>
            <a:pPr lvl="0"/>
            <a:r>
              <a:rPr lang="en-IN" b="1" dirty="0"/>
              <a:t>Checkmark = synced locally (hard disk + internet)</a:t>
            </a:r>
            <a:endParaRPr lang="en-IN" dirty="0"/>
          </a:p>
          <a:p>
            <a:r>
              <a:rPr lang="en-IN" dirty="0"/>
              <a:t>Would you like me to walk you through enabling </a:t>
            </a:r>
            <a:r>
              <a:rPr lang="en-IN" b="1" dirty="0"/>
              <a:t>offline access</a:t>
            </a:r>
            <a:r>
              <a:rPr lang="en-IN" dirty="0"/>
              <a:t> so you can use your files even without internet?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489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CD389-4724-9BB2-C6F3-4D2AAC86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/>
              <a:t>web-based means that the program or service runs primarily on the internet, not directly from your computer’s hard disk.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1660-BA93-F887-6240-B5FB73064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You access it through a </a:t>
            </a:r>
            <a:r>
              <a:rPr lang="en-IN" b="1" dirty="0"/>
              <a:t>web browser</a:t>
            </a:r>
            <a:r>
              <a:rPr lang="en-IN" dirty="0"/>
              <a:t> (like Chrome, Edge, or Safari).</a:t>
            </a:r>
          </a:p>
          <a:p>
            <a:pPr lvl="0"/>
            <a:r>
              <a:rPr lang="en-IN" dirty="0"/>
              <a:t>The software itself is hosted on remote servers, not installed fully on your PC.</a:t>
            </a:r>
          </a:p>
          <a:p>
            <a:pPr lvl="0"/>
            <a:r>
              <a:rPr lang="en-IN" dirty="0"/>
              <a:t>Your data is stored online (in the cloud), though you can often download or sync copies locally.</a:t>
            </a:r>
          </a:p>
          <a:p>
            <a:r>
              <a:rPr lang="en-IN" b="1" dirty="0"/>
              <a:t>Examples:</a:t>
            </a:r>
          </a:p>
          <a:p>
            <a:pPr lvl="0"/>
            <a:r>
              <a:rPr lang="en-IN" b="1" dirty="0"/>
              <a:t>Google Docs/Sheets</a:t>
            </a:r>
            <a:r>
              <a:rPr lang="en-IN" dirty="0"/>
              <a:t> → Web-based apps. They run in your browser, and your files live on Google’s servers.</a:t>
            </a:r>
          </a:p>
          <a:p>
            <a:pPr lvl="0"/>
            <a:r>
              <a:rPr lang="en-IN" b="1" dirty="0"/>
              <a:t>OneDrive</a:t>
            </a:r>
            <a:r>
              <a:rPr lang="en-IN" dirty="0"/>
              <a:t> → Web-based storage. You can access it through a browser, but syncing lets you keep local copies too.</a:t>
            </a:r>
          </a:p>
          <a:p>
            <a:pPr lvl="0"/>
            <a:r>
              <a:rPr lang="en-IN" b="1" dirty="0"/>
              <a:t>Desktop apps (like Microsoft Word)</a:t>
            </a:r>
            <a:r>
              <a:rPr lang="en-IN" dirty="0"/>
              <a:t> → These are </a:t>
            </a:r>
            <a:r>
              <a:rPr lang="en-IN" b="1" dirty="0"/>
              <a:t>installed on your hard disk</a:t>
            </a:r>
            <a:r>
              <a:rPr lang="en-IN" dirty="0"/>
              <a:t> and run directly from your computer, even without internet.</a:t>
            </a:r>
          </a:p>
          <a:p>
            <a:r>
              <a:rPr lang="en-IN" dirty="0"/>
              <a:t>So, when you hear "web-based," think </a:t>
            </a:r>
            <a:r>
              <a:rPr lang="en-IN" b="1" dirty="0"/>
              <a:t>internet-first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0905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61D15-CF36-F106-2A01-3B494EA8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/>
              <a:t>Cloud Drive (like OneDrive, Google Drive)</a:t>
            </a:r>
            <a:br>
              <a:rPr lang="en-IN"/>
            </a:br>
            <a:r>
              <a:rPr lang="en-IN"/>
              <a:t>Virtual storage on the internet.</a:t>
            </a:r>
            <a:br>
              <a:rPr lang="en-IN"/>
            </a:br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E3FD2C-F99B-0CE0-F79A-F745469B6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846501"/>
              </p:ext>
            </p:extLst>
          </p:nvPr>
        </p:nvGraphicFramePr>
        <p:xfrm>
          <a:off x="838200" y="2041451"/>
          <a:ext cx="10515600" cy="2691364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7144935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48487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59968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2783884"/>
                    </a:ext>
                  </a:extLst>
                </a:gridCol>
              </a:tblGrid>
              <a:tr h="67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Drive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Internet?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691338"/>
                  </a:ext>
                </a:extLst>
              </a:tr>
              <a:tr h="67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 Drive (HDD/SSD)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Inside your 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C: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044296"/>
                  </a:ext>
                </a:extLst>
              </a:tr>
              <a:tr h="67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Plugged into 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USB stick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172935"/>
                  </a:ext>
                </a:extLst>
              </a:tr>
              <a:tr h="672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Online servers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(for access/sync)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OneDrive, Google Drive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38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817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1734</Words>
  <Application>Microsoft Office PowerPoint</Application>
  <PresentationFormat>Widescreen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BROWSERS AND WEB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Modem </vt:lpstr>
      <vt:lpstr>Types of Modems </vt:lpstr>
      <vt:lpstr>Here’s how you can check whether your OneDrive or Google Drive files are stored locally on your computer’s hard disk:</vt:lpstr>
      <vt:lpstr>PowerPoint Presentation</vt:lpstr>
      <vt:lpstr>web-based means that the program or service runs primarily on the internet, not directly from your computer’s hard disk.</vt:lpstr>
      <vt:lpstr>Cloud Drive (like OneDrive, Google Drive) Virtual storage on the internet.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4</cp:revision>
  <dcterms:created xsi:type="dcterms:W3CDTF">2026-08-07T01:05:03Z</dcterms:created>
  <dcterms:modified xsi:type="dcterms:W3CDTF">2026-08-10T03:26:05Z</dcterms:modified>
</cp:coreProperties>
</file>