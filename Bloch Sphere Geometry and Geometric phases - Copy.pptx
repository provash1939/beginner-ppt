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47" d="100"/>
          <a:sy n="47" d="100"/>
        </p:scale>
        <p:origin x="7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71B5-C5C6-445A-D03C-EE5948C8F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AA89D-F80C-D1A4-AB81-1F2632FED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CEC91-E8CC-DB15-E31C-64AA9DA4C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1D103-2607-E058-0FDE-A2AD755F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7745A-77AC-32BD-128E-234B0B7A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276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6028-D889-8929-F65B-FD1E8876D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ED4C2-78C4-886B-549F-CD68E3ABA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E1F96-DB48-167E-98DD-C8FDAA86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98A78-FA06-BD7E-33EB-7EA8618C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DE61E-E23A-3358-BFA3-69C17964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27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B03FF-D955-1A83-4DAC-C08BCB8B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372A1-C9B7-9272-0B81-124A5D4FB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4C7F0-7765-5A36-791B-D0E7403D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3E385-3910-4C3F-857F-2D3D7A13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C5D87-3902-2FF0-04F4-ACEE134B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5121-6484-B17C-8D56-C450DE03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EC4E7-C129-3C64-3820-250605F30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73170-FD7E-BAB1-CCB3-B162DC7EE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1464F-E067-64B8-47DD-858ED866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B1B8F-6C68-9B04-36F6-F7794FDE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6DBFA-A035-2797-2FDC-AB256A99D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82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8764-C3FC-187F-51AF-15781233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ED3E9-DE05-0BB8-15E6-1C8983C2C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6242F-58C7-CFBC-AFBA-44F5D0C8C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47D8E-CE32-9599-25EB-E6F97A568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5AEBE-87A9-5A51-32CD-BFAC73BF8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E477A-A48E-F862-79A2-CDC5C6BB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C30B5C-EAEA-874B-BE1E-2A73DC76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9A3A4-4FBC-7BA8-4734-99C450CA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21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9EAA9-94D0-69E9-B2F4-DD0C6C69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64593-6DBF-7907-99CD-7FEEAA3A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C2565-835E-0E0D-F657-5A48B6137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DAB5F-E668-F7DC-5B6E-7177F942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742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9DA16-7AA3-D138-CDD2-977B5695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ADBFF-A707-E8B4-2DDC-5EF35B2F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A3EB-6C34-166C-A1F3-F03E0A7F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3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ADAB-F9A0-A8C2-1572-1D2D4D4B4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A1149-F4DD-BDDD-5AF1-94294F878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8DF8C-AE53-D41E-08C4-BB282F776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5504B-5822-6088-C17B-B7B54882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10A7A-C852-1144-9CD9-00CD461A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39EE9-4D74-A6D8-92CA-0D351282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864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CC7C-3542-AB69-382F-69D383E7E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5FEE30-BBD5-5823-E0B1-3C07084FD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60A26-A55B-9CF3-917B-A89AF974A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60F71-1423-CFE0-565C-783D83AA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253A3-208A-AC23-5828-8B7692AE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EC0A0-AB6A-066E-1DB3-B558792F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710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5A803-8B5D-8596-2138-91CE0DCD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732B0-F5D3-23B0-25D3-0598E90A6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051C5-84F1-59FC-3BE0-13DBE78E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F79E6-43BD-01E2-1672-74910B0A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3B10-B5EC-8F4D-2EBD-679D5F8B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46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2AB543-EFA7-7929-B2E4-7D9949EF6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51743-232E-3AE4-69EF-54B07D150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3D388-33CF-1DA7-B1B0-18C9B7908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F6406-707E-0CEF-6692-FB7DC724E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B80A9-8DE2-7DC0-BC65-3A11C4F6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72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8B3A4-1879-0709-3BF4-346054CA4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ED11E-900D-48FF-95A2-FF7771E6F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20736-222B-6F16-1479-C13F49328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C0641-46C7-40C0-8C4B-54D508EC52C5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9366D-D946-4B40-0BAB-C218FB22D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D05EF-702B-E96C-B165-65C0CE856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142A9-B25D-40F9-893D-254C79D6D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132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9F7A-A162-FE54-272A-30214C974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5 Slide Deck Outline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C968B-A5C6-2820-B30A-8BF73C005E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Topic:</a:t>
            </a:r>
            <a:r>
              <a:rPr lang="en-US" dirty="0"/>
              <a:t> Bloch Sphere Geometry &amp; Geometric Phases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42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EE32F-2A4D-FC19-5E18-30254F7E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SLIDE 1- Title Slide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0A610-7896-F972-C125-43BBB0B73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Bloch Sphere Geometry &amp; Geometric Phases</a:t>
            </a:r>
          </a:p>
          <a:p>
            <a:r>
              <a:rPr lang="en-US" dirty="0"/>
              <a:t>Visual: Bloch sphere with axes labeled X, Y, Z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70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59C3-B8F4-C55E-50C3-925A7D70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2- Learning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D8CBF-EF27-00C6-C192-22437FFE3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Understand qubit representation on the Bloch sphere</a:t>
            </a:r>
            <a:endParaRPr lang="en-US" dirty="0"/>
          </a:p>
          <a:p>
            <a:r>
              <a:rPr lang="en-US" dirty="0">
                <a:effectLst/>
              </a:rPr>
              <a:t>Explore geometric (Berry) phases in quantum evolution</a:t>
            </a:r>
            <a:endParaRPr lang="en-US" dirty="0"/>
          </a:p>
          <a:p>
            <a:r>
              <a:rPr lang="en-US" dirty="0">
                <a:effectLst/>
              </a:rPr>
              <a:t>Connect gauge fields to geometric/topological effects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1103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A084-75CA-C1E5-A5CA-828B176F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3-</a:t>
            </a:r>
            <a:r>
              <a:rPr lang="en-IN" dirty="0"/>
              <a:t> Bloch Sphere Basics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1E6C24-1742-F68A-0E11-4B61CFE8D1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>
                    <a:effectLst/>
                  </a:rPr>
                  <a:t>State vector representation: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>
                    <a:effectLst/>
                  </a:rPr>
                  <a:t>Visual: Bloch sphere with poles and equator </a:t>
                </a:r>
                <a:r>
                  <a:rPr lang="en-IN" dirty="0" err="1">
                    <a:effectLst/>
                  </a:rPr>
                  <a:t>labeled</a:t>
                </a:r>
                <a:endParaRPr lang="en-IN" dirty="0"/>
              </a:p>
              <a:p>
                <a:r>
                  <a:rPr lang="en-IN" dirty="0"/>
                  <a:t>v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1E6C24-1742-F68A-0E11-4B61CFE8D1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523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24D1-1C04-D570-725B-B515CFD43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4-</a:t>
            </a:r>
            <a:r>
              <a:rPr lang="en-US" b="1" dirty="0"/>
              <a:t> Geometric Phase (Berry Phase)</a:t>
            </a:r>
            <a:r>
              <a:rPr lang="en-US" dirty="0"/>
              <a:t> ✅ </a:t>
            </a:r>
            <a:r>
              <a:rPr lang="en-US" i="1" dirty="0"/>
              <a:t>(New Slide)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9C25FF-1F0E-5A00-9190-B8C529685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b="1" dirty="0">
                    <a:effectLst/>
                  </a:rPr>
                  <a:t> Visual: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Bloch sphere with a qubit state tracing a closed loop (e.g., equator circle)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Shaded area enclosed by the loop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Label: </a:t>
                </a:r>
                <a:r>
                  <a:rPr lang="en-US" i="1" dirty="0">
                    <a:effectLst/>
                  </a:rPr>
                  <a:t>“Berry phase = ½ solid angle enclosed”</a:t>
                </a:r>
                <a:endParaRPr lang="en-US" dirty="0"/>
              </a:p>
              <a:p>
                <a:r>
                  <a:rPr lang="en-IN" b="1" dirty="0">
                    <a:effectLst/>
                  </a:rPr>
                  <a:t>Text bullets:</a:t>
                </a:r>
                <a:endParaRPr lang="en-IN" dirty="0"/>
              </a:p>
              <a:p>
                <a:r>
                  <a:rPr lang="en-IN" dirty="0">
                    <a:effectLst/>
                  </a:rPr>
                  <a:t>State evolution around closed path → extra phase acquired</a:t>
                </a:r>
                <a:endParaRPr lang="en-IN" dirty="0"/>
              </a:p>
              <a:p>
                <a:r>
                  <a:rPr lang="en-IN" dirty="0">
                    <a:effectLst/>
                  </a:rPr>
                  <a:t>Dynamical phase vs. geometric phase</a:t>
                </a:r>
                <a:endParaRPr lang="en-IN" dirty="0"/>
              </a:p>
              <a:p>
                <a:r>
                  <a:rPr lang="en-IN" dirty="0">
                    <a:effectLst/>
                  </a:rPr>
                  <a:t>Formula: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∮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𝑑𝑙</m:t>
                    </m:r>
                  </m:oMath>
                </a14:m>
                <a:endParaRPr lang="ar-AE" dirty="0"/>
              </a:p>
              <a:p>
                <a:r>
                  <a:rPr lang="en-IN" dirty="0">
                    <a:effectLst/>
                  </a:rPr>
                  <a:t>Interpretation: fictitious magnetic monopole at sphere </a:t>
                </a:r>
                <a:r>
                  <a:rPr lang="en-IN" dirty="0" err="1">
                    <a:effectLst/>
                  </a:rPr>
                  <a:t>center</a:t>
                </a:r>
                <a:endParaRPr lang="en-IN" dirty="0"/>
              </a:p>
              <a:p>
                <a:r>
                  <a:rPr lang="en-IN" dirty="0">
                    <a:effectLst/>
                  </a:rPr>
                  <a:t>Key idea: phase depends only on path geometry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9C25FF-1F0E-5A00-9190-B8C529685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268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A5D5-30BB-EC66-471D-39F73CEF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5: </a:t>
            </a:r>
            <a:r>
              <a:rPr lang="en-IN" dirty="0"/>
              <a:t>Gauge Fields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BDE0F-A0A6-FB7A-AC6F-585C3DDC6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</a:rPr>
              <a:t>Gauge fields preserve symmetry under transformations</a:t>
            </a:r>
            <a:endParaRPr lang="en-IN" dirty="0"/>
          </a:p>
          <a:p>
            <a:r>
              <a:rPr lang="en-IN" dirty="0">
                <a:effectLst/>
              </a:rPr>
              <a:t>Geometric phases arise as observable consequences of gauge invariance</a:t>
            </a:r>
            <a:endParaRPr lang="en-IN" dirty="0"/>
          </a:p>
          <a:p>
            <a:r>
              <a:rPr lang="en-IN" dirty="0">
                <a:effectLst/>
              </a:rPr>
              <a:t>Visual: Diagram showing gauge potential arrows around Bloch sphere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335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22BB-D104-052A-5693-3D2DD2B80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6-Applications in Quantum Computing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68248-5DC2-FEC2-5BF2-C994E4F37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</a:rPr>
              <a:t>Braiding </a:t>
            </a:r>
            <a:r>
              <a:rPr lang="en-IN" dirty="0" err="1">
                <a:effectLst/>
              </a:rPr>
              <a:t>anyons</a:t>
            </a:r>
            <a:r>
              <a:rPr lang="en-IN" dirty="0">
                <a:effectLst/>
              </a:rPr>
              <a:t> = geometric phase → unitary transformation</a:t>
            </a:r>
            <a:endParaRPr lang="en-IN" dirty="0"/>
          </a:p>
          <a:p>
            <a:r>
              <a:rPr lang="en-IN" dirty="0">
                <a:effectLst/>
              </a:rPr>
              <a:t>Topological protection: computation depends only on braid topology</a:t>
            </a:r>
            <a:endParaRPr lang="en-IN" dirty="0"/>
          </a:p>
          <a:p>
            <a:r>
              <a:rPr lang="en-IN" dirty="0">
                <a:effectLst/>
              </a:rPr>
              <a:t>Visual: Anyon braiding diagram with arrows showing exchange paths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58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9E62-CB1A-2347-7DAD-B23BC21E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7-Discussion Questions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3192-71C3-8B49-4789-4F81D23FB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the Berry phase called “geometric”?</a:t>
            </a:r>
          </a:p>
          <a:p>
            <a:r>
              <a:rPr lang="en-US" dirty="0"/>
              <a:t>Hoe does gauge invariance protect quantum information?</a:t>
            </a:r>
          </a:p>
          <a:p>
            <a:r>
              <a:rPr lang="en-US" dirty="0"/>
              <a:t>Can geometric phase exist in classical system?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125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3007-347F-6F6D-DB0C-9A51F5F5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8-Summary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4F58-7B52-54B0-2830-777BBCC90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effectLst/>
              </a:rPr>
              <a:t>Bloch sphere provides geometric intuition for qubit states</a:t>
            </a:r>
            <a:endParaRPr lang="en-IN" dirty="0"/>
          </a:p>
          <a:p>
            <a:r>
              <a:rPr lang="en-IN" dirty="0">
                <a:effectLst/>
              </a:rPr>
              <a:t>Geometric phases = global memory of path</a:t>
            </a:r>
            <a:endParaRPr lang="en-IN" dirty="0"/>
          </a:p>
          <a:p>
            <a:r>
              <a:rPr lang="en-IN" dirty="0">
                <a:effectLst/>
              </a:rPr>
              <a:t>Gauge fields ensure symmetry and protection</a:t>
            </a:r>
            <a:endParaRPr lang="en-IN" dirty="0"/>
          </a:p>
          <a:p>
            <a:r>
              <a:rPr lang="en-IN" dirty="0">
                <a:effectLst/>
              </a:rPr>
              <a:t>Foundation for topological quantum computing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732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EE0FD-15F3-440C-5AB6-D3B4C1880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13915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solidFill>
                  <a:srgbClr val="FF0000"/>
                </a:solidFill>
              </a:rPr>
              <a:t>show you a numerical example where changing only the azimuth (phase) alters interference outcomes, while keeping amplitudes fixed? That would make the role of azimuth crystal </a:t>
            </a:r>
            <a:r>
              <a:rPr lang="en-IN" sz="3600" b="1" dirty="0">
                <a:solidFill>
                  <a:srgbClr val="FF0000"/>
                </a:solidFill>
              </a:rPr>
              <a:t>clear</a:t>
            </a:r>
            <a:r>
              <a:rPr lang="en-IN" dirty="0">
                <a:solidFill>
                  <a:srgbClr val="FF0000"/>
                </a:solidFill>
              </a:rPr>
              <a:t>.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1C809-5A14-FCC2-141E-C24B61EB6B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/>
                  <a:t>let’s do a </a:t>
                </a:r>
                <a:r>
                  <a:rPr lang="en-IN" b="1" dirty="0"/>
                  <a:t>numerical example</a:t>
                </a:r>
                <a:r>
                  <a:rPr lang="en-IN" dirty="0"/>
                  <a:t> where only the </a:t>
                </a:r>
                <a:r>
                  <a:rPr lang="en-IN" b="1" dirty="0"/>
                  <a:t>azimuth (phase)</a:t>
                </a:r>
                <a:r>
                  <a:rPr lang="en-IN" dirty="0"/>
                  <a:t> changes, while amplitudes stay fixed. This will show how interference outcomes depend on phase.</a:t>
                </a:r>
              </a:p>
              <a:p>
                <a:r>
                  <a:rPr lang="en-IN" b="1" dirty="0"/>
                  <a:t>Setup</a:t>
                </a:r>
              </a:p>
              <a:p>
                <a:r>
                  <a:rPr lang="en-IN" dirty="0">
                    <a:effectLst/>
                  </a:rPr>
                  <a:t>Take a qubit state on the Bloch sphere:</a:t>
                </a:r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IN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IN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 i="1"/>
                                  <m:t>𝜓</m:t>
                                </m:r>
                              </m:e>
                            </m:d>
                            <m:r>
                              <a:rPr lang="en-IN"/>
                              <m:t>=</m:t>
                            </m:r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r>
                                  <a:rPr lang="en-IN"/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i="1"/>
                                    </m:ctrlPr>
                                  </m:radPr>
                                  <m:deg/>
                                  <m:e>
                                    <m:r>
                                      <a:rPr lang="en-IN"/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d>
                              <m:dPr>
                                <m:endChr m:val="⟩"/>
                                <m:ctrlPr>
                                  <a:rPr lang="en-IN" i="1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/>
                                  <m:t>0</m:t>
                                </m:r>
                              </m:e>
                            </m:d>
                            <m:r>
                              <a:rPr lang="en-IN"/>
                              <m:t>+</m:t>
                            </m:r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r>
                                  <a:rPr lang="en-IN" i="1"/>
                                  <m:t>𝑒</m:t>
                                </m:r>
                              </m:e>
                              <m:sup>
                                <m:r>
                                  <a:rPr lang="en-IN" i="1"/>
                                  <m:t>𝑖</m:t>
                                </m:r>
                                <m:r>
                                  <a:rPr lang="en-IN" i="1"/>
                                  <m:t>𝜙</m:t>
                                </m:r>
                              </m:sup>
                            </m:sSup>
                            <m:r>
                              <a:rPr lang="en-IN"/>
                              <m:t>∣</m:t>
                            </m:r>
                            <m:r>
                              <a:rPr lang="en-IN"/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Amplitudes: both are fixed 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r>
                              <a:rPr lang="en-IN"/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Azimuth angle </a:t>
                </a:r>
                <a14:m>
                  <m:oMath xmlns:m="http://schemas.openxmlformats.org/officeDocument/2006/math">
                    <m:r>
                      <a:rPr lang="en-IN" i="1"/>
                      <m:t>𝜙</m:t>
                    </m:r>
                  </m:oMath>
                </a14:m>
                <a:r>
                  <a:rPr lang="en-IN" dirty="0">
                    <a:effectLst/>
                  </a:rPr>
                  <a:t>: controls the </a:t>
                </a:r>
                <a:r>
                  <a:rPr lang="en-IN" b="1" dirty="0">
                    <a:effectLst/>
                  </a:rPr>
                  <a:t>relative phase</a:t>
                </a:r>
                <a:r>
                  <a:rPr lang="en-IN" dirty="0">
                    <a:effectLst/>
                  </a:rPr>
                  <a:t> between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1C809-5A14-FCC2-141E-C24B61EB6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8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4445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9A9C-AEEA-3F4C-3FF5-DC238B695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550D71-67AB-0C7C-14D6-C2C4EDDAEB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9840"/>
                <a:ext cx="10515600" cy="540511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IN" b="1" dirty="0"/>
                  <a:t>Case 1: Phase </a:t>
                </a:r>
                <a14:m>
                  <m:oMath xmlns:m="http://schemas.openxmlformats.org/officeDocument/2006/math">
                    <m:r>
                      <a:rPr lang="en-IN" i="1"/>
                      <m:t>𝜙</m:t>
                    </m:r>
                    <m:r>
                      <a:rPr lang="en-IN"/>
                      <m:t>=</m:t>
                    </m:r>
                    <m:r>
                      <a:rPr lang="en-IN"/>
                      <m:t>0</m:t>
                    </m:r>
                  </m:oMath>
                </a14:m>
                <a:endParaRPr lang="en-IN" b="1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IN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IN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 i="1"/>
                                  <m:t>𝜓</m:t>
                                </m:r>
                              </m:e>
                            </m:d>
                            <m:r>
                              <a:rPr lang="en-IN"/>
                              <m:t>=</m:t>
                            </m:r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r>
                                  <a:rPr lang="en-IN"/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i="1"/>
                                    </m:ctrlPr>
                                  </m:radPr>
                                  <m:deg/>
                                  <m:e>
                                    <m:r>
                                      <a:rPr lang="en-IN"/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d>
                              <m:dPr>
                                <m:endChr m:val="⟩"/>
                                <m:ctrlPr>
                                  <a:rPr lang="en-IN" i="1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/>
                                  <m:t>0</m:t>
                                </m:r>
                              </m:e>
                            </m:d>
                            <m:r>
                              <a:rPr lang="en-IN"/>
                              <m:t>+∣</m:t>
                            </m:r>
                            <m:r>
                              <a:rPr lang="en-IN"/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en-IN" dirty="0"/>
              </a:p>
              <a:p>
                <a:r>
                  <a:rPr lang="en-IN" dirty="0">
                    <a:effectLst/>
                  </a:rPr>
                  <a:t>If we apply a </a:t>
                </a:r>
                <a:r>
                  <a:rPr lang="en-IN" b="1" dirty="0">
                    <a:effectLst/>
                  </a:rPr>
                  <a:t>Hadamard gate</a:t>
                </a:r>
                <a:r>
                  <a:rPr lang="en-IN" dirty="0">
                    <a:effectLst/>
                  </a:rPr>
                  <a:t> (which mixes states), the interference is constructive:</a:t>
                </a:r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IN"/>
                            </m:ctrlPr>
                          </m:dPr>
                          <m:e>
                            <m:r>
                              <a:rPr lang="en-IN" i="1"/>
                              <m:t>𝐻</m:t>
                            </m:r>
                            <m:r>
                              <a:rPr lang="en-IN"/>
                              <m:t>∣</m:t>
                            </m:r>
                            <m:r>
                              <a:rPr lang="en-IN" i="1"/>
                              <m:t>𝜓</m:t>
                            </m:r>
                          </m:e>
                        </m:d>
                        <m:r>
                          <a:rPr lang="en-IN"/>
                          <m:t>=∣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IN" dirty="0">
                    <a:effectLst/>
                  </a:rPr>
                  <a:t>So measurement always gives </a:t>
                </a:r>
                <a:r>
                  <a:rPr lang="en-IN" b="1" dirty="0">
                    <a:effectLst/>
                  </a:rPr>
                  <a:t>0</a:t>
                </a:r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r>
                  <a:rPr lang="en-IN" b="1" dirty="0"/>
                  <a:t>🔹 Case 2: Phase </a:t>
                </a:r>
                <a14:m>
                  <m:oMath xmlns:m="http://schemas.openxmlformats.org/officeDocument/2006/math">
                    <m:r>
                      <a:rPr lang="en-IN" i="1"/>
                      <m:t>𝜙</m:t>
                    </m:r>
                    <m:r>
                      <a:rPr lang="en-IN"/>
                      <m:t>=</m:t>
                    </m:r>
                    <m:r>
                      <a:rPr lang="en-IN" i="1"/>
                      <m:t>𝜋</m:t>
                    </m:r>
                  </m:oMath>
                </a14:m>
                <a:r>
                  <a:rPr lang="en-IN" b="1" dirty="0"/>
                  <a:t>(180° shift)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IN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IN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 i="1"/>
                                  <m:t>𝜓</m:t>
                                </m:r>
                              </m:e>
                            </m:d>
                            <m:r>
                              <a:rPr lang="en-IN"/>
                              <m:t>=</m:t>
                            </m:r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r>
                                  <a:rPr lang="en-IN"/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i="1"/>
                                    </m:ctrlPr>
                                  </m:radPr>
                                  <m:deg/>
                                  <m:e>
                                    <m:r>
                                      <a:rPr lang="en-IN"/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d>
                              <m:dPr>
                                <m:endChr m:val="⟩"/>
                                <m:ctrlPr>
                                  <a:rPr lang="en-IN" i="1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/>
                                  <m:t>0</m:t>
                                </m:r>
                              </m:e>
                            </m:d>
                            <m:r>
                              <a:rPr lang="en-IN"/>
                              <m:t>−∣</m:t>
                            </m:r>
                            <m:r>
                              <a:rPr lang="en-IN"/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en-IN" dirty="0"/>
              </a:p>
              <a:p>
                <a:r>
                  <a:rPr lang="en-IN" dirty="0">
                    <a:effectLst/>
                  </a:rPr>
                  <a:t>Apply the same Hadamard gate:</a:t>
                </a:r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IN"/>
                            </m:ctrlPr>
                          </m:dPr>
                          <m:e>
                            <m:r>
                              <a:rPr lang="en-IN" i="1"/>
                              <m:t>𝐻</m:t>
                            </m:r>
                            <m:r>
                              <a:rPr lang="en-IN"/>
                              <m:t>∣</m:t>
                            </m:r>
                            <m:r>
                              <a:rPr lang="en-IN" i="1"/>
                              <m:t>𝜓</m:t>
                            </m:r>
                          </m:e>
                        </m:d>
                        <m:r>
                          <a:rPr lang="en-IN"/>
                          <m:t>=∣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IN" dirty="0">
                    <a:effectLst/>
                  </a:rPr>
                  <a:t>Now measurement always gives </a:t>
                </a:r>
                <a:r>
                  <a:rPr lang="en-IN" b="1" dirty="0">
                    <a:effectLst/>
                  </a:rPr>
                  <a:t>1</a:t>
                </a:r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550D71-67AB-0C7C-14D6-C2C4EDDAEB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9840"/>
                <a:ext cx="10515600" cy="5405119"/>
              </a:xfrm>
              <a:blipFill>
                <a:blip r:embed="rId2"/>
                <a:stretch>
                  <a:fillRect l="-812" t="-2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952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10C1-CBC9-7E46-7E81-770D80CD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9F054-4029-C071-8BE6-6F4960835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b="1" dirty="0"/>
                  <a:t>Result</a:t>
                </a:r>
              </a:p>
              <a:p>
                <a:pPr lvl="0"/>
                <a:r>
                  <a:rPr lang="en-IN" dirty="0">
                    <a:effectLst/>
                  </a:rPr>
                  <a:t>Same amplitudes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r>
                              <a:rPr lang="en-IN"/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IN" dirty="0">
                    <a:effectLst/>
                  </a:rPr>
                  <a:t> each).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Only the </a:t>
                </a:r>
                <a:r>
                  <a:rPr lang="en-IN" b="1" dirty="0">
                    <a:effectLst/>
                  </a:rPr>
                  <a:t>phase (azimuth)</a:t>
                </a:r>
                <a:r>
                  <a:rPr lang="en-IN" dirty="0">
                    <a:effectLst/>
                  </a:rPr>
                  <a:t> changed.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Outcome flipped completely: from always 0 to always 1.</a:t>
                </a:r>
                <a:endParaRPr lang="en-IN" dirty="0"/>
              </a:p>
              <a:p>
                <a:r>
                  <a:rPr lang="en-IN" b="1" dirty="0"/>
                  <a:t>✨ Intuition</a:t>
                </a:r>
              </a:p>
              <a:p>
                <a:pPr lvl="0"/>
                <a:r>
                  <a:rPr lang="en-IN" b="1" dirty="0">
                    <a:effectLst/>
                  </a:rPr>
                  <a:t>Amplitude</a:t>
                </a:r>
                <a:r>
                  <a:rPr lang="en-IN" dirty="0">
                    <a:effectLst/>
                  </a:rPr>
                  <a:t> sets the probability weights.</a:t>
                </a:r>
                <a:endParaRPr lang="en-IN" dirty="0"/>
              </a:p>
              <a:p>
                <a:pPr lvl="0"/>
                <a:r>
                  <a:rPr lang="en-IN" b="1" dirty="0">
                    <a:effectLst/>
                  </a:rPr>
                  <a:t>Phase (azimuth)</a:t>
                </a:r>
                <a:r>
                  <a:rPr lang="en-IN" dirty="0">
                    <a:effectLst/>
                  </a:rPr>
                  <a:t> sets the interference pattern.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Changing phase alone can turn constructive interference into destructive interference, drastically altering results.</a:t>
                </a:r>
                <a:endParaRPr lang="en-IN" dirty="0"/>
              </a:p>
              <a:p>
                <a:r>
                  <a:rPr lang="en-IN" dirty="0">
                    <a:effectLst/>
                  </a:rPr>
                  <a:t>So the azimuth angle on the Bloch sphere is literally the </a:t>
                </a:r>
                <a:r>
                  <a:rPr lang="en-IN" b="1" dirty="0">
                    <a:effectLst/>
                  </a:rPr>
                  <a:t>phase knob</a:t>
                </a:r>
                <a:r>
                  <a:rPr lang="en-IN" dirty="0">
                    <a:effectLst/>
                  </a:rPr>
                  <a:t> that determines how superpositions interfere when processed by gates.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9F054-4029-C071-8BE6-6F4960835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b="-26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852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47635-011F-553E-5156-146874A5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3600" b="1" dirty="0"/>
            </a:br>
            <a:r>
              <a:rPr lang="en-IN" sz="3600" b="1" dirty="0"/>
              <a:t>extend this numerical example into a visual analogy so the role of azimuth (phase) feels intuitive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C977C-7666-ABF6-23CD-308CFD68D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Imagine Two Speakers</a:t>
            </a:r>
          </a:p>
          <a:p>
            <a:pPr lvl="0"/>
            <a:r>
              <a:rPr lang="en-IN" dirty="0"/>
              <a:t>Picture two identical speakers playing the </a:t>
            </a:r>
            <a:r>
              <a:rPr lang="en-IN" b="1" dirty="0"/>
              <a:t>same tone</a:t>
            </a:r>
            <a:r>
              <a:rPr lang="en-IN" dirty="0"/>
              <a:t> at the same loudness (amplitude fixed).</a:t>
            </a:r>
          </a:p>
          <a:p>
            <a:pPr lvl="0"/>
            <a:r>
              <a:rPr lang="en-IN" dirty="0"/>
              <a:t>If they’re </a:t>
            </a:r>
            <a:r>
              <a:rPr lang="en-IN" b="1" dirty="0"/>
              <a:t>in phase</a:t>
            </a:r>
            <a:r>
              <a:rPr lang="en-IN" dirty="0"/>
              <a:t> (azimuth = 0°), the sound waves line up perfectly. Peaks meet peaks, troughs meet troughs → the sound is </a:t>
            </a:r>
            <a:r>
              <a:rPr lang="en-IN" b="1" dirty="0"/>
              <a:t>loud and clear</a:t>
            </a:r>
            <a:r>
              <a:rPr lang="en-IN" dirty="0"/>
              <a:t> (constructive interference).</a:t>
            </a:r>
          </a:p>
          <a:p>
            <a:pPr lvl="0"/>
            <a:r>
              <a:rPr lang="en-IN" dirty="0"/>
              <a:t>If one speaker is shifted by </a:t>
            </a:r>
            <a:r>
              <a:rPr lang="en-IN" b="1" dirty="0"/>
              <a:t>180°</a:t>
            </a:r>
            <a:r>
              <a:rPr lang="en-IN" dirty="0"/>
              <a:t> (azimuth = π), peaks meet troughs → the sound cancels out → you hear </a:t>
            </a:r>
            <a:r>
              <a:rPr lang="en-IN" b="1" dirty="0"/>
              <a:t>silence</a:t>
            </a:r>
            <a:r>
              <a:rPr lang="en-IN" dirty="0"/>
              <a:t> (destructive interference).</a:t>
            </a:r>
          </a:p>
          <a:p>
            <a:r>
              <a:rPr lang="en-IN" dirty="0"/>
              <a:t>Here, the </a:t>
            </a:r>
            <a:r>
              <a:rPr lang="en-IN" b="1" dirty="0"/>
              <a:t>volume</a:t>
            </a:r>
            <a:r>
              <a:rPr lang="en-IN" dirty="0"/>
              <a:t> of each speaker is the amplitude (unchanged), while the </a:t>
            </a:r>
            <a:r>
              <a:rPr lang="en-IN" b="1" dirty="0"/>
              <a:t>timing offset</a:t>
            </a:r>
            <a:r>
              <a:rPr lang="en-IN" dirty="0"/>
              <a:t> between them is the phase (azimuth). Changing only the timing flips the outcome completely.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681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28915-C16C-DECC-3A9E-242B7EFC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76B77-198A-1522-FF72-DD9EBEDE5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9655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Light Waves Analogy</a:t>
            </a:r>
          </a:p>
          <a:p>
            <a:pPr lvl="0"/>
            <a:r>
              <a:rPr lang="en-IN" dirty="0"/>
              <a:t>Two light beams of equal brightness (amplitude fixed) overlap.</a:t>
            </a:r>
          </a:p>
          <a:p>
            <a:pPr lvl="0"/>
            <a:r>
              <a:rPr lang="en-IN" dirty="0"/>
              <a:t>If their phases are aligned, the spot looks </a:t>
            </a:r>
            <a:r>
              <a:rPr lang="en-IN" b="1" dirty="0"/>
              <a:t>bright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If their phases are opposite, the spot looks </a:t>
            </a:r>
            <a:r>
              <a:rPr lang="en-IN" b="1" dirty="0"/>
              <a:t>dark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Same brightness input, but the </a:t>
            </a:r>
            <a:r>
              <a:rPr lang="en-IN" b="1" dirty="0"/>
              <a:t>phase difference (azimuth)</a:t>
            </a:r>
            <a:r>
              <a:rPr lang="en-IN" dirty="0"/>
              <a:t> decides whether the overlap shines or vanishes.</a:t>
            </a:r>
          </a:p>
          <a:p>
            <a:r>
              <a:rPr lang="en-IN" b="1" dirty="0"/>
              <a:t>🔹 Bloch Sphere Connection</a:t>
            </a:r>
          </a:p>
          <a:p>
            <a:r>
              <a:rPr lang="en-IN" dirty="0"/>
              <a:t>On the Bloch sphere:</a:t>
            </a:r>
          </a:p>
          <a:p>
            <a:pPr lvl="0"/>
            <a:r>
              <a:rPr lang="en-IN" b="1" dirty="0"/>
              <a:t>Polar angle (θ)</a:t>
            </a:r>
            <a:r>
              <a:rPr lang="en-IN" dirty="0"/>
              <a:t> = how much weight goes to |0⟩ vs |1⟩ (amplitude balance).</a:t>
            </a:r>
          </a:p>
          <a:p>
            <a:pPr lvl="0"/>
            <a:r>
              <a:rPr lang="en-IN" b="1" dirty="0"/>
              <a:t>Azimuth angle (φ)</a:t>
            </a:r>
            <a:r>
              <a:rPr lang="en-IN" dirty="0"/>
              <a:t> = the phase difference, like the timing offset between two waves.</a:t>
            </a:r>
          </a:p>
          <a:p>
            <a:pPr lvl="0"/>
            <a:r>
              <a:rPr lang="en-IN" dirty="0"/>
              <a:t>Changing φ alone doesn’t alter probabilities immediately, but it changes how the state interferes when processed by gates — just like shifting one speaker’s timing changes the sound outcome.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112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5215-0A57-3C15-1188-0827C70D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972B0-5CDF-090D-D645-72469CFF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 the </a:t>
            </a:r>
            <a:r>
              <a:rPr lang="en-IN" b="1" dirty="0"/>
              <a:t>azimuth = phase knob</a:t>
            </a:r>
            <a:r>
              <a:rPr lang="en-IN" dirty="0"/>
              <a:t>:</a:t>
            </a:r>
          </a:p>
          <a:p>
            <a:pPr lvl="0"/>
            <a:r>
              <a:rPr lang="en-IN" dirty="0"/>
              <a:t>Amplitude = “volume” of each source.</a:t>
            </a:r>
          </a:p>
          <a:p>
            <a:pPr lvl="0"/>
            <a:r>
              <a:rPr lang="en-IN" dirty="0"/>
              <a:t>Phase (azimuth) = “timing alignment.”</a:t>
            </a:r>
          </a:p>
          <a:p>
            <a:pPr lvl="0"/>
            <a:r>
              <a:rPr lang="en-IN" dirty="0"/>
              <a:t>Together, they decide whether interference builds up or cancels out.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103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79DEA-6768-8AD5-F11F-78B4190A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Vector Representation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787AC-321D-F47B-F6F3-CE796981B2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>
                    <a:effectLst/>
                  </a:rPr>
                  <a:t>For a single qubit:</a:t>
                </a:r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IN"/>
                            </m:ctrlPr>
                          </m:dPr>
                          <m:e>
                            <m:r>
                              <a:rPr lang="en-IN"/>
                              <m:t>∣</m:t>
                            </m:r>
                            <m:r>
                              <a:rPr lang="en-IN"/>
                              <m:t>0</m:t>
                            </m:r>
                          </m:e>
                        </m:d>
                        <m:r>
                          <a:rPr lang="en-IN"/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/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/>
                                </m:ctrlPr>
                              </m:mPr>
                              <m:mr>
                                <m:e>
                                  <m:r>
                                    <a:rPr lang="en-IN"/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/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/>
                          <m:t>, ∣</m:t>
                        </m:r>
                        <m:r>
                          <a:rPr lang="en-IN"/>
                          <m:t>1</m:t>
                        </m:r>
                      </m:e>
                    </m:d>
                    <m:r>
                      <a:rPr lang="en-IN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/>
                            </m:ctrlPr>
                          </m:mPr>
                          <m:mr>
                            <m:e>
                              <m:r>
                                <a:rPr lang="en-IN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These are the </a:t>
                </a:r>
                <a:r>
                  <a:rPr lang="en-IN" b="1" dirty="0">
                    <a:effectLst/>
                  </a:rPr>
                  <a:t>basis vectors</a:t>
                </a:r>
                <a:r>
                  <a:rPr lang="en-IN" dirty="0">
                    <a:effectLst/>
                  </a:rPr>
                  <a:t> of the 2D space.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Think of them as the “axes” that span all possible qubit states.</a:t>
                </a:r>
                <a:endParaRPr lang="en-IN" dirty="0"/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points purely along the x‑axis.</a:t>
                </a:r>
                <a:endParaRPr lang="en-IN" dirty="0"/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points purely along the y‑axis.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Any other qubit state is a </a:t>
                </a:r>
                <a:r>
                  <a:rPr lang="en-IN" b="1" dirty="0">
                    <a:effectLst/>
                  </a:rPr>
                  <a:t>combination (superposition)</a:t>
                </a:r>
                <a:r>
                  <a:rPr lang="en-IN" dirty="0">
                    <a:effectLst/>
                  </a:rPr>
                  <a:t> of these two directions.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5787AC-321D-F47B-F6F3-CE796981B2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1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691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79431-9E5A-9B88-655E-4EF68C87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C1EBC-C847-C3DC-ED57-48656E030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|1⟩ (0,1)</a:t>
            </a:r>
          </a:p>
          <a:p>
            <a:r>
              <a:rPr lang="en-IN" dirty="0"/>
              <a:t>     ↑</a:t>
            </a:r>
          </a:p>
          <a:p>
            <a:r>
              <a:rPr lang="en-IN" dirty="0"/>
              <a:t>     |</a:t>
            </a:r>
          </a:p>
          <a:p>
            <a:r>
              <a:rPr lang="en-IN" dirty="0"/>
              <a:t>     |</a:t>
            </a:r>
          </a:p>
          <a:p>
            <a:r>
              <a:rPr lang="en-IN" dirty="0"/>
              <a:t>     •———→ |0⟩ (1,0)</a:t>
            </a:r>
          </a:p>
        </p:txBody>
      </p:sp>
    </p:spTree>
    <p:extLst>
      <p:ext uri="{BB962C8B-B14F-4D97-AF65-F5344CB8AC3E}">
        <p14:creationId xmlns:p14="http://schemas.microsoft.com/office/powerpoint/2010/main" val="473946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C294-373C-8332-2E40-8C7FB56B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FBE5B0-4592-F17A-C316-ED1BBC2005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IN" b="1" dirty="0"/>
                  <a:t>Example Superposition</a:t>
                </a:r>
              </a:p>
              <a:p>
                <a:r>
                  <a:rPr lang="en-IN" dirty="0">
                    <a:effectLst/>
                  </a:rPr>
                  <a:t>If you take:</a:t>
                </a:r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IN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IN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 i="1"/>
                                  <m:t>𝜓</m:t>
                                </m:r>
                              </m:e>
                            </m:d>
                            <m:r>
                              <a:rPr lang="en-IN"/>
                              <m:t>=</m:t>
                            </m:r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r>
                                  <a:rPr lang="en-IN"/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i="1"/>
                                    </m:ctrlPr>
                                  </m:radPr>
                                  <m:deg/>
                                  <m:e>
                                    <m:r>
                                      <a:rPr lang="en-IN"/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d>
                              <m:dPr>
                                <m:endChr m:val="⟩"/>
                                <m:ctrlPr>
                                  <a:rPr lang="en-IN" i="1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/>
                                  <m:t>0</m:t>
                                </m:r>
                              </m:e>
                            </m:d>
                            <m:r>
                              <a:rPr lang="en-IN"/>
                              <m:t>+∣</m:t>
                            </m:r>
                            <m:r>
                              <a:rPr lang="en-IN"/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en-IN" dirty="0"/>
              </a:p>
              <a:p>
                <a:r>
                  <a:rPr lang="en-IN" dirty="0">
                    <a:effectLst/>
                  </a:rPr>
                  <a:t>That’s a vector pointing </a:t>
                </a:r>
                <a:r>
                  <a:rPr lang="en-IN" b="1" dirty="0">
                    <a:effectLst/>
                  </a:rPr>
                  <a:t>diagonally</a:t>
                </a:r>
                <a:r>
                  <a:rPr lang="en-IN" dirty="0">
                    <a:effectLst/>
                  </a:rPr>
                  <a:t> between the two axes:</a:t>
                </a:r>
                <a:endParaRPr lang="en-IN" dirty="0"/>
              </a:p>
              <a:p>
                <a:r>
                  <a:rPr lang="en-IN" dirty="0"/>
                  <a:t> |1⟩</a:t>
                </a:r>
              </a:p>
              <a:p>
                <a:r>
                  <a:rPr lang="en-IN" dirty="0"/>
                  <a:t>     ↑</a:t>
                </a:r>
              </a:p>
              <a:p>
                <a:r>
                  <a:rPr lang="en-IN" dirty="0"/>
                  <a:t>     |</a:t>
                </a:r>
              </a:p>
              <a:p>
                <a:r>
                  <a:rPr lang="en-IN" dirty="0"/>
                  <a:t>     •</a:t>
                </a:r>
              </a:p>
              <a:p>
                <a:r>
                  <a:rPr lang="en-IN" dirty="0"/>
                  <a:t>    /</a:t>
                </a:r>
              </a:p>
              <a:p>
                <a:r>
                  <a:rPr lang="en-IN" dirty="0"/>
                  <a:t>   /</a:t>
                </a:r>
              </a:p>
              <a:p>
                <a:r>
                  <a:rPr lang="en-IN" dirty="0"/>
                  <a:t> •———→ |0⟩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FBE5B0-4592-F17A-C316-ED1BBC2005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414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9507-234B-D0B4-B0E8-B253DE2B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F4E3A4-1C47-4A1A-E21F-2898AC4CB4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So visually, qubit states are arrows in this 2D space, built from the basis vectors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r>
                  <a:rPr lang="en-IN" dirty="0">
                    <a:effectLst/>
                  </a:rPr>
                  <a:t>✨ In short:</a:t>
                </a:r>
                <a:endParaRPr lang="en-IN" dirty="0"/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are the </a:t>
                </a:r>
                <a:r>
                  <a:rPr lang="en-IN" b="1" dirty="0">
                    <a:effectLst/>
                  </a:rPr>
                  <a:t>unit vectors</a:t>
                </a:r>
                <a:r>
                  <a:rPr lang="en-IN" dirty="0">
                    <a:effectLst/>
                  </a:rPr>
                  <a:t> (basis) of the qubit’s Hilbert space.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All other states are combinations of them.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The Bloch sphere is a more advanced visualization that maps these 2D vectors into a 3D geometric picture (using amplitude + phase).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F4E3A4-1C47-4A1A-E21F-2898AC4CB4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9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716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B0634-E495-5930-6660-4BDE83DA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915C9F-E108-138C-CC59-8E5372A379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b="1" dirty="0"/>
                  <a:t>Step 2: Mapping to the Bloch Sphere</a:t>
                </a:r>
              </a:p>
              <a:p>
                <a:r>
                  <a:rPr lang="en-IN" dirty="0">
                    <a:effectLst/>
                  </a:rPr>
                  <a:t>On the Bloch sphere, every pure qubit state can be written as:</a:t>
                </a:r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IN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 i="1"/>
                                  <m:t>𝜓</m:t>
                                </m:r>
                              </m:e>
                            </m:d>
                            <m:r>
                              <a:rPr lang="en-IN"/>
                              <m:t>=</m:t>
                            </m:r>
                            <m:func>
                              <m:funcPr>
                                <m:ctrlPr>
                                  <a:rPr lang="en-IN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/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IN" i="1"/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i="1"/>
                                        </m:ctrlPr>
                                      </m:fPr>
                                      <m:num>
                                        <m:r>
                                          <a:rPr lang="en-IN" i="1"/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a:rPr lang="en-IN"/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en-IN"/>
                              <m:t>∣</m:t>
                            </m:r>
                            <m:r>
                              <a:rPr lang="en-IN"/>
                              <m:t>0</m:t>
                            </m:r>
                          </m:e>
                        </m:d>
                        <m:r>
                          <a:rPr lang="en-IN"/>
                          <m:t>+</m:t>
                        </m:r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𝑒</m:t>
                            </m:r>
                          </m:e>
                          <m:sup>
                            <m:r>
                              <a:rPr lang="en-IN" i="1"/>
                              <m:t>𝑖</m:t>
                            </m:r>
                            <m:r>
                              <a:rPr lang="en-IN" i="1"/>
                              <m:t>𝜙</m:t>
                            </m:r>
                          </m:sup>
                        </m:sSup>
                        <m:func>
                          <m:funcPr>
                            <m:ctrlPr>
                              <a:rPr lang="en-IN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/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IN" i="1"/>
                                    </m:ctrlPr>
                                  </m:fPr>
                                  <m:num>
                                    <m:r>
                                      <a:rPr lang="en-IN" i="1"/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IN"/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:r>
                  <a:rPr lang="en-IN" b="1" dirty="0">
                    <a:effectLst/>
                  </a:rPr>
                  <a:t>Polar angle (θ)</a:t>
                </a:r>
                <a:r>
                  <a:rPr lang="en-IN" dirty="0">
                    <a:effectLst/>
                  </a:rPr>
                  <a:t> → controls the balance of amplitudes between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1"/>
                <a:r>
                  <a:rPr lang="en-IN" dirty="0">
                    <a:effectLst/>
                  </a:rPr>
                  <a:t>θ = 0 → pure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1"/>
                <a:r>
                  <a:rPr lang="en-IN" dirty="0">
                    <a:effectLst/>
                  </a:rPr>
                  <a:t>θ = π → pure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1"/>
                <a:r>
                  <a:rPr lang="en-IN" dirty="0">
                    <a:effectLst/>
                  </a:rPr>
                  <a:t>θ = π/2 → equal amplitudes (superposition).</a:t>
                </a:r>
                <a:endParaRPr lang="en-IN" dirty="0"/>
              </a:p>
              <a:p>
                <a:pPr lvl="0"/>
                <a:r>
                  <a:rPr lang="en-IN" b="1" dirty="0">
                    <a:effectLst/>
                  </a:rPr>
                  <a:t>Azimuth angle (φ)</a:t>
                </a:r>
                <a:r>
                  <a:rPr lang="en-IN" dirty="0">
                    <a:effectLst/>
                  </a:rPr>
                  <a:t> → controls the relative phase between them.</a:t>
                </a:r>
                <a:endParaRPr lang="en-IN" dirty="0"/>
              </a:p>
              <a:p>
                <a:pPr lvl="1"/>
                <a:r>
                  <a:rPr lang="en-IN" dirty="0">
                    <a:effectLst/>
                  </a:rPr>
                  <a:t>φ = 0 → constructive interference.</a:t>
                </a:r>
                <a:endParaRPr lang="en-IN" dirty="0"/>
              </a:p>
              <a:p>
                <a:pPr lvl="1"/>
                <a:r>
                  <a:rPr lang="en-IN" dirty="0">
                    <a:effectLst/>
                  </a:rPr>
                  <a:t>φ = π → destructive interference.</a:t>
                </a:r>
                <a:endParaRPr lang="en-IN" dirty="0"/>
              </a:p>
              <a:p>
                <a:pPr lvl="1"/>
                <a:r>
                  <a:rPr lang="en-IN" dirty="0">
                    <a:effectLst/>
                  </a:rPr>
                  <a:t>φ varies like longitude around the sphere.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915C9F-E108-138C-CC59-8E5372A379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99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060C-B3A3-B05A-F953-0DB9C3288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648FF5-0F05-B9AA-D047-3C1EB0D703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Step 3: Visual Picture</a:t>
                </a:r>
              </a:p>
              <a:p>
                <a:r>
                  <a:rPr lang="en-IN" dirty="0">
                    <a:effectLst/>
                  </a:rPr>
                  <a:t>Think of the Bloch sphere as a globe:</a:t>
                </a:r>
                <a:endParaRPr lang="en-IN" dirty="0"/>
              </a:p>
              <a:p>
                <a:pPr lvl="0"/>
                <a:r>
                  <a:rPr lang="en-IN" b="1" dirty="0">
                    <a:effectLst/>
                  </a:rPr>
                  <a:t>North pole</a:t>
                </a:r>
                <a:r>
                  <a:rPr lang="en-IN" dirty="0">
                    <a:effectLst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0"/>
                <a:r>
                  <a:rPr lang="en-IN" b="1" dirty="0">
                    <a:effectLst/>
                  </a:rPr>
                  <a:t>South pole</a:t>
                </a:r>
                <a:r>
                  <a:rPr lang="en-IN" dirty="0">
                    <a:effectLst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Points on the surface = superpositions of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0"/>
                <a:r>
                  <a:rPr lang="en-IN" b="1" dirty="0">
                    <a:effectLst/>
                  </a:rPr>
                  <a:t>Latitude (θ)</a:t>
                </a:r>
                <a:r>
                  <a:rPr lang="en-IN" dirty="0">
                    <a:effectLst/>
                  </a:rPr>
                  <a:t> = how much of each basis vector you mix.</a:t>
                </a:r>
                <a:endParaRPr lang="en-IN" dirty="0"/>
              </a:p>
              <a:p>
                <a:pPr lvl="0"/>
                <a:r>
                  <a:rPr lang="en-IN" b="1" dirty="0">
                    <a:effectLst/>
                  </a:rPr>
                  <a:t>Longitude (φ)</a:t>
                </a:r>
                <a:r>
                  <a:rPr lang="en-IN" dirty="0">
                    <a:effectLst/>
                  </a:rPr>
                  <a:t> = the phase difference (azimuth).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648FF5-0F05-B9AA-D047-3C1EB0D703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920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6BC1-B0B2-E7B5-FF41-7E179F8F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7176A-2D94-1081-A962-691B71B4E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|0⟩ (North Pole)</a:t>
            </a:r>
          </a:p>
          <a:p>
            <a:r>
              <a:rPr lang="en-US" dirty="0"/>
              <a:t>           •</a:t>
            </a:r>
          </a:p>
          <a:p>
            <a:r>
              <a:rPr lang="en-US" dirty="0"/>
              <a:t>          / \</a:t>
            </a:r>
          </a:p>
          <a:p>
            <a:r>
              <a:rPr lang="en-US" dirty="0"/>
              <a:t>         /   \</a:t>
            </a:r>
          </a:p>
          <a:p>
            <a:r>
              <a:rPr lang="en-US" dirty="0"/>
              <a:t>        •     •   ← different φ (phase)</a:t>
            </a:r>
          </a:p>
          <a:p>
            <a:r>
              <a:rPr lang="en-US" dirty="0"/>
              <a:t>         \   /</a:t>
            </a:r>
          </a:p>
          <a:p>
            <a:r>
              <a:rPr lang="en-US" dirty="0"/>
              <a:t>          \ /</a:t>
            </a:r>
          </a:p>
          <a:p>
            <a:r>
              <a:rPr lang="en-US" dirty="0"/>
              <a:t>           •</a:t>
            </a:r>
          </a:p>
          <a:p>
            <a:r>
              <a:rPr lang="en-US" dirty="0"/>
              <a:t>        |1⟩ (South Pole)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359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2984A-6A5C-92C1-F043-1527D6DD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31AF6-6465-46CF-02A6-F8904A945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Intuition</a:t>
            </a:r>
          </a:p>
          <a:p>
            <a:pPr lvl="0"/>
            <a:r>
              <a:rPr lang="en-IN" dirty="0"/>
              <a:t>The </a:t>
            </a:r>
            <a:r>
              <a:rPr lang="en-IN" b="1" dirty="0"/>
              <a:t>2D Hilbert space picture</a:t>
            </a:r>
            <a:r>
              <a:rPr lang="en-IN" dirty="0"/>
              <a:t> shows the algebraic basis vectors.</a:t>
            </a:r>
          </a:p>
          <a:p>
            <a:pPr lvl="0"/>
            <a:r>
              <a:rPr lang="en-IN" dirty="0"/>
              <a:t>The </a:t>
            </a:r>
            <a:r>
              <a:rPr lang="en-IN" b="1" dirty="0"/>
              <a:t>Bloch sphere</a:t>
            </a:r>
            <a:r>
              <a:rPr lang="en-IN" dirty="0"/>
              <a:t> wraps that into a 3D geometric view, where θ and φ give you amplitude and phase in a more intuitive way.</a:t>
            </a:r>
          </a:p>
          <a:p>
            <a:pPr lvl="0"/>
            <a:r>
              <a:rPr lang="en-IN" dirty="0"/>
              <a:t>This is why the Bloch sphere is so popular for visualizing single‑qubit states — it makes the abstract math feel like geometry.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3835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0B16-723B-F5AD-EAA1-9E621C85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0736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Here’s the Bloch sphere with the angles shown — this is the geometric way to visualize a qubit’s state:</a:t>
            </a:r>
          </a:p>
        </p:txBody>
      </p:sp>
      <p:pic>
        <p:nvPicPr>
          <p:cNvPr id="4" name="Content Placeholder 3" descr="Bloch sphere with theta and phi">
            <a:extLst>
              <a:ext uri="{FF2B5EF4-FFF2-40B4-BE49-F238E27FC236}">
                <a16:creationId xmlns:a16="http://schemas.microsoft.com/office/drawing/2014/main" id="{75992A6D-0BB9-993B-24C5-02B22FDBC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7200" y="2172494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0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BD66-882C-0202-99F3-EF712BB2D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94CFA8-98A9-515C-7B69-767C159FE7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IN" b="1" dirty="0"/>
                  <a:t>How to Read It</a:t>
                </a:r>
              </a:p>
              <a:p>
                <a:pPr lvl="0"/>
                <a:r>
                  <a:rPr lang="en-IN" b="1" dirty="0">
                    <a:effectLst/>
                  </a:rPr>
                  <a:t>North pole</a:t>
                </a:r>
                <a:r>
                  <a:rPr lang="en-IN" dirty="0">
                    <a:effectLst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:r>
                  <a:rPr lang="en-IN" b="1" dirty="0">
                    <a:effectLst/>
                  </a:rPr>
                  <a:t>South pole</a:t>
                </a:r>
                <a:r>
                  <a:rPr lang="en-IN" dirty="0">
                    <a:effectLst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:r>
                  <a:rPr lang="en-IN" b="1" dirty="0">
                    <a:effectLst/>
                  </a:rPr>
                  <a:t>Polar angle (θ)</a:t>
                </a:r>
                <a:r>
                  <a:rPr lang="en-IN" dirty="0">
                    <a:effectLst/>
                  </a:rPr>
                  <a:t> → tilt from the z‑axis. It sets the balance of amplitudes between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0"/>
                <a:r>
                  <a:rPr lang="en-IN" b="1" dirty="0">
                    <a:effectLst/>
                  </a:rPr>
                  <a:t>Azimuth angle (φ)</a:t>
                </a:r>
                <a:r>
                  <a:rPr lang="en-IN" dirty="0">
                    <a:effectLst/>
                  </a:rPr>
                  <a:t> → rotation around the equator. It sets the relative phase between them.</a:t>
                </a:r>
                <a:endParaRPr lang="en-IN" dirty="0"/>
              </a:p>
              <a:p>
                <a:r>
                  <a:rPr lang="en-IN" dirty="0">
                    <a:effectLst/>
                  </a:rPr>
                  <a:t>So any point on the sphere corresponds to a qubit state:</a:t>
                </a:r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IN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 i="1"/>
                                  <m:t>𝜓</m:t>
                                </m:r>
                              </m:e>
                            </m:d>
                            <m:r>
                              <a:rPr lang="en-IN"/>
                              <m:t>=</m:t>
                            </m:r>
                            <m:func>
                              <m:funcPr>
                                <m:ctrlPr>
                                  <a:rPr lang="en-IN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/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IN" i="1"/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i="1"/>
                                        </m:ctrlPr>
                                      </m:fPr>
                                      <m:num>
                                        <m:r>
                                          <a:rPr lang="en-IN" i="1"/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a:rPr lang="en-IN"/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en-IN"/>
                              <m:t>∣</m:t>
                            </m:r>
                            <m:r>
                              <a:rPr lang="en-IN"/>
                              <m:t>0</m:t>
                            </m:r>
                          </m:e>
                        </m:d>
                        <m:r>
                          <a:rPr lang="en-IN"/>
                          <m:t>+</m:t>
                        </m:r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𝑒</m:t>
                            </m:r>
                          </m:e>
                          <m:sup>
                            <m:r>
                              <a:rPr lang="en-IN" i="1"/>
                              <m:t>𝑖</m:t>
                            </m:r>
                            <m:r>
                              <a:rPr lang="en-IN" i="1"/>
                              <m:t>𝜙</m:t>
                            </m:r>
                          </m:sup>
                        </m:sSup>
                        <m:func>
                          <m:funcPr>
                            <m:ctrlPr>
                              <a:rPr lang="en-IN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/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IN" i="1"/>
                                    </m:ctrlPr>
                                  </m:fPr>
                                  <m:num>
                                    <m:r>
                                      <a:rPr lang="en-IN" i="1"/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IN"/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IN" dirty="0">
                    <a:effectLst/>
                  </a:rPr>
                  <a:t>✨ In short: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θ controls </a:t>
                </a:r>
                <a:r>
                  <a:rPr lang="en-IN" b="1" dirty="0">
                    <a:effectLst/>
                  </a:rPr>
                  <a:t>amplitude balance</a:t>
                </a:r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φ (azimuth) controls </a:t>
                </a:r>
                <a:r>
                  <a:rPr lang="en-IN" b="1" dirty="0">
                    <a:effectLst/>
                  </a:rPr>
                  <a:t>phase difference</a:t>
                </a:r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Together, they define the qubit’s position on the Bloch sphere.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94CFA8-98A9-515C-7B69-767C159FE7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5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198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0B8B-36FC-B2DA-E3FF-9244D2C9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100" b="1" dirty="0"/>
              <a:t>Here’s how the explicit vector form of a qubit state looks when you include both the polar angle (θ) and the azimuth (φ) — the two parameters that define its position on the Bloch sphere</a:t>
            </a:r>
            <a:r>
              <a:rPr lang="en-IN" dirty="0"/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8408C-AAB9-3758-A141-829D99C047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General Qubit State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IN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∣</m:t>
                                </m:r>
                                <m:r>
                                  <a:rPr lang="en-IN" i="1"/>
                                  <m:t>𝜓</m:t>
                                </m:r>
                              </m:e>
                            </m:d>
                            <m:r>
                              <a:rPr lang="en-IN"/>
                              <m:t>=</m:t>
                            </m:r>
                            <m:func>
                              <m:funcPr>
                                <m:ctrlPr>
                                  <a:rPr lang="en-IN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/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IN" i="1"/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i="1"/>
                                        </m:ctrlPr>
                                      </m:fPr>
                                      <m:num>
                                        <m:r>
                                          <a:rPr lang="en-IN" i="1"/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a:rPr lang="en-IN"/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en-IN"/>
                              <m:t>∣</m:t>
                            </m:r>
                            <m:r>
                              <a:rPr lang="en-IN"/>
                              <m:t>0</m:t>
                            </m:r>
                          </m:e>
                        </m:d>
                        <m:r>
                          <a:rPr lang="en-IN"/>
                          <m:t>+</m:t>
                        </m:r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𝑒</m:t>
                            </m:r>
                          </m:e>
                          <m:sup>
                            <m:r>
                              <a:rPr lang="en-IN" i="1"/>
                              <m:t>𝑖</m:t>
                            </m:r>
                            <m:r>
                              <a:rPr lang="en-IN" i="1"/>
                              <m:t>𝜙</m:t>
                            </m:r>
                          </m:sup>
                        </m:sSup>
                        <m:func>
                          <m:funcPr>
                            <m:ctrlPr>
                              <a:rPr lang="en-IN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/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IN" i="1"/>
                                    </m:ctrlPr>
                                  </m:fPr>
                                  <m:num>
                                    <m:r>
                                      <a:rPr lang="en-IN" i="1"/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IN"/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IN" dirty="0">
                    <a:effectLst/>
                  </a:rPr>
                  <a:t>In </a:t>
                </a:r>
                <a:r>
                  <a:rPr lang="en-IN" b="1" dirty="0">
                    <a:effectLst/>
                  </a:rPr>
                  <a:t>vector form</a:t>
                </a:r>
                <a:r>
                  <a:rPr lang="en-IN" dirty="0">
                    <a:effectLst/>
                  </a:rPr>
                  <a:t>, substituting the basis vectors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  <m:r>
                      <a:rPr lang="en-IN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/>
                            </m:ctrlPr>
                          </m:mPr>
                          <m:mr>
                            <m:e>
                              <m:r>
                                <a:rPr lang="en-IN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/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>
                    <a:effectLst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  <m:r>
                      <a:rPr lang="en-IN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/>
                            </m:ctrlPr>
                          </m:mPr>
                          <m:mr>
                            <m:e>
                              <m:r>
                                <a:rPr lang="en-IN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>
                    <a:effectLst/>
                  </a:rPr>
                  <a:t>:</a:t>
                </a:r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 i="1"/>
                          <m:t>𝜓</m:t>
                        </m:r>
                      </m:e>
                    </m:d>
                    <m:r>
                      <a:rPr lang="en-IN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/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IN" i="1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/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IN" i="1"/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i="1"/>
                                          </m:ctrlPr>
                                        </m:fPr>
                                        <m:num>
                                          <m:r>
                                            <a:rPr lang="en-IN" i="1"/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n-IN"/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IN" i="1"/>
                                  </m:ctrlPr>
                                </m:sSupPr>
                                <m:e>
                                  <m:r>
                                    <a:rPr lang="en-IN" i="1"/>
                                    <m:t>𝑒</m:t>
                                  </m:r>
                                </m:e>
                                <m:sup>
                                  <m:r>
                                    <a:rPr lang="en-IN" i="1"/>
                                    <m:t>𝑖</m:t>
                                  </m:r>
                                  <m:r>
                                    <a:rPr lang="en-IN" i="1"/>
                                    <m:t>𝜙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IN" i="1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/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IN" i="1"/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i="1"/>
                                          </m:ctrlPr>
                                        </m:fPr>
                                        <m:num>
                                          <m:r>
                                            <a:rPr lang="en-IN" i="1"/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n-IN"/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8408C-AAB9-3758-A141-829D99C04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924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0700-DE84-9B3A-4E61-28F7E7C3E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0D1345-B653-F47A-C9DB-4BA3930FB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IN" b="1" dirty="0"/>
                  <a:t>Interpretation</a:t>
                </a:r>
              </a:p>
              <a:p>
                <a:pPr lvl="0"/>
                <a:r>
                  <a:rPr lang="en-IN" dirty="0">
                    <a:effectLst/>
                  </a:rPr>
                  <a:t>The </a:t>
                </a:r>
                <a:r>
                  <a:rPr lang="en-IN" b="1" dirty="0">
                    <a:effectLst/>
                  </a:rPr>
                  <a:t>top component</a:t>
                </a:r>
                <a:r>
                  <a:rPr lang="en-IN" dirty="0">
                    <a:effectLst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/>
                      <m:t>cos</m:t>
                    </m:r>
                    <m:r>
                      <a:rPr lang="en-IN"/>
                      <m:t>⁡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𝜃</m:t>
                            </m:r>
                          </m:num>
                          <m:den>
                            <m:r>
                              <a:rPr lang="en-IN"/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>
                    <a:effectLst/>
                  </a:rPr>
                  <a:t>) is the amplitude for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0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The </a:t>
                </a:r>
                <a:r>
                  <a:rPr lang="en-IN" b="1" dirty="0">
                    <a:effectLst/>
                  </a:rPr>
                  <a:t>bottom component</a:t>
                </a:r>
                <a:r>
                  <a:rPr lang="en-IN" dirty="0">
                    <a:effectLst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/>
                        </m:ctrlPr>
                      </m:sSupPr>
                      <m:e>
                        <m:r>
                          <a:rPr lang="en-IN" i="1"/>
                          <m:t>𝑒</m:t>
                        </m:r>
                      </m:e>
                      <m:sup>
                        <m:r>
                          <a:rPr lang="en-IN" i="1"/>
                          <m:t>𝑖</m:t>
                        </m:r>
                        <m:r>
                          <a:rPr lang="en-IN" i="1"/>
                          <m:t>𝜙</m:t>
                        </m:r>
                      </m:sup>
                    </m:sSup>
                    <m:r>
                      <m:rPr>
                        <m:sty m:val="p"/>
                      </m:rPr>
                      <a:rPr lang="en-IN"/>
                      <m:t>sin</m:t>
                    </m:r>
                    <m:r>
                      <a:rPr lang="en-IN"/>
                      <m:t>⁡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𝜃</m:t>
                            </m:r>
                          </m:num>
                          <m:den>
                            <m:r>
                              <a:rPr lang="en-IN"/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>
                    <a:effectLst/>
                  </a:rPr>
                  <a:t>) is the amplitude for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/>
                          <m:t>1</m:t>
                        </m:r>
                      </m:e>
                    </m:d>
                  </m:oMath>
                </a14:m>
                <a:r>
                  <a:rPr lang="en-IN" dirty="0">
                    <a:effectLst/>
                  </a:rPr>
                  <a:t>, including the </a:t>
                </a:r>
                <a:r>
                  <a:rPr lang="en-IN" b="1" dirty="0">
                    <a:effectLst/>
                  </a:rPr>
                  <a:t>phase factor</a:t>
                </a:r>
                <a:r>
                  <a:rPr lang="en-IN" dirty="0">
                    <a:effectLst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/>
                        </m:ctrlPr>
                      </m:sSupPr>
                      <m:e>
                        <m:r>
                          <a:rPr lang="en-IN" i="1"/>
                          <m:t>𝑒</m:t>
                        </m:r>
                      </m:e>
                      <m:sup>
                        <m:r>
                          <a:rPr lang="en-IN" i="1"/>
                          <m:t>𝑖</m:t>
                        </m:r>
                        <m:r>
                          <a:rPr lang="en-IN" i="1"/>
                          <m:t>𝜙</m:t>
                        </m:r>
                      </m:sup>
                    </m:sSup>
                  </m:oMath>
                </a14:m>
                <a:r>
                  <a:rPr lang="en-IN" dirty="0">
                    <a:effectLst/>
                  </a:rPr>
                  <a:t>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The </a:t>
                </a:r>
                <a:r>
                  <a:rPr lang="en-IN" b="1" dirty="0">
                    <a:effectLst/>
                  </a:rPr>
                  <a:t>polar angle (θ)</a:t>
                </a:r>
                <a:r>
                  <a:rPr lang="en-IN" dirty="0">
                    <a:effectLst/>
                  </a:rPr>
                  <a:t> controls how much weight each basis vector gets.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The </a:t>
                </a:r>
                <a:r>
                  <a:rPr lang="en-IN" b="1" dirty="0">
                    <a:effectLst/>
                  </a:rPr>
                  <a:t>azimuth (φ)</a:t>
                </a:r>
                <a:r>
                  <a:rPr lang="en-IN" dirty="0">
                    <a:effectLst/>
                  </a:rPr>
                  <a:t> controls the relative phase between them.</a:t>
                </a:r>
                <a:endParaRPr lang="en-IN" dirty="0"/>
              </a:p>
              <a:p>
                <a:r>
                  <a:rPr lang="en-IN" b="1" dirty="0"/>
                  <a:t>🔹 Example</a:t>
                </a:r>
              </a:p>
              <a:p>
                <a:r>
                  <a:rPr lang="en-IN" dirty="0"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/>
                      <m:t>𝜃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𝜋</m:t>
                        </m:r>
                      </m:num>
                      <m:den>
                        <m:r>
                          <a:rPr lang="en-IN"/>
                          <m:t>2</m:t>
                        </m:r>
                      </m:den>
                    </m:f>
                  </m:oMath>
                </a14:m>
                <a:r>
                  <a:rPr lang="en-IN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IN" i="1"/>
                      <m:t>𝜑</m:t>
                    </m:r>
                    <m:r>
                      <a:rPr lang="en-IN"/>
                      <m:t>=</m:t>
                    </m:r>
                    <m:r>
                      <a:rPr lang="en-IN"/>
                      <m:t>0</m:t>
                    </m:r>
                  </m:oMath>
                </a14:m>
                <a:r>
                  <a:rPr lang="en-IN" dirty="0">
                    <a:effectLst/>
                  </a:rPr>
                  <a:t>:</a:t>
                </a:r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 i="1"/>
                          <m:t>𝜓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/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r>
                              <a:rPr lang="en-IN"/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IN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/>
                            </m:ctrlPr>
                          </m:mPr>
                          <m:mr>
                            <m:e>
                              <m:r>
                                <a:rPr lang="en-IN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r>
                  <a:rPr lang="en-IN" dirty="0"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/>
                      <m:t>𝜃</m:t>
                    </m:r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𝜋</m:t>
                        </m:r>
                      </m:num>
                      <m:den>
                        <m:r>
                          <a:rPr lang="en-IN"/>
                          <m:t>2</m:t>
                        </m:r>
                      </m:den>
                    </m:f>
                  </m:oMath>
                </a14:m>
                <a:r>
                  <a:rPr lang="en-IN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IN" i="1"/>
                      <m:t>𝜑</m:t>
                    </m:r>
                    <m:r>
                      <a:rPr lang="en-IN"/>
                      <m:t>=</m:t>
                    </m:r>
                    <m:r>
                      <a:rPr lang="en-IN" i="1"/>
                      <m:t>𝜋</m:t>
                    </m:r>
                  </m:oMath>
                </a14:m>
                <a:r>
                  <a:rPr lang="en-IN" dirty="0">
                    <a:effectLst/>
                  </a:rPr>
                  <a:t>:</a:t>
                </a:r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∣</m:t>
                        </m:r>
                        <m:r>
                          <a:rPr lang="en-IN" i="1"/>
                          <m:t>𝜓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/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r>
                              <a:rPr lang="en-IN"/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IN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/>
                            </m:ctrlPr>
                          </m:mPr>
                          <m:mr>
                            <m:e>
                              <m:r>
                                <a:rPr lang="en-IN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/>
                                <m:t>−</m:t>
                              </m:r>
                              <m:r>
                                <a:rPr lang="en-IN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0D1345-B653-F47A-C9DB-4BA3930FB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838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D5CA9-872F-A9F3-6DDC-1262B4F8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3BD5-F2D4-0CD6-787E-70CA109C7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Same amplitudes, different phase — and that phase flip changes interference outcomes completely.</a:t>
            </a:r>
          </a:p>
          <a:p>
            <a:r>
              <a:rPr lang="en-IN" dirty="0"/>
              <a:t>✨ So in vector form:</a:t>
            </a:r>
          </a:p>
          <a:p>
            <a:pPr lvl="0"/>
            <a:r>
              <a:rPr lang="en-IN" b="1" dirty="0"/>
              <a:t>θ</a:t>
            </a:r>
            <a:r>
              <a:rPr lang="en-IN" dirty="0"/>
              <a:t> defines the tilt from the z‑axis (amplitude balance).</a:t>
            </a:r>
          </a:p>
          <a:p>
            <a:pPr lvl="0"/>
            <a:r>
              <a:rPr lang="en-IN" b="1" dirty="0"/>
              <a:t>φ</a:t>
            </a:r>
            <a:r>
              <a:rPr lang="en-IN" dirty="0"/>
              <a:t> defines rotation around the z‑axis (phase/azimuth). </a:t>
            </a:r>
            <a:r>
              <a:rPr lang="en-IN"/>
              <a:t>Together, they locate the qubit’s state vector precisely on the Bloch sphere.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710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1637</Words>
  <Application>Microsoft Office PowerPoint</Application>
  <PresentationFormat>Widescreen</PresentationFormat>
  <Paragraphs>178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Week 5 Slide Deck Outline</vt:lpstr>
      <vt:lpstr> SLIDE 1- Title Slide </vt:lpstr>
      <vt:lpstr>SLIDE 2- Learning Objectives</vt:lpstr>
      <vt:lpstr>SLIDE 3- Bloch Sphere Basics</vt:lpstr>
      <vt:lpstr>SLIDE 4- Geometric Phase (Berry Phase) ✅ (New Slide)</vt:lpstr>
      <vt:lpstr>Slide 5: Gauge Fields Connection</vt:lpstr>
      <vt:lpstr>Slide 6-Applications in Quantum Computing</vt:lpstr>
      <vt:lpstr>Slide 7-Discussion Questions</vt:lpstr>
      <vt:lpstr>Slide 8-Summary</vt:lpstr>
      <vt:lpstr>show you a numerical example where changing only the azimuth (phase) alters interference outcomes, while keeping amplitudes fixed? That would make the role of azimuth crystal clear. </vt:lpstr>
      <vt:lpstr>PowerPoint Presentation</vt:lpstr>
      <vt:lpstr>PowerPoint Presentation</vt:lpstr>
      <vt:lpstr> extend this numerical example into a visual analogy so the role of azimuth (phase) feels intuitive. </vt:lpstr>
      <vt:lpstr>PowerPoint Presentation</vt:lpstr>
      <vt:lpstr>PowerPoint Presentation</vt:lpstr>
      <vt:lpstr>Vector Representation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Here’s the Bloch sphere with the angles shown — this is the geometric way to visualize a qubit’s state:</vt:lpstr>
      <vt:lpstr>PowerPoint Presentation</vt:lpstr>
      <vt:lpstr>Here’s how the explicit vector form of a qubit state looks when you include both the polar angle (θ) and the azimuth (φ) — the two parameters that define its position on the Bloch sphere: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4</cp:revision>
  <dcterms:created xsi:type="dcterms:W3CDTF">2026-05-14T02:16:58Z</dcterms:created>
  <dcterms:modified xsi:type="dcterms:W3CDTF">2026-08-01T06:17:45Z</dcterms:modified>
</cp:coreProperties>
</file>